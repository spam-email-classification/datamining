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7556500" cy="10699750"/>
  <p:notesSz cx="75565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AF50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F50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F50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F50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3579" y="1132077"/>
            <a:ext cx="315341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AF50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06627" y="9892029"/>
            <a:ext cx="16059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32526" y="9888981"/>
            <a:ext cx="112014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014" y="471169"/>
            <a:ext cx="5760720" cy="41402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65835" y="802639"/>
            <a:ext cx="6286500" cy="9225915"/>
            <a:chOff x="965835" y="802639"/>
            <a:chExt cx="6286500" cy="922591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5870" y="9619614"/>
              <a:ext cx="5663564" cy="40894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89419" y="826769"/>
              <a:ext cx="462915" cy="900557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835" y="802639"/>
              <a:ext cx="443865" cy="898397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3585" y="2414904"/>
              <a:ext cx="3886200" cy="167767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3072" y="2803444"/>
              <a:ext cx="1475171" cy="127822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Tailieumontoan.com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3244723" y="1746249"/>
            <a:ext cx="1613535" cy="443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45"/>
              </a:lnSpc>
              <a:spcBef>
                <a:spcPts val="100"/>
              </a:spcBef>
            </a:pPr>
            <a:r>
              <a:rPr dirty="0" sz="1400" spc="-25">
                <a:solidFill>
                  <a:srgbClr val="800000"/>
                </a:solidFill>
                <a:latin typeface="Wingdings"/>
                <a:cs typeface="Wingdings"/>
              </a:rPr>
              <a:t></a:t>
            </a:r>
            <a:endParaRPr sz="1400">
              <a:latin typeface="Wingdings"/>
              <a:cs typeface="Wingdings"/>
            </a:endParaRPr>
          </a:p>
          <a:p>
            <a:pPr algn="ctr">
              <a:lnSpc>
                <a:spcPts val="1645"/>
              </a:lnSpc>
            </a:pPr>
            <a:r>
              <a:rPr dirty="0" sz="1400" b="1">
                <a:solidFill>
                  <a:srgbClr val="800000"/>
                </a:solidFill>
                <a:latin typeface="Times New Roman"/>
                <a:cs typeface="Times New Roman"/>
              </a:rPr>
              <a:t>Sưu</a:t>
            </a:r>
            <a:r>
              <a:rPr dirty="0" sz="1400" spc="-15" b="1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800000"/>
                </a:solidFill>
                <a:latin typeface="Times New Roman"/>
                <a:cs typeface="Times New Roman"/>
              </a:rPr>
              <a:t>tầm</a:t>
            </a:r>
            <a:r>
              <a:rPr dirty="0" sz="1400" spc="-25" b="1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800000"/>
                </a:solidFill>
                <a:latin typeface="Times New Roman"/>
                <a:cs typeface="Times New Roman"/>
              </a:rPr>
              <a:t>và tổng</a:t>
            </a:r>
            <a:r>
              <a:rPr dirty="0" sz="1400" spc="5" b="1">
                <a:solidFill>
                  <a:srgbClr val="800000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>
                <a:solidFill>
                  <a:srgbClr val="800000"/>
                </a:solidFill>
                <a:latin typeface="Times New Roman"/>
                <a:cs typeface="Times New Roman"/>
              </a:rPr>
              <a:t>hợp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125726" y="5240502"/>
            <a:ext cx="3850004" cy="116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0185">
              <a:lnSpc>
                <a:spcPct val="143800"/>
              </a:lnSpc>
              <a:spcBef>
                <a:spcPts val="100"/>
              </a:spcBef>
            </a:pP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MỘT</a:t>
            </a:r>
            <a:r>
              <a:rPr dirty="0" sz="26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SỐ</a:t>
            </a:r>
            <a:r>
              <a:rPr dirty="0" sz="26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DẠNG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spc="-20" b="1">
                <a:solidFill>
                  <a:srgbClr val="FF0000"/>
                </a:solidFill>
                <a:latin typeface="Times New Roman"/>
                <a:cs typeface="Times New Roman"/>
              </a:rPr>
              <a:t>TOÁN </a:t>
            </a:r>
            <a:r>
              <a:rPr dirty="0" sz="2600" b="1">
                <a:solidFill>
                  <a:srgbClr val="00AF50"/>
                </a:solidFill>
                <a:latin typeface="Times New Roman"/>
                <a:cs typeface="Times New Roman"/>
              </a:rPr>
              <a:t>VỀ</a:t>
            </a:r>
            <a:r>
              <a:rPr dirty="0" sz="2600" spc="-1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AF50"/>
                </a:solidFill>
                <a:latin typeface="Times New Roman"/>
                <a:cs typeface="Times New Roman"/>
              </a:rPr>
              <a:t>XÁC</a:t>
            </a:r>
            <a:r>
              <a:rPr dirty="0" sz="2600" spc="-1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AF50"/>
                </a:solidFill>
                <a:latin typeface="Times New Roman"/>
                <a:cs typeface="Times New Roman"/>
              </a:rPr>
              <a:t>ĐỊNH</a:t>
            </a:r>
            <a:r>
              <a:rPr dirty="0" sz="2600" spc="-2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AF50"/>
                </a:solidFill>
                <a:latin typeface="Times New Roman"/>
                <a:cs typeface="Times New Roman"/>
              </a:rPr>
              <a:t>ĐA</a:t>
            </a:r>
            <a:r>
              <a:rPr dirty="0" sz="2600" spc="-20" b="1">
                <a:solidFill>
                  <a:srgbClr val="00AF50"/>
                </a:solidFill>
                <a:latin typeface="Times New Roman"/>
                <a:cs typeface="Times New Roman"/>
              </a:rPr>
              <a:t> THỨC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46019" y="9333991"/>
            <a:ext cx="22098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 i="1">
                <a:solidFill>
                  <a:srgbClr val="800000"/>
                </a:solidFill>
                <a:latin typeface="Palatino Linotype"/>
                <a:cs typeface="Palatino Linotype"/>
              </a:rPr>
              <a:t>Thanh</a:t>
            </a:r>
            <a:r>
              <a:rPr dirty="0" sz="1300" spc="-30" b="1" i="1">
                <a:solidFill>
                  <a:srgbClr val="800000"/>
                </a:solidFill>
                <a:latin typeface="Palatino Linotype"/>
                <a:cs typeface="Palatino Linotype"/>
              </a:rPr>
              <a:t> </a:t>
            </a:r>
            <a:r>
              <a:rPr dirty="0" sz="1300" b="1" i="1">
                <a:solidFill>
                  <a:srgbClr val="800000"/>
                </a:solidFill>
                <a:latin typeface="Palatino Linotype"/>
                <a:cs typeface="Palatino Linotype"/>
              </a:rPr>
              <a:t>Hóa,</a:t>
            </a:r>
            <a:r>
              <a:rPr dirty="0" sz="1300" spc="-30" b="1" i="1">
                <a:solidFill>
                  <a:srgbClr val="800000"/>
                </a:solidFill>
                <a:latin typeface="Palatino Linotype"/>
                <a:cs typeface="Palatino Linotype"/>
              </a:rPr>
              <a:t> </a:t>
            </a:r>
            <a:r>
              <a:rPr dirty="0" sz="1300" b="1" i="1">
                <a:solidFill>
                  <a:srgbClr val="800000"/>
                </a:solidFill>
                <a:latin typeface="Palatino Linotype"/>
                <a:cs typeface="Palatino Linotype"/>
              </a:rPr>
              <a:t>tháng</a:t>
            </a:r>
            <a:r>
              <a:rPr dirty="0" sz="1300" spc="-25" b="1" i="1">
                <a:solidFill>
                  <a:srgbClr val="800000"/>
                </a:solidFill>
                <a:latin typeface="Palatino Linotype"/>
                <a:cs typeface="Palatino Linotype"/>
              </a:rPr>
              <a:t> </a:t>
            </a:r>
            <a:r>
              <a:rPr dirty="0" sz="1300" b="1" i="1">
                <a:solidFill>
                  <a:srgbClr val="800000"/>
                </a:solidFill>
                <a:latin typeface="Palatino Linotype"/>
                <a:cs typeface="Palatino Linotype"/>
              </a:rPr>
              <a:t>9</a:t>
            </a:r>
            <a:r>
              <a:rPr dirty="0" sz="1300" spc="-20" b="1" i="1">
                <a:solidFill>
                  <a:srgbClr val="800000"/>
                </a:solidFill>
                <a:latin typeface="Palatino Linotype"/>
                <a:cs typeface="Palatino Linotype"/>
              </a:rPr>
              <a:t> </a:t>
            </a:r>
            <a:r>
              <a:rPr dirty="0" sz="1300" b="1" i="1">
                <a:solidFill>
                  <a:srgbClr val="800000"/>
                </a:solidFill>
                <a:latin typeface="Palatino Linotype"/>
                <a:cs typeface="Palatino Linotype"/>
              </a:rPr>
              <a:t>năm</a:t>
            </a:r>
            <a:r>
              <a:rPr dirty="0" sz="1300" spc="-30" b="1" i="1">
                <a:solidFill>
                  <a:srgbClr val="800000"/>
                </a:solidFill>
                <a:latin typeface="Palatino Linotype"/>
                <a:cs typeface="Palatino Linotype"/>
              </a:rPr>
              <a:t> </a:t>
            </a:r>
            <a:r>
              <a:rPr dirty="0" sz="1300" spc="-20" b="1" i="1">
                <a:solidFill>
                  <a:srgbClr val="800000"/>
                </a:solidFill>
                <a:latin typeface="Palatino Linotype"/>
                <a:cs typeface="Palatino Linotype"/>
              </a:rPr>
              <a:t>2019</a:t>
            </a:r>
            <a:endParaRPr sz="13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06627" y="741679"/>
            <a:ext cx="6148070" cy="3947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243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CHUYÊN</a:t>
            </a:r>
            <a:r>
              <a:rPr dirty="0" sz="1600" spc="-3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ĐỀ</a:t>
            </a:r>
            <a:r>
              <a:rPr dirty="0" sz="1600" spc="-30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CÁC</a:t>
            </a:r>
            <a:r>
              <a:rPr dirty="0" sz="1600" spc="-3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BÀI</a:t>
            </a:r>
            <a:r>
              <a:rPr dirty="0" sz="1600" spc="-30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TOÁN</a:t>
            </a:r>
            <a:r>
              <a:rPr dirty="0" sz="1600" spc="-1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VỀ</a:t>
            </a:r>
            <a:r>
              <a:rPr dirty="0" sz="1600" spc="-30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XÁC</a:t>
            </a:r>
            <a:r>
              <a:rPr dirty="0" sz="1600" spc="-3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ĐỊNH</a:t>
            </a:r>
            <a:r>
              <a:rPr dirty="0" sz="1600" spc="-1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b="1">
                <a:solidFill>
                  <a:srgbClr val="FF0000"/>
                </a:solidFill>
                <a:latin typeface="Palatino Linotype"/>
                <a:cs typeface="Palatino Linotype"/>
              </a:rPr>
              <a:t>ĐA</a:t>
            </a:r>
            <a:r>
              <a:rPr dirty="0" sz="1600" spc="-40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600" spc="-20" b="1">
                <a:solidFill>
                  <a:srgbClr val="FF0000"/>
                </a:solidFill>
                <a:latin typeface="Palatino Linotype"/>
                <a:cs typeface="Palatino Linotype"/>
              </a:rPr>
              <a:t>THỨC</a:t>
            </a:r>
            <a:endParaRPr sz="1600">
              <a:latin typeface="Palatino Linotype"/>
              <a:cs typeface="Palatino Linotype"/>
            </a:endParaRPr>
          </a:p>
          <a:p>
            <a:pPr algn="just" marL="12700" marR="5080" indent="457200">
              <a:lnSpc>
                <a:spcPct val="134900"/>
              </a:lnSpc>
              <a:spcBef>
                <a:spcPts val="365"/>
              </a:spcBef>
            </a:pP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thi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học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sinh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giỏi,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thi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iớp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chuyên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toán,có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toán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định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hoặc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thức.Việc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tòi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lời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toán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thức </a:t>
            </a:r>
            <a:r>
              <a:rPr dirty="0" sz="1200">
                <a:latin typeface="Palatino Linotype"/>
                <a:cs typeface="Palatino Linotype"/>
              </a:rPr>
              <a:t>tường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gây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lung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túng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sinh.Nguyên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nhân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chính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học</a:t>
            </a:r>
            <a:r>
              <a:rPr dirty="0" sz="1200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sinh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trang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bị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đầy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đủ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các </a:t>
            </a:r>
            <a:r>
              <a:rPr dirty="0" sz="1200">
                <a:latin typeface="Palatino Linotype"/>
                <a:cs typeface="Palatino Linotype"/>
              </a:rPr>
              <a:t>kiến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thiết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nhưng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rời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rạc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ở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khối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lớp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thường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thiếu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tập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áp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dụng.</a:t>
            </a:r>
            <a:r>
              <a:rPr dirty="0" sz="1200" spc="2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Qua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đây </a:t>
            </a:r>
            <a:r>
              <a:rPr dirty="0" sz="1200">
                <a:latin typeface="Palatino Linotype"/>
                <a:cs typeface="Palatino Linotype"/>
              </a:rPr>
              <a:t>nhằm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củng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cố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kiến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về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 thức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tong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chương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trình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toán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lớp 7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đến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lớp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9 rèn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kỹ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năng </a:t>
            </a: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4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dạng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toán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trên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đơn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giản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đến</a:t>
            </a:r>
            <a:r>
              <a:rPr dirty="0" sz="1200" spc="4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phức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tạp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kiến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nó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vượt </a:t>
            </a:r>
            <a:r>
              <a:rPr dirty="0" sz="1200">
                <a:latin typeface="Palatino Linotype"/>
                <a:cs typeface="Palatino Linotype"/>
              </a:rPr>
              <a:t>quá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trình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độ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THCS.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A/</a:t>
            </a:r>
            <a:r>
              <a:rPr dirty="0" sz="1200" spc="-1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MỘT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SỐ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KIẾN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CƠ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BẢN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ĐỂ</a:t>
            </a:r>
            <a:r>
              <a:rPr dirty="0" sz="1200" spc="-1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GIẢI</a:t>
            </a:r>
            <a:r>
              <a:rPr dirty="0" sz="1200" spc="-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LOẠI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TOÁN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NÀY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1</a:t>
            </a:r>
            <a:r>
              <a:rPr dirty="0" sz="1200" spc="-15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.</a:t>
            </a:r>
            <a:r>
              <a:rPr dirty="0" sz="1200" spc="-10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Định</a:t>
            </a:r>
            <a:r>
              <a:rPr dirty="0" sz="1200" spc="-15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lý</a:t>
            </a:r>
            <a:r>
              <a:rPr dirty="0" sz="1200" spc="-10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>
                <a:solidFill>
                  <a:srgbClr val="00AF50"/>
                </a:solidFill>
                <a:latin typeface="Palatino Linotype"/>
                <a:cs typeface="Palatino Linotype"/>
              </a:rPr>
              <a:t>Bơdu</a:t>
            </a:r>
            <a:r>
              <a:rPr dirty="0" sz="1200" spc="-20">
                <a:solidFill>
                  <a:srgbClr val="00AF50"/>
                </a:solidFill>
                <a:latin typeface="Palatino Linotype"/>
                <a:cs typeface="Palatino Linotype"/>
              </a:rPr>
              <a:t>:</a:t>
            </a:r>
            <a:endParaRPr sz="1200">
              <a:latin typeface="Palatino Linotype"/>
              <a:cs typeface="Palatino Linotype"/>
            </a:endParaRPr>
          </a:p>
          <a:p>
            <a:pPr marL="965200" marR="72390" indent="-647700">
              <a:lnSpc>
                <a:spcPct val="149200"/>
              </a:lnSpc>
            </a:pPr>
            <a:r>
              <a:rPr dirty="0" sz="1200">
                <a:latin typeface="Palatino Linotype"/>
                <a:cs typeface="Palatino Linotype"/>
              </a:rPr>
              <a:t>Phần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bằng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tại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a </a:t>
            </a:r>
            <a:r>
              <a:rPr dirty="0" sz="1200">
                <a:latin typeface="Palatino Linotype"/>
                <a:cs typeface="Palatino Linotype"/>
              </a:rPr>
              <a:t>Tức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a).g(x)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f(a</a:t>
            </a:r>
            <a:endParaRPr sz="1200">
              <a:latin typeface="Palatino Linotype"/>
              <a:cs typeface="Palatino Linotype"/>
            </a:endParaRPr>
          </a:p>
          <a:p>
            <a:pPr marL="1079500" marR="2162175" indent="-1067435">
              <a:lnSpc>
                <a:spcPts val="2160"/>
              </a:lnSpc>
              <a:spcBef>
                <a:spcPts val="65"/>
              </a:spcBef>
            </a:pPr>
            <a:r>
              <a:rPr dirty="0" sz="1200" b="1">
                <a:latin typeface="Palatino Linotype"/>
                <a:cs typeface="Palatino Linotype"/>
              </a:rPr>
              <a:t>Chứng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minh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Gọi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thì: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a).g(x)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R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8" name="object 3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39" name="object 3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81227" y="4666614"/>
            <a:ext cx="2713355" cy="123380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104900">
              <a:lnSpc>
                <a:spcPct val="100000"/>
              </a:lnSpc>
              <a:spcBef>
                <a:spcPts val="780"/>
              </a:spcBef>
            </a:pPr>
            <a:r>
              <a:rPr dirty="0" sz="1200">
                <a:latin typeface="Palatino Linotype"/>
                <a:cs typeface="Palatino Linotype"/>
              </a:rPr>
              <a:t>f(a)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a).g(a)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R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2.</a:t>
            </a:r>
            <a:r>
              <a:rPr dirty="0" sz="1200" spc="-15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spc="-85" b="1">
                <a:solidFill>
                  <a:srgbClr val="00AF50"/>
                </a:solidFill>
                <a:latin typeface="Palatino Linotype"/>
                <a:cs typeface="Palatino Linotype"/>
              </a:rPr>
              <a:t>phƣơng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 pháp</a:t>
            </a:r>
            <a:r>
              <a:rPr dirty="0" sz="1200" spc="-5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hệ</a:t>
            </a:r>
            <a:r>
              <a:rPr dirty="0" sz="1200" spc="-5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số</a:t>
            </a:r>
            <a:r>
              <a:rPr dirty="0" sz="1200" spc="5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bất</a:t>
            </a:r>
            <a:r>
              <a:rPr dirty="0" sz="1200" spc="-10" b="1">
                <a:solidFill>
                  <a:srgbClr val="00AF50"/>
                </a:solidFill>
                <a:latin typeface="Palatino Linotype"/>
                <a:cs typeface="Palatino Linotype"/>
              </a:rPr>
              <a:t> định: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ts val="1780"/>
              </a:lnSpc>
              <a:spcBef>
                <a:spcPts val="300"/>
              </a:spcBef>
            </a:pPr>
            <a:r>
              <a:rPr dirty="0" sz="1200">
                <a:latin typeface="Palatino Linotype"/>
                <a:cs typeface="Palatino Linotype"/>
              </a:rPr>
              <a:t>Giả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sử:</a:t>
            </a:r>
            <a:r>
              <a:rPr dirty="0" sz="1200" spc="2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3174" sz="2625" spc="-104">
                <a:latin typeface="Symbol"/>
                <a:cs typeface="Symbol"/>
              </a:rPr>
              <a:t></a:t>
            </a:r>
            <a:r>
              <a:rPr dirty="0" sz="1200" spc="-70">
                <a:latin typeface="Palatino Linotype"/>
                <a:cs typeface="Palatino Linotype"/>
              </a:rPr>
              <a:t>x</a:t>
            </a:r>
            <a:r>
              <a:rPr dirty="0" baseline="-3174" sz="2625" spc="-104">
                <a:latin typeface="Symbol"/>
                <a:cs typeface="Symbol"/>
              </a:rPr>
              <a:t></a:t>
            </a:r>
            <a:r>
              <a:rPr dirty="0" baseline="-3174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1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3</a:t>
            </a:r>
            <a:r>
              <a:rPr dirty="0" baseline="47008" sz="975" spc="25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20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1</a:t>
            </a:r>
            <a:r>
              <a:rPr dirty="0" baseline="47008" sz="975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a</a:t>
            </a:r>
            <a:endParaRPr sz="1200">
              <a:latin typeface="Palatino Linotype"/>
              <a:cs typeface="Palatino Linotype"/>
            </a:endParaRPr>
          </a:p>
          <a:p>
            <a:pPr marL="1085850">
              <a:lnSpc>
                <a:spcPts val="459"/>
              </a:lnSpc>
              <a:tabLst>
                <a:tab pos="1502410" algn="l"/>
                <a:tab pos="1917700" algn="l"/>
                <a:tab pos="232092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3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0</a:t>
            </a:r>
            <a:endParaRPr sz="650">
              <a:latin typeface="Palatino Linotype"/>
              <a:cs typeface="Palatino Linotype"/>
            </a:endParaRPr>
          </a:p>
          <a:p>
            <a:pPr marL="590550">
              <a:lnSpc>
                <a:spcPts val="1780"/>
              </a:lnSpc>
              <a:spcBef>
                <a:spcPts val="470"/>
              </a:spcBef>
            </a:pPr>
            <a:r>
              <a:rPr dirty="0" sz="1200" spc="-10">
                <a:latin typeface="Palatino Linotype"/>
                <a:cs typeface="Palatino Linotype"/>
              </a:rPr>
              <a:t>g</a:t>
            </a:r>
            <a:r>
              <a:rPr dirty="0" baseline="-4761" sz="2625" spc="-15">
                <a:latin typeface="Symbol"/>
                <a:cs typeface="Symbol"/>
              </a:rPr>
              <a:t></a:t>
            </a:r>
            <a:r>
              <a:rPr dirty="0" sz="1200" spc="-10">
                <a:latin typeface="Palatino Linotype"/>
                <a:cs typeface="Palatino Linotype"/>
              </a:rPr>
              <a:t>x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r>
              <a:rPr dirty="0" baseline="-4761" sz="2625" spc="-2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3</a:t>
            </a:r>
            <a:r>
              <a:rPr dirty="0" baseline="47008" sz="975" spc="28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1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9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1</a:t>
            </a:r>
            <a:r>
              <a:rPr dirty="0" baseline="47008" sz="975" spc="21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b</a:t>
            </a:r>
            <a:endParaRPr sz="1200">
              <a:latin typeface="Palatino Linotype"/>
              <a:cs typeface="Palatino Linotype"/>
            </a:endParaRPr>
          </a:p>
          <a:p>
            <a:pPr marL="1147445">
              <a:lnSpc>
                <a:spcPts val="459"/>
              </a:lnSpc>
              <a:tabLst>
                <a:tab pos="1576705" algn="l"/>
                <a:tab pos="2004695" algn="l"/>
                <a:tab pos="2420620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3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0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24478" y="4753482"/>
            <a:ext cx="513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Palatino Linotype"/>
                <a:cs typeface="Palatino Linotype"/>
              </a:rPr>
              <a:t>(đpcm)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1227" y="5989054"/>
            <a:ext cx="4670425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Nếu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g(x)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ít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 trị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phân biệt 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 thì: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 spc="50">
                <a:latin typeface="Palatino Linotype"/>
                <a:cs typeface="Palatino Linotype"/>
              </a:rPr>
              <a:t>a</a:t>
            </a:r>
            <a:r>
              <a:rPr dirty="0" baseline="-29914" sz="975" spc="75">
                <a:latin typeface="Palatino Linotype"/>
                <a:cs typeface="Palatino Linotype"/>
              </a:rPr>
              <a:t>3</a:t>
            </a:r>
            <a:r>
              <a:rPr dirty="0" baseline="-29914" sz="975" spc="32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-6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sz="1200" spc="55">
                <a:latin typeface="Palatino Linotype"/>
                <a:cs typeface="Palatino Linotype"/>
              </a:rPr>
              <a:t>a</a:t>
            </a:r>
            <a:r>
              <a:rPr dirty="0" baseline="-29914" sz="975" spc="82">
                <a:latin typeface="Palatino Linotype"/>
                <a:cs typeface="Palatino Linotype"/>
              </a:rPr>
              <a:t>2</a:t>
            </a:r>
            <a:r>
              <a:rPr dirty="0" baseline="-29914" sz="975" spc="34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b</a:t>
            </a:r>
            <a:r>
              <a:rPr dirty="0" baseline="-29914" sz="975" spc="-37">
                <a:latin typeface="Palatino Linotype"/>
                <a:cs typeface="Palatino Linotype"/>
              </a:rPr>
              <a:t>2</a:t>
            </a:r>
            <a:endParaRPr baseline="-29914" sz="975">
              <a:latin typeface="Palatino Linotype"/>
              <a:cs typeface="Palatino Linotype"/>
            </a:endParaRPr>
          </a:p>
          <a:p>
            <a:pPr algn="r" marR="33020">
              <a:lnSpc>
                <a:spcPct val="100000"/>
              </a:lnSpc>
              <a:spcBef>
                <a:spcPts val="955"/>
              </a:spcBef>
            </a:pP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38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-8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55">
                <a:latin typeface="Palatino Linotype"/>
                <a:cs typeface="Palatino Linotype"/>
              </a:rPr>
              <a:t> </a:t>
            </a:r>
            <a:r>
              <a:rPr dirty="0" sz="1200" spc="55">
                <a:latin typeface="Palatino Linotype"/>
                <a:cs typeface="Palatino Linotype"/>
              </a:rPr>
              <a:t>a</a:t>
            </a:r>
            <a:r>
              <a:rPr dirty="0" baseline="-29914" sz="975" spc="82">
                <a:latin typeface="Palatino Linotype"/>
                <a:cs typeface="Palatino Linotype"/>
              </a:rPr>
              <a:t>0</a:t>
            </a:r>
            <a:r>
              <a:rPr dirty="0" baseline="-29914" sz="975" spc="47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b</a:t>
            </a:r>
            <a:r>
              <a:rPr dirty="0" baseline="-29914" sz="975" spc="-37">
                <a:latin typeface="Palatino Linotype"/>
                <a:cs typeface="Palatino Linotype"/>
              </a:rPr>
              <a:t>0</a:t>
            </a:r>
            <a:endParaRPr baseline="-29914" sz="975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935"/>
              </a:spcBef>
            </a:pPr>
            <a:r>
              <a:rPr dirty="0" sz="1200" b="1">
                <a:latin typeface="Palatino Linotype"/>
                <a:cs typeface="Palatino Linotype"/>
              </a:rPr>
              <a:t>Chứng</a:t>
            </a:r>
            <a:r>
              <a:rPr dirty="0" sz="1200" spc="-60" b="1">
                <a:latin typeface="Palatino Linotype"/>
                <a:cs typeface="Palatino Linotype"/>
              </a:rPr>
              <a:t> </a:t>
            </a:r>
            <a:r>
              <a:rPr dirty="0" sz="1200" spc="-10" b="1">
                <a:latin typeface="Palatino Linotype"/>
                <a:cs typeface="Palatino Linotype"/>
              </a:rPr>
              <a:t>minh: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86332" y="6813640"/>
            <a:ext cx="3878579" cy="3136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780"/>
              </a:lnSpc>
              <a:spcBef>
                <a:spcPts val="114"/>
              </a:spcBef>
              <a:tabLst>
                <a:tab pos="2977515" algn="l"/>
              </a:tabLst>
            </a:pPr>
            <a:r>
              <a:rPr dirty="0" sz="1200">
                <a:latin typeface="Palatino Linotype"/>
                <a:cs typeface="Palatino Linotype"/>
              </a:rPr>
              <a:t>Giả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sử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phân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biệt</a:t>
            </a:r>
            <a:r>
              <a:rPr dirty="0" sz="120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-9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-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4</a:t>
            </a:r>
            <a:r>
              <a:rPr dirty="0" baseline="-29914" sz="975" spc="562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r>
              <a:rPr dirty="0" sz="1200">
                <a:latin typeface="Palatino Linotype"/>
                <a:cs typeface="Palatino Linotype"/>
              </a:rPr>
              <a:t>	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45">
                <a:latin typeface="Palatino Linotype"/>
                <a:cs typeface="Palatino Linotype"/>
              </a:rPr>
              <a:t> </a:t>
            </a:r>
            <a:r>
              <a:rPr dirty="0" baseline="-4761" sz="2625" spc="-277">
                <a:latin typeface="Symbol"/>
                <a:cs typeface="Symbol"/>
              </a:rPr>
              <a:t></a:t>
            </a:r>
            <a:r>
              <a:rPr dirty="0" baseline="-4761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45">
                <a:latin typeface="Palatino Linotype"/>
                <a:cs typeface="Palatino Linotype"/>
              </a:rPr>
              <a:t> </a:t>
            </a:r>
            <a:r>
              <a:rPr dirty="0" baseline="-4761" sz="2625" spc="-75">
                <a:latin typeface="Symbol"/>
                <a:cs typeface="Symbol"/>
              </a:rPr>
              <a:t></a:t>
            </a:r>
            <a:endParaRPr baseline="-4761" sz="2625">
              <a:latin typeface="Symbol"/>
              <a:cs typeface="Symbol"/>
            </a:endParaRPr>
          </a:p>
          <a:p>
            <a:pPr algn="r" marR="102235">
              <a:lnSpc>
                <a:spcPts val="459"/>
              </a:lnSpc>
              <a:tabLst>
                <a:tab pos="520700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1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179660" y="6761408"/>
            <a:ext cx="310515" cy="1221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650"/>
              </a:spcBef>
            </a:pPr>
            <a:r>
              <a:rPr dirty="0" sz="1750" spc="-25">
                <a:latin typeface="Symbol"/>
                <a:cs typeface="Symbol"/>
              </a:rPr>
              <a:t></a:t>
            </a:r>
            <a:r>
              <a:rPr dirty="0" baseline="6944" sz="1800" spc="-37">
                <a:latin typeface="Palatino Linotype"/>
                <a:cs typeface="Palatino Linotype"/>
              </a:rPr>
              <a:t>1</a:t>
            </a:r>
            <a:r>
              <a:rPr dirty="0" sz="1750" spc="-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  <a:p>
            <a:pPr marL="41275">
              <a:lnSpc>
                <a:spcPts val="2070"/>
              </a:lnSpc>
              <a:spcBef>
                <a:spcPts val="575"/>
              </a:spcBef>
            </a:pPr>
            <a:r>
              <a:rPr dirty="0" sz="1750" spc="-25">
                <a:latin typeface="Symbol"/>
                <a:cs typeface="Symbol"/>
              </a:rPr>
              <a:t></a:t>
            </a:r>
            <a:r>
              <a:rPr dirty="0" baseline="4629" sz="1800" spc="-37">
                <a:latin typeface="Palatino Linotype"/>
                <a:cs typeface="Palatino Linotype"/>
              </a:rPr>
              <a:t>2</a:t>
            </a:r>
            <a:r>
              <a:rPr dirty="0" sz="1750" spc="-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  <a:p>
            <a:pPr marL="38100">
              <a:lnSpc>
                <a:spcPts val="2039"/>
              </a:lnSpc>
            </a:pPr>
            <a:r>
              <a:rPr dirty="0" sz="1750" spc="-25">
                <a:latin typeface="Symbol"/>
                <a:cs typeface="Symbol"/>
              </a:rPr>
              <a:t></a:t>
            </a:r>
            <a:r>
              <a:rPr dirty="0" baseline="4629" sz="1800" spc="-37">
                <a:latin typeface="Palatino Linotype"/>
                <a:cs typeface="Palatino Linotype"/>
              </a:rPr>
              <a:t>3</a:t>
            </a:r>
            <a:r>
              <a:rPr dirty="0" sz="1750" spc="-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  <a:p>
            <a:pPr marL="41275">
              <a:lnSpc>
                <a:spcPts val="2070"/>
              </a:lnSpc>
            </a:pPr>
            <a:r>
              <a:rPr dirty="0" sz="1750" spc="-25">
                <a:latin typeface="Symbol"/>
                <a:cs typeface="Symbol"/>
              </a:rPr>
              <a:t></a:t>
            </a:r>
            <a:r>
              <a:rPr dirty="0" baseline="4629" sz="1800" spc="-37">
                <a:latin typeface="Palatino Linotype"/>
                <a:cs typeface="Palatino Linotype"/>
              </a:rPr>
              <a:t>4</a:t>
            </a:r>
            <a:r>
              <a:rPr dirty="0" sz="1750" spc="-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54874" y="7335689"/>
            <a:ext cx="601980" cy="131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2925" algn="l"/>
              </a:tabLst>
            </a:pPr>
            <a:r>
              <a:rPr dirty="0" sz="700" spc="-50">
                <a:latin typeface="Palatino Linotype"/>
                <a:cs typeface="Palatino Linotype"/>
              </a:rPr>
              <a:t>2</a:t>
            </a:r>
            <a:r>
              <a:rPr dirty="0" sz="700">
                <a:latin typeface="Palatino Linotype"/>
                <a:cs typeface="Palatino Linotype"/>
              </a:rPr>
              <a:t>	</a:t>
            </a:r>
            <a:r>
              <a:rPr dirty="0" sz="700" spc="-50">
                <a:latin typeface="Palatino Linotype"/>
                <a:cs typeface="Palatino Linotype"/>
              </a:rPr>
              <a:t>2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54874" y="7594705"/>
            <a:ext cx="600075" cy="131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1655" algn="l"/>
              </a:tabLst>
            </a:pPr>
            <a:r>
              <a:rPr dirty="0" sz="700" spc="-50">
                <a:latin typeface="Palatino Linotype"/>
                <a:cs typeface="Palatino Linotype"/>
              </a:rPr>
              <a:t>3</a:t>
            </a:r>
            <a:r>
              <a:rPr dirty="0" sz="700">
                <a:latin typeface="Palatino Linotype"/>
                <a:cs typeface="Palatino Linotype"/>
              </a:rPr>
              <a:t>	</a:t>
            </a:r>
            <a:r>
              <a:rPr dirty="0" sz="700" spc="-50">
                <a:latin typeface="Palatino Linotype"/>
                <a:cs typeface="Palatino Linotype"/>
              </a:rPr>
              <a:t>3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54874" y="7853728"/>
            <a:ext cx="601980" cy="131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2925" algn="l"/>
              </a:tabLst>
            </a:pPr>
            <a:r>
              <a:rPr dirty="0" sz="700" spc="-50">
                <a:latin typeface="Palatino Linotype"/>
                <a:cs typeface="Palatino Linotype"/>
              </a:rPr>
              <a:t>4</a:t>
            </a:r>
            <a:r>
              <a:rPr dirty="0" sz="700">
                <a:latin typeface="Palatino Linotype"/>
                <a:cs typeface="Palatino Linotype"/>
              </a:rPr>
              <a:t>	</a:t>
            </a:r>
            <a:r>
              <a:rPr dirty="0" sz="700" spc="-50">
                <a:latin typeface="Palatino Linotype"/>
                <a:cs typeface="Palatino Linotype"/>
              </a:rPr>
              <a:t>4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28888" y="7151423"/>
            <a:ext cx="906144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29">
                <a:latin typeface="Palatino Linotype"/>
                <a:cs typeface="Palatino Linotype"/>
              </a:rPr>
              <a:t> </a:t>
            </a:r>
            <a:r>
              <a:rPr dirty="0" baseline="-3174" sz="2625" spc="-292">
                <a:latin typeface="Symbol"/>
                <a:cs typeface="Symbol"/>
              </a:rPr>
              <a:t></a:t>
            </a:r>
            <a:r>
              <a:rPr dirty="0" baseline="-3174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sz="1200" spc="-140">
                <a:latin typeface="Palatino Linotype"/>
                <a:cs typeface="Palatino Linotype"/>
              </a:rPr>
              <a:t> 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70">
                <a:latin typeface="Palatino Linotype"/>
                <a:cs typeface="Palatino Linotype"/>
              </a:rPr>
              <a:t> </a:t>
            </a:r>
            <a:r>
              <a:rPr dirty="0" baseline="-3174" sz="2625" spc="-127">
                <a:latin typeface="Symbol"/>
                <a:cs typeface="Symbol"/>
              </a:rPr>
              <a:t></a:t>
            </a:r>
            <a:endParaRPr baseline="-3174" sz="2625">
              <a:latin typeface="Symbol"/>
              <a:cs typeface="Symbo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28888" y="7410439"/>
            <a:ext cx="902335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15">
                <a:latin typeface="Palatino Linotype"/>
                <a:cs typeface="Palatino Linotype"/>
              </a:rPr>
              <a:t> </a:t>
            </a:r>
            <a:r>
              <a:rPr dirty="0" baseline="-3174" sz="2625" spc="-292">
                <a:latin typeface="Symbol"/>
                <a:cs typeface="Symbol"/>
              </a:rPr>
              <a:t></a:t>
            </a:r>
            <a:r>
              <a:rPr dirty="0" baseline="-3174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sz="1200" spc="-145">
                <a:latin typeface="Palatino Linotype"/>
                <a:cs typeface="Palatino Linotype"/>
              </a:rPr>
              <a:t> 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54">
                <a:latin typeface="Palatino Linotype"/>
                <a:cs typeface="Palatino Linotype"/>
              </a:rPr>
              <a:t> </a:t>
            </a:r>
            <a:r>
              <a:rPr dirty="0" baseline="-3174" sz="2625" spc="-120">
                <a:latin typeface="Symbol"/>
                <a:cs typeface="Symbol"/>
              </a:rPr>
              <a:t></a:t>
            </a:r>
            <a:endParaRPr baseline="-3174" sz="2625">
              <a:latin typeface="Symbol"/>
              <a:cs typeface="Symbo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928888" y="7669459"/>
            <a:ext cx="906144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29">
                <a:latin typeface="Palatino Linotype"/>
                <a:cs typeface="Palatino Linotype"/>
              </a:rPr>
              <a:t> </a:t>
            </a:r>
            <a:r>
              <a:rPr dirty="0" baseline="-3174" sz="2625" spc="-292">
                <a:latin typeface="Symbol"/>
                <a:cs typeface="Symbol"/>
              </a:rPr>
              <a:t></a:t>
            </a:r>
            <a:r>
              <a:rPr dirty="0" baseline="-3174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sz="1200" spc="-140">
                <a:latin typeface="Palatino Linotype"/>
                <a:cs typeface="Palatino Linotype"/>
              </a:rPr>
              <a:t> 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70">
                <a:latin typeface="Palatino Linotype"/>
                <a:cs typeface="Palatino Linotype"/>
              </a:rPr>
              <a:t> </a:t>
            </a:r>
            <a:r>
              <a:rPr dirty="0" baseline="-3174" sz="2625" spc="-127">
                <a:latin typeface="Symbol"/>
                <a:cs typeface="Symbol"/>
              </a:rPr>
              <a:t></a:t>
            </a:r>
            <a:endParaRPr baseline="-3174" sz="2625">
              <a:latin typeface="Symbol"/>
              <a:cs typeface="Symbo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81227" y="8069025"/>
            <a:ext cx="3414395" cy="5118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25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419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55">
                <a:latin typeface="Palatino Linotype"/>
                <a:cs typeface="Palatino Linotype"/>
              </a:rPr>
              <a:t>a</a:t>
            </a:r>
            <a:r>
              <a:rPr dirty="0" baseline="-29914" sz="975" spc="82">
                <a:latin typeface="Palatino Linotype"/>
                <a:cs typeface="Palatino Linotype"/>
              </a:rPr>
              <a:t>3</a:t>
            </a:r>
            <a:r>
              <a:rPr dirty="0" baseline="-29914" sz="975" spc="28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-4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40">
                <a:latin typeface="Palatino Linotype"/>
                <a:cs typeface="Palatino Linotype"/>
              </a:rPr>
              <a:t> </a:t>
            </a:r>
            <a:r>
              <a:rPr dirty="0" sz="1200" spc="50">
                <a:latin typeface="Palatino Linotype"/>
                <a:cs typeface="Palatino Linotype"/>
              </a:rPr>
              <a:t>c</a:t>
            </a:r>
            <a:r>
              <a:rPr dirty="0" baseline="-29914" sz="975" spc="75">
                <a:latin typeface="Palatino Linotype"/>
                <a:cs typeface="Palatino Linotype"/>
              </a:rPr>
              <a:t>2</a:t>
            </a:r>
            <a:r>
              <a:rPr dirty="0" baseline="-29914" sz="975" spc="44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55">
                <a:latin typeface="Palatino Linotype"/>
                <a:cs typeface="Palatino Linotype"/>
              </a:rPr>
              <a:t>a</a:t>
            </a:r>
            <a:r>
              <a:rPr dirty="0" baseline="-29914" sz="975" spc="82">
                <a:latin typeface="Palatino Linotype"/>
                <a:cs typeface="Palatino Linotype"/>
              </a:rPr>
              <a:t>2</a:t>
            </a:r>
            <a:r>
              <a:rPr dirty="0" baseline="-29914" sz="975" spc="30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36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-10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0</a:t>
            </a:r>
            <a:r>
              <a:rPr dirty="0" baseline="-29914" sz="975" spc="45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55">
                <a:latin typeface="Palatino Linotype"/>
                <a:cs typeface="Palatino Linotype"/>
              </a:rPr>
              <a:t>a</a:t>
            </a:r>
            <a:r>
              <a:rPr dirty="0" baseline="-29914" sz="975" spc="82">
                <a:latin typeface="Palatino Linotype"/>
                <a:cs typeface="Palatino Linotype"/>
              </a:rPr>
              <a:t>0</a:t>
            </a:r>
            <a:r>
              <a:rPr dirty="0" baseline="-29914" sz="975" spc="3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b</a:t>
            </a:r>
            <a:r>
              <a:rPr dirty="0" baseline="-29914" sz="975" spc="-52">
                <a:latin typeface="Palatino Linotype"/>
                <a:cs typeface="Palatino Linotype"/>
              </a:rPr>
              <a:t>0</a:t>
            </a:r>
            <a:endParaRPr baseline="-29914" sz="975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944"/>
              </a:spcBef>
            </a:pPr>
            <a:r>
              <a:rPr dirty="0" sz="1200">
                <a:latin typeface="Palatino Linotype"/>
                <a:cs typeface="Palatino Linotype"/>
              </a:rPr>
              <a:t>Trừ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vế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được: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37839" y="8595575"/>
            <a:ext cx="175513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  <a:tab pos="854710" algn="l"/>
                <a:tab pos="1358900" algn="l"/>
                <a:tab pos="1689100" algn="l"/>
              </a:tabLst>
            </a:pPr>
            <a:r>
              <a:rPr dirty="0" sz="2000" spc="-305">
                <a:latin typeface="Symbol"/>
                <a:cs typeface="Symbol"/>
              </a:rPr>
              <a:t>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315">
                <a:latin typeface="Symbol"/>
                <a:cs typeface="Symbol"/>
              </a:rPr>
              <a:t>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305">
                <a:latin typeface="Symbol"/>
                <a:cs typeface="Symbol"/>
              </a:rPr>
              <a:t>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305">
                <a:latin typeface="Symbol"/>
                <a:cs typeface="Symbol"/>
              </a:rPr>
              <a:t>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baseline="1587" sz="2625" spc="-187">
                <a:latin typeface="Symbol"/>
                <a:cs typeface="Symbol"/>
              </a:rPr>
              <a:t></a:t>
            </a:r>
            <a:endParaRPr baseline="1587" sz="2625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86936" y="8670314"/>
            <a:ext cx="354330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640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3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3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328950" y="8670314"/>
            <a:ext cx="355600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5910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261412" y="8784193"/>
            <a:ext cx="7175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-50">
                <a:latin typeface="Palatino Linotype"/>
                <a:cs typeface="Palatino Linotype"/>
              </a:rPr>
              <a:t>3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82824" y="8784193"/>
            <a:ext cx="69151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8450" algn="l"/>
                <a:tab pos="63182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325022" y="8784193"/>
            <a:ext cx="68897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00355" algn="l"/>
                <a:tab pos="62928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1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159439" y="8784193"/>
            <a:ext cx="34988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019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85615" y="8601745"/>
            <a:ext cx="263080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7965" algn="l"/>
                <a:tab pos="741680" algn="l"/>
                <a:tab pos="1069975" algn="l"/>
                <a:tab pos="1584960" algn="l"/>
                <a:tab pos="1903730" algn="l"/>
              </a:tabLst>
            </a:pPr>
            <a:r>
              <a:rPr dirty="0" sz="1150" spc="-50">
                <a:latin typeface="Palatino Linotype"/>
                <a:cs typeface="Palatino Linotype"/>
              </a:rPr>
              <a:t>c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55">
                <a:latin typeface="Palatino Linotype"/>
                <a:cs typeface="Palatino Linotype"/>
              </a:rPr>
              <a:t>x</a:t>
            </a:r>
            <a:r>
              <a:rPr dirty="0" sz="1150" spc="409">
                <a:latin typeface="Palatino Linotype"/>
                <a:cs typeface="Palatino Linotype"/>
              </a:rPr>
              <a:t> </a:t>
            </a:r>
            <a:r>
              <a:rPr dirty="0" sz="1150" spc="60">
                <a:latin typeface="Symbol"/>
                <a:cs typeface="Symbol"/>
              </a:rPr>
              <a:t></a:t>
            </a:r>
            <a:r>
              <a:rPr dirty="0" sz="1150" spc="-110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Palatino Linotype"/>
                <a:cs typeface="Palatino Linotype"/>
              </a:rPr>
              <a:t>x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60">
                <a:latin typeface="Symbol"/>
                <a:cs typeface="Symbol"/>
              </a:rPr>
              <a:t></a:t>
            </a:r>
            <a:r>
              <a:rPr dirty="0" sz="1150" spc="-11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Palatino Linotype"/>
                <a:cs typeface="Palatino Linotype"/>
              </a:rPr>
              <a:t>c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55">
                <a:latin typeface="Palatino Linotype"/>
                <a:cs typeface="Palatino Linotype"/>
              </a:rPr>
              <a:t>x</a:t>
            </a:r>
            <a:r>
              <a:rPr dirty="0" sz="1150" spc="425">
                <a:latin typeface="Palatino Linotype"/>
                <a:cs typeface="Palatino Linotype"/>
              </a:rPr>
              <a:t> </a:t>
            </a:r>
            <a:r>
              <a:rPr dirty="0" sz="1150" spc="60">
                <a:latin typeface="Symbol"/>
                <a:cs typeface="Symbol"/>
              </a:rPr>
              <a:t></a:t>
            </a:r>
            <a:r>
              <a:rPr dirty="0" sz="1150" spc="-110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Palatino Linotype"/>
                <a:cs typeface="Palatino Linotype"/>
              </a:rPr>
              <a:t>x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60">
                <a:latin typeface="Symbol"/>
                <a:cs typeface="Symbol"/>
              </a:rPr>
              <a:t></a:t>
            </a:r>
            <a:r>
              <a:rPr dirty="0" sz="1150" spc="-11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Palatino Linotype"/>
                <a:cs typeface="Palatino Linotype"/>
              </a:rPr>
              <a:t>c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55">
                <a:latin typeface="Palatino Linotype"/>
                <a:cs typeface="Palatino Linotype"/>
              </a:rPr>
              <a:t>x</a:t>
            </a:r>
            <a:r>
              <a:rPr dirty="0" sz="1150" spc="355">
                <a:latin typeface="Palatino Linotype"/>
                <a:cs typeface="Palatino Linotype"/>
              </a:rPr>
              <a:t> </a:t>
            </a:r>
            <a:r>
              <a:rPr dirty="0" sz="1150" spc="60">
                <a:latin typeface="Symbol"/>
                <a:cs typeface="Symbol"/>
              </a:rPr>
              <a:t></a:t>
            </a:r>
            <a:r>
              <a:rPr dirty="0" sz="1150" spc="-114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Palatino Linotype"/>
                <a:cs typeface="Palatino Linotype"/>
              </a:rPr>
              <a:t>x</a:t>
            </a:r>
            <a:r>
              <a:rPr dirty="0" sz="1150" spc="315">
                <a:latin typeface="Palatino Linotype"/>
                <a:cs typeface="Palatino Linotype"/>
              </a:rPr>
              <a:t> </a:t>
            </a:r>
            <a:r>
              <a:rPr dirty="0" baseline="-4761" sz="2625" spc="-277">
                <a:latin typeface="Symbol"/>
                <a:cs typeface="Symbol"/>
              </a:rPr>
              <a:t></a:t>
            </a:r>
            <a:r>
              <a:rPr dirty="0" baseline="-4761" sz="2625" spc="-30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Symbol"/>
                <a:cs typeface="Symbol"/>
              </a:rPr>
              <a:t>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0</a:t>
            </a:r>
            <a:endParaRPr sz="115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062532" y="9015221"/>
            <a:ext cx="1226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Vì</a:t>
            </a:r>
            <a:r>
              <a:rPr dirty="0" sz="1200" spc="22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41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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nên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338638" y="9269310"/>
            <a:ext cx="781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5">
                <a:latin typeface="Symbol"/>
                <a:cs typeface="Symbol"/>
              </a:rPr>
              <a:t>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265561" y="9269310"/>
            <a:ext cx="4191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060" algn="l"/>
              </a:tabLst>
            </a:pPr>
            <a:r>
              <a:rPr dirty="0" sz="2000" spc="-305">
                <a:latin typeface="Symbol"/>
                <a:cs typeface="Symbol"/>
              </a:rPr>
              <a:t>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baseline="1587" sz="2625" spc="-187">
                <a:latin typeface="Symbol"/>
                <a:cs typeface="Symbol"/>
              </a:rPr>
              <a:t></a:t>
            </a:r>
            <a:endParaRPr baseline="1587" sz="2625">
              <a:latin typeface="Symbol"/>
              <a:cs typeface="Symbo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896631" y="9291370"/>
            <a:ext cx="27876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750" spc="-25">
                <a:latin typeface="Symbol"/>
                <a:cs typeface="Symbol"/>
              </a:rPr>
              <a:t></a:t>
            </a:r>
            <a:r>
              <a:rPr dirty="0" baseline="7246" sz="1725" spc="-37">
                <a:latin typeface="Palatino Linotype"/>
                <a:cs typeface="Palatino Linotype"/>
              </a:rPr>
              <a:t>5</a:t>
            </a:r>
            <a:r>
              <a:rPr dirty="0" sz="1750" spc="-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88103" y="9344049"/>
            <a:ext cx="77787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17550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261858" y="9457928"/>
            <a:ext cx="72390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-50">
                <a:latin typeface="Palatino Linotype"/>
                <a:cs typeface="Palatino Linotype"/>
              </a:rPr>
              <a:t>3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83920" y="9457928"/>
            <a:ext cx="78168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9720" algn="l"/>
                <a:tab pos="72199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1</a:t>
            </a:r>
            <a:r>
              <a:rPr dirty="0" sz="650" spc="200">
                <a:latin typeface="Palatino Linotype"/>
                <a:cs typeface="Palatino Linotype"/>
              </a:rPr>
              <a:t>  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527685" y="9457928"/>
            <a:ext cx="72390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751981" y="9457928"/>
            <a:ext cx="681990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1465" algn="l"/>
                <a:tab pos="62166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1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185712" y="9275480"/>
            <a:ext cx="249174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8600" algn="l"/>
                <a:tab pos="1166495" algn="l"/>
                <a:tab pos="1496060" algn="l"/>
              </a:tabLst>
            </a:pPr>
            <a:r>
              <a:rPr dirty="0" sz="1150" spc="-50">
                <a:latin typeface="Palatino Linotype"/>
                <a:cs typeface="Palatino Linotype"/>
              </a:rPr>
              <a:t>c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60">
                <a:latin typeface="Palatino Linotype"/>
                <a:cs typeface="Palatino Linotype"/>
              </a:rPr>
              <a:t>x</a:t>
            </a:r>
            <a:r>
              <a:rPr dirty="0" sz="1150" spc="430">
                <a:latin typeface="Palatino Linotype"/>
                <a:cs typeface="Palatino Linotype"/>
              </a:rPr>
              <a:t> 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9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Palatino Linotype"/>
                <a:cs typeface="Palatino Linotype"/>
              </a:rPr>
              <a:t>x</a:t>
            </a:r>
            <a:r>
              <a:rPr dirty="0" sz="1150" spc="85">
                <a:latin typeface="Palatino Linotype"/>
                <a:cs typeface="Palatino Linotype"/>
              </a:rPr>
              <a:t> </a:t>
            </a:r>
            <a:r>
              <a:rPr dirty="0" sz="1150" spc="60">
                <a:latin typeface="Palatino Linotype"/>
                <a:cs typeface="Palatino Linotype"/>
              </a:rPr>
              <a:t>x</a:t>
            </a:r>
            <a:r>
              <a:rPr dirty="0" sz="1150" spc="430">
                <a:latin typeface="Palatino Linotype"/>
                <a:cs typeface="Palatino Linotype"/>
              </a:rPr>
              <a:t> 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8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Palatino Linotype"/>
                <a:cs typeface="Palatino Linotype"/>
              </a:rPr>
              <a:t>x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11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Palatino Linotype"/>
                <a:cs typeface="Palatino Linotype"/>
              </a:rPr>
              <a:t>c</a:t>
            </a:r>
            <a:r>
              <a:rPr dirty="0" sz="1150">
                <a:latin typeface="Palatino Linotype"/>
                <a:cs typeface="Palatino Linotype"/>
              </a:rPr>
              <a:t>	</a:t>
            </a:r>
            <a:r>
              <a:rPr dirty="0" sz="1150" spc="60">
                <a:latin typeface="Palatino Linotype"/>
                <a:cs typeface="Palatino Linotype"/>
              </a:rPr>
              <a:t>x</a:t>
            </a:r>
            <a:r>
              <a:rPr dirty="0" sz="1150" spc="365">
                <a:latin typeface="Palatino Linotype"/>
                <a:cs typeface="Palatino Linotype"/>
              </a:rPr>
              <a:t> </a:t>
            </a:r>
            <a:r>
              <a:rPr dirty="0" sz="1150" spc="65">
                <a:latin typeface="Symbol"/>
                <a:cs typeface="Symbol"/>
              </a:rPr>
              <a:t></a:t>
            </a:r>
            <a:r>
              <a:rPr dirty="0" sz="1150" spc="-105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Palatino Linotype"/>
                <a:cs typeface="Palatino Linotype"/>
              </a:rPr>
              <a:t>x</a:t>
            </a:r>
            <a:r>
              <a:rPr dirty="0" sz="1150" spc="320">
                <a:latin typeface="Palatino Linotype"/>
                <a:cs typeface="Palatino Linotype"/>
              </a:rPr>
              <a:t> </a:t>
            </a:r>
            <a:r>
              <a:rPr dirty="0" baseline="-4761" sz="2625" spc="-277">
                <a:latin typeface="Symbol"/>
                <a:cs typeface="Symbol"/>
              </a:rPr>
              <a:t></a:t>
            </a:r>
            <a:r>
              <a:rPr dirty="0" baseline="-4761" sz="2625" spc="-397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10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c</a:t>
            </a:r>
            <a:r>
              <a:rPr dirty="0" sz="1150" spc="465">
                <a:latin typeface="Palatino Linotype"/>
                <a:cs typeface="Palatino Linotype"/>
              </a:rPr>
              <a:t> </a:t>
            </a:r>
            <a:r>
              <a:rPr dirty="0" sz="1150" spc="65">
                <a:latin typeface="Symbol"/>
                <a:cs typeface="Symbol"/>
              </a:rPr>
              <a:t>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Palatino Linotype"/>
                <a:cs typeface="Palatino Linotype"/>
              </a:rPr>
              <a:t>0</a:t>
            </a:r>
            <a:endParaRPr sz="11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06627" y="714247"/>
            <a:ext cx="17456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38638" y="938653"/>
            <a:ext cx="10033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260" algn="l"/>
              </a:tabLst>
            </a:pPr>
            <a:r>
              <a:rPr dirty="0" sz="2000" spc="-305">
                <a:latin typeface="Symbol"/>
                <a:cs typeface="Symbol"/>
              </a:rPr>
              <a:t>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305">
                <a:latin typeface="Symbol"/>
                <a:cs typeface="Symbol"/>
              </a:rPr>
              <a:t>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88103" y="1013550"/>
            <a:ext cx="72390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91917" y="1013550"/>
            <a:ext cx="72390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61858" y="1127670"/>
            <a:ext cx="72390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650" spc="-50">
                <a:latin typeface="Palatino Linotype"/>
                <a:cs typeface="Palatino Linotype"/>
              </a:rPr>
              <a:t>3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83920" y="1127670"/>
            <a:ext cx="1114425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99720" algn="l"/>
                <a:tab pos="720090" algn="l"/>
                <a:tab pos="105473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1</a:t>
            </a:r>
            <a:r>
              <a:rPr dirty="0" sz="650" spc="200">
                <a:latin typeface="Palatino Linotype"/>
                <a:cs typeface="Palatino Linotype"/>
              </a:rPr>
              <a:t>  </a:t>
            </a:r>
            <a:r>
              <a:rPr dirty="0" sz="650" spc="-50">
                <a:latin typeface="Palatino Linotype"/>
                <a:cs typeface="Palatino Linotype"/>
              </a:rPr>
              <a:t>3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3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50399" y="1127670"/>
            <a:ext cx="680085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91465" algn="l"/>
                <a:tab pos="62039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3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1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85712" y="944836"/>
            <a:ext cx="248856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28600" algn="l"/>
                <a:tab pos="1165225" algn="l"/>
                <a:tab pos="1494790" algn="l"/>
              </a:tabLst>
            </a:pPr>
            <a:r>
              <a:rPr dirty="0" sz="1200" spc="-50">
                <a:latin typeface="Palatino Linotype"/>
                <a:cs typeface="Palatino Linotype"/>
              </a:rPr>
              <a:t>c</a:t>
            </a:r>
            <a:r>
              <a:rPr dirty="0" sz="1200">
                <a:latin typeface="Palatino Linotype"/>
                <a:cs typeface="Palatino Linotype"/>
              </a:rPr>
              <a:t>	x</a:t>
            </a:r>
            <a:r>
              <a:rPr dirty="0" sz="1200" spc="45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4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c</a:t>
            </a:r>
            <a:r>
              <a:rPr dirty="0" sz="1200">
                <a:latin typeface="Palatino Linotype"/>
                <a:cs typeface="Palatino Linotype"/>
              </a:rPr>
              <a:t>	x</a:t>
            </a:r>
            <a:r>
              <a:rPr dirty="0" sz="1200" spc="3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315">
                <a:latin typeface="Palatino Linotype"/>
                <a:cs typeface="Palatino Linotype"/>
              </a:rPr>
              <a:t> </a:t>
            </a:r>
            <a:r>
              <a:rPr dirty="0" baseline="-4761" sz="2625" spc="-277">
                <a:latin typeface="Symbol"/>
                <a:cs typeface="Symbol"/>
              </a:rPr>
              <a:t></a:t>
            </a:r>
            <a:r>
              <a:rPr dirty="0" baseline="-4761" sz="2625" spc="-39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4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79244" y="960759"/>
            <a:ext cx="1605915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1351915" algn="l"/>
              </a:tabLst>
            </a:pPr>
            <a:r>
              <a:rPr dirty="0" sz="1750" spc="-50">
                <a:latin typeface="Symbol"/>
                <a:cs typeface="Symbol"/>
              </a:rPr>
              <a:t></a:t>
            </a:r>
            <a:r>
              <a:rPr dirty="0" sz="1750">
                <a:latin typeface="Times New Roman"/>
                <a:cs typeface="Times New Roman"/>
              </a:rPr>
              <a:t>	</a:t>
            </a:r>
            <a:r>
              <a:rPr dirty="0" sz="1750" spc="-25">
                <a:latin typeface="Symbol"/>
                <a:cs typeface="Symbol"/>
              </a:rPr>
              <a:t></a:t>
            </a:r>
            <a:r>
              <a:rPr dirty="0" baseline="6944" sz="1800" spc="-37">
                <a:latin typeface="Palatino Linotype"/>
                <a:cs typeface="Palatino Linotype"/>
              </a:rPr>
              <a:t>6</a:t>
            </a:r>
            <a:r>
              <a:rPr dirty="0" sz="1750" spc="-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81227" y="1358977"/>
            <a:ext cx="414845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Trừ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từng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vế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(5)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3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(6)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rồi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33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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được: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1227" y="1606005"/>
            <a:ext cx="2237105" cy="607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70739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32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172">
                <a:latin typeface="Palatino Linotype"/>
                <a:cs typeface="Palatino Linotype"/>
              </a:rPr>
              <a:t> 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24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32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97">
                <a:latin typeface="Palatino Linotype"/>
                <a:cs typeface="Palatino Linotype"/>
              </a:rPr>
              <a:t> </a:t>
            </a:r>
            <a:r>
              <a:rPr dirty="0" baseline="-4761" sz="2625" spc="-277">
                <a:latin typeface="Symbol"/>
                <a:cs typeface="Symbol"/>
              </a:rPr>
              <a:t></a:t>
            </a:r>
            <a:r>
              <a:rPr dirty="0" baseline="-4761" sz="2625" spc="-2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(4)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926204" y="1676145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(7)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926204" y="2293365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(8)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1227" y="2223225"/>
            <a:ext cx="5494655" cy="3482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70739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32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172">
                <a:latin typeface="Palatino Linotype"/>
                <a:cs typeface="Palatino Linotype"/>
              </a:rPr>
              <a:t> 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24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3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4</a:t>
            </a:r>
            <a:r>
              <a:rPr dirty="0" baseline="-29914" sz="975" spc="112">
                <a:latin typeface="Palatino Linotype"/>
                <a:cs typeface="Palatino Linotype"/>
              </a:rPr>
              <a:t> </a:t>
            </a:r>
            <a:r>
              <a:rPr dirty="0" baseline="-4761" sz="2625" spc="-277">
                <a:latin typeface="Symbol"/>
                <a:cs typeface="Symbol"/>
              </a:rPr>
              <a:t></a:t>
            </a:r>
            <a:r>
              <a:rPr dirty="0" baseline="-4761" sz="2625" spc="-23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dirty="0" sz="1200">
                <a:latin typeface="Palatino Linotype"/>
                <a:cs typeface="Palatino Linotype"/>
              </a:rPr>
              <a:t>Trừ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vế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(7)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(8)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được:</a:t>
            </a:r>
            <a:endParaRPr sz="1200">
              <a:latin typeface="Palatino Linotype"/>
              <a:cs typeface="Palatino Linotype"/>
            </a:endParaRPr>
          </a:p>
          <a:p>
            <a:pPr marL="593090">
              <a:lnSpc>
                <a:spcPct val="100000"/>
              </a:lnSpc>
              <a:spcBef>
                <a:spcPts val="290"/>
              </a:spcBef>
            </a:pP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142">
                <a:latin typeface="Palatino Linotype"/>
                <a:cs typeface="Palatino Linotype"/>
              </a:rPr>
              <a:t> 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2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4</a:t>
            </a:r>
            <a:r>
              <a:rPr dirty="0" baseline="-29914" sz="975" spc="89">
                <a:latin typeface="Palatino Linotype"/>
                <a:cs typeface="Palatino Linotype"/>
              </a:rPr>
              <a:t> </a:t>
            </a:r>
            <a:r>
              <a:rPr dirty="0" baseline="-4761" sz="2625" spc="-277">
                <a:latin typeface="Symbol"/>
                <a:cs typeface="Symbol"/>
              </a:rPr>
              <a:t></a:t>
            </a:r>
            <a:r>
              <a:rPr dirty="0" baseline="-4761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55">
                <a:latin typeface="Palatino Linotype"/>
                <a:cs typeface="Palatino Linotype"/>
              </a:rPr>
              <a:t> </a:t>
            </a:r>
            <a:r>
              <a:rPr dirty="0" sz="1200" spc="55">
                <a:latin typeface="Symbol"/>
                <a:cs typeface="Symbol"/>
              </a:rPr>
              <a:t>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baseline="-29914" sz="975">
                <a:latin typeface="Palatino Linotype"/>
                <a:cs typeface="Palatino Linotype"/>
              </a:rPr>
              <a:t>0</a:t>
            </a:r>
            <a:r>
              <a:rPr dirty="0" baseline="-29914" sz="975" spc="41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vì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39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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4</a:t>
            </a:r>
            <a:r>
              <a:rPr dirty="0" baseline="-29914" sz="975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3</a:t>
            </a:r>
            <a:r>
              <a:rPr dirty="0" sz="7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4</a:t>
            </a:r>
            <a:r>
              <a:rPr dirty="0" sz="700" spc="48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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38100" marR="1765300">
              <a:lnSpc>
                <a:spcPct val="148300"/>
              </a:lnSpc>
              <a:spcBef>
                <a:spcPts val="335"/>
              </a:spcBef>
            </a:pPr>
            <a:r>
              <a:rPr dirty="0" sz="1200">
                <a:latin typeface="Palatino Linotype"/>
                <a:cs typeface="Palatino Linotype"/>
              </a:rPr>
              <a:t>Thay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700">
                <a:latin typeface="Palatino Linotype"/>
                <a:cs typeface="Palatino Linotype"/>
              </a:rPr>
              <a:t>3</a:t>
            </a:r>
            <a:r>
              <a:rPr dirty="0" sz="7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(8)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700">
                <a:latin typeface="Palatino Linotype"/>
                <a:cs typeface="Palatino Linotype"/>
              </a:rPr>
              <a:t>2</a:t>
            </a:r>
            <a:r>
              <a:rPr dirty="0" sz="700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0.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(6)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700">
                <a:latin typeface="Palatino Linotype"/>
                <a:cs typeface="Palatino Linotype"/>
              </a:rPr>
              <a:t>1</a:t>
            </a:r>
            <a:r>
              <a:rPr dirty="0" sz="700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0. </a:t>
            </a:r>
            <a:r>
              <a:rPr dirty="0" sz="1200">
                <a:latin typeface="Palatino Linotype"/>
                <a:cs typeface="Palatino Linotype"/>
              </a:rPr>
              <a:t>Thay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7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7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đpcm.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II-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MỘT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SỐ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DẠNG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TOÁN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35" b="1">
                <a:solidFill>
                  <a:srgbClr val="006FC0"/>
                </a:solidFill>
                <a:latin typeface="Palatino Linotype"/>
                <a:cs typeface="Palatino Linotype"/>
              </a:rPr>
              <a:t>THƢỜNG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GẶP</a:t>
            </a:r>
            <a:endParaRPr sz="1200">
              <a:latin typeface="Palatino Linotype"/>
              <a:cs typeface="Palatino Linotype"/>
            </a:endParaRPr>
          </a:p>
          <a:p>
            <a:pPr marL="76200">
              <a:lnSpc>
                <a:spcPct val="100000"/>
              </a:lnSpc>
              <a:spcBef>
                <a:spcPts val="71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dirty="0" sz="1200" spc="-15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1:</a:t>
            </a:r>
            <a:r>
              <a:rPr dirty="0" sz="1200" spc="280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2,3,...)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thức: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470"/>
              </a:spcBef>
              <a:tabLst>
                <a:tab pos="735965" algn="l"/>
              </a:tabLst>
            </a:pP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baseline="2314" sz="1800" spc="-22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baseline="2314" sz="18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 spc="-37" b="1">
                <a:solidFill>
                  <a:srgbClr val="00AFEF"/>
                </a:solidFill>
                <a:latin typeface="Palatino Linotype"/>
                <a:cs typeface="Palatino Linotype"/>
              </a:rPr>
              <a:t>1.</a:t>
            </a: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	</a:t>
            </a:r>
            <a:r>
              <a:rPr dirty="0" baseline="2314" sz="1800">
                <a:latin typeface="Palatino Linotype"/>
                <a:cs typeface="Palatino Linotype"/>
              </a:rPr>
              <a:t>Cho</a:t>
            </a:r>
            <a:r>
              <a:rPr dirty="0" baseline="2314" sz="1800" spc="-44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đa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thức:</a:t>
            </a:r>
            <a:r>
              <a:rPr dirty="0" baseline="2314" sz="1800" spc="600">
                <a:latin typeface="Palatino Linotype"/>
                <a:cs typeface="Palatino Linotype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f</a:t>
            </a:r>
            <a:r>
              <a:rPr dirty="0" baseline="4444" sz="1875" spc="104" i="1">
                <a:latin typeface="Times New Roman"/>
                <a:cs typeface="Times New Roman"/>
              </a:rPr>
              <a:t> </a:t>
            </a:r>
            <a:r>
              <a:rPr dirty="0" sz="1650" spc="-145">
                <a:latin typeface="Symbol"/>
                <a:cs typeface="Symbol"/>
              </a:rPr>
              <a:t></a:t>
            </a:r>
            <a:r>
              <a:rPr dirty="0" sz="1650" spc="-275">
                <a:latin typeface="Times New Roman"/>
                <a:cs typeface="Times New Roman"/>
              </a:rPr>
              <a:t> </a:t>
            </a:r>
            <a:r>
              <a:rPr dirty="0" baseline="4444" sz="1875" spc="-52" i="1">
                <a:latin typeface="Times New Roman"/>
                <a:cs typeface="Times New Roman"/>
              </a:rPr>
              <a:t>x</a:t>
            </a:r>
            <a:r>
              <a:rPr dirty="0" sz="1650" spc="-35">
                <a:latin typeface="Symbol"/>
                <a:cs typeface="Symbol"/>
              </a:rPr>
              <a:t></a:t>
            </a:r>
            <a:r>
              <a:rPr dirty="0" sz="1650" spc="-160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</a:t>
            </a:r>
            <a:r>
              <a:rPr dirty="0" baseline="4444" sz="1875" spc="-104">
                <a:latin typeface="Times New Roman"/>
                <a:cs typeface="Times New Roman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a</a:t>
            </a:r>
            <a:r>
              <a:rPr dirty="0" baseline="4444" sz="1875">
                <a:latin typeface="Times New Roman"/>
                <a:cs typeface="Times New Roman"/>
              </a:rPr>
              <a:t>.</a:t>
            </a:r>
            <a:r>
              <a:rPr dirty="0" baseline="4444" sz="1875" i="1">
                <a:latin typeface="Times New Roman"/>
                <a:cs typeface="Times New Roman"/>
              </a:rPr>
              <a:t>x</a:t>
            </a:r>
            <a:r>
              <a:rPr dirty="0" baseline="48148" sz="1125">
                <a:latin typeface="Times New Roman"/>
                <a:cs typeface="Times New Roman"/>
              </a:rPr>
              <a:t>2</a:t>
            </a:r>
            <a:r>
              <a:rPr dirty="0" baseline="48148" sz="1125" spc="172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</a:t>
            </a:r>
            <a:r>
              <a:rPr dirty="0" baseline="4444" sz="1875" spc="-240">
                <a:latin typeface="Times New Roman"/>
                <a:cs typeface="Times New Roman"/>
              </a:rPr>
              <a:t> </a:t>
            </a:r>
            <a:r>
              <a:rPr dirty="0" baseline="4444" sz="1875" spc="-15" i="1">
                <a:latin typeface="Times New Roman"/>
                <a:cs typeface="Times New Roman"/>
              </a:rPr>
              <a:t>bx</a:t>
            </a:r>
            <a:r>
              <a:rPr dirty="0" baseline="4444" sz="1875" spc="-165" i="1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</a:t>
            </a:r>
            <a:r>
              <a:rPr dirty="0" baseline="4444" sz="1875" spc="-209">
                <a:latin typeface="Times New Roman"/>
                <a:cs typeface="Times New Roman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c</a:t>
            </a:r>
            <a:r>
              <a:rPr dirty="0" baseline="4444" sz="1875" spc="-142" i="1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,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Xác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định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các hệ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số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a,b,c</a:t>
            </a:r>
            <a:r>
              <a:rPr dirty="0" baseline="2314" sz="1800" spc="-22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biết:</a:t>
            </a:r>
            <a:endParaRPr baseline="2314" sz="1800">
              <a:latin typeface="Palatino Linotype"/>
              <a:cs typeface="Palatino Linotype"/>
            </a:endParaRPr>
          </a:p>
          <a:p>
            <a:pPr algn="ctr" marL="740410">
              <a:lnSpc>
                <a:spcPct val="100000"/>
              </a:lnSpc>
              <a:spcBef>
                <a:spcPts val="470"/>
              </a:spcBef>
            </a:pPr>
            <a:r>
              <a:rPr dirty="0" baseline="4444" sz="1875" i="1">
                <a:latin typeface="Times New Roman"/>
                <a:cs typeface="Times New Roman"/>
              </a:rPr>
              <a:t>f</a:t>
            </a:r>
            <a:r>
              <a:rPr dirty="0" baseline="4444" sz="1875" spc="75" i="1">
                <a:latin typeface="Times New Roman"/>
                <a:cs typeface="Times New Roman"/>
              </a:rPr>
              <a:t> </a:t>
            </a:r>
            <a:r>
              <a:rPr dirty="0" sz="1650" spc="-70">
                <a:latin typeface="Symbol"/>
                <a:cs typeface="Symbol"/>
              </a:rPr>
              <a:t></a:t>
            </a:r>
            <a:r>
              <a:rPr dirty="0" baseline="4444" sz="1875" spc="-104">
                <a:latin typeface="Times New Roman"/>
                <a:cs typeface="Times New Roman"/>
              </a:rPr>
              <a:t>0</a:t>
            </a:r>
            <a:r>
              <a:rPr dirty="0" sz="1650" spc="-70">
                <a:latin typeface="Symbol"/>
                <a:cs typeface="Symbol"/>
              </a:rPr>
              <a:t></a:t>
            </a:r>
            <a:r>
              <a:rPr dirty="0" sz="1650" spc="-165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</a:t>
            </a:r>
            <a:r>
              <a:rPr dirty="0" baseline="4444" sz="1875" spc="-97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Times New Roman"/>
                <a:cs typeface="Times New Roman"/>
              </a:rPr>
              <a:t>2;</a:t>
            </a:r>
            <a:r>
              <a:rPr dirty="0" baseline="4444" sz="1875" spc="44">
                <a:latin typeface="Times New Roman"/>
                <a:cs typeface="Times New Roman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f</a:t>
            </a:r>
            <a:r>
              <a:rPr dirty="0" baseline="4444" sz="1875" spc="97" i="1">
                <a:latin typeface="Times New Roman"/>
                <a:cs typeface="Times New Roman"/>
              </a:rPr>
              <a:t> </a:t>
            </a:r>
            <a:r>
              <a:rPr dirty="0" sz="1650" spc="-140">
                <a:latin typeface="Symbol"/>
                <a:cs typeface="Symbol"/>
              </a:rPr>
              <a:t></a:t>
            </a:r>
            <a:r>
              <a:rPr dirty="0" baseline="4444" sz="1875" spc="-209">
                <a:latin typeface="Times New Roman"/>
                <a:cs typeface="Times New Roman"/>
              </a:rPr>
              <a:t>1</a:t>
            </a:r>
            <a:r>
              <a:rPr dirty="0" sz="1650" spc="-140">
                <a:latin typeface="Symbol"/>
                <a:cs typeface="Symbol"/>
              </a:rPr>
              <a:t></a:t>
            </a:r>
            <a:r>
              <a:rPr dirty="0" sz="1650" spc="-165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</a:t>
            </a:r>
            <a:r>
              <a:rPr dirty="0" baseline="4444" sz="1875" spc="-135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Times New Roman"/>
                <a:cs typeface="Times New Roman"/>
              </a:rPr>
              <a:t>7;</a:t>
            </a:r>
            <a:r>
              <a:rPr dirty="0" baseline="4444" sz="1875" spc="44">
                <a:latin typeface="Times New Roman"/>
                <a:cs typeface="Times New Roman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f</a:t>
            </a:r>
            <a:r>
              <a:rPr dirty="0" baseline="4444" sz="1875" spc="97" i="1">
                <a:latin typeface="Times New Roman"/>
                <a:cs typeface="Times New Roman"/>
              </a:rPr>
              <a:t> </a:t>
            </a:r>
            <a:r>
              <a:rPr dirty="0" sz="1650" spc="-60">
                <a:latin typeface="Symbol"/>
                <a:cs typeface="Symbol"/>
              </a:rPr>
              <a:t></a:t>
            </a:r>
            <a:r>
              <a:rPr dirty="0" baseline="4444" sz="1875" spc="-89">
                <a:latin typeface="Symbol"/>
                <a:cs typeface="Symbol"/>
              </a:rPr>
              <a:t></a:t>
            </a:r>
            <a:r>
              <a:rPr dirty="0" baseline="4444" sz="1875" spc="-89">
                <a:latin typeface="Times New Roman"/>
                <a:cs typeface="Times New Roman"/>
              </a:rPr>
              <a:t>2</a:t>
            </a:r>
            <a:r>
              <a:rPr dirty="0" sz="1650" spc="-60">
                <a:latin typeface="Symbol"/>
                <a:cs typeface="Symbol"/>
              </a:rPr>
              <a:t></a:t>
            </a:r>
            <a:r>
              <a:rPr dirty="0" sz="1650" spc="-170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</a:t>
            </a:r>
            <a:r>
              <a:rPr dirty="0" baseline="4444" sz="1875" spc="-104">
                <a:latin typeface="Times New Roman"/>
                <a:cs typeface="Times New Roman"/>
              </a:rPr>
              <a:t> </a:t>
            </a:r>
            <a:r>
              <a:rPr dirty="0" baseline="4444" sz="1875" spc="-37">
                <a:latin typeface="Symbol"/>
                <a:cs typeface="Symbol"/>
              </a:rPr>
              <a:t></a:t>
            </a:r>
            <a:r>
              <a:rPr dirty="0" baseline="4444" sz="1875" spc="-37">
                <a:latin typeface="Times New Roman"/>
                <a:cs typeface="Times New Roman"/>
              </a:rPr>
              <a:t>14</a:t>
            </a:r>
            <a:endParaRPr baseline="4444" sz="1875">
              <a:latin typeface="Times New Roman"/>
              <a:cs typeface="Times New Roman"/>
            </a:endParaRPr>
          </a:p>
          <a:p>
            <a:pPr algn="ctr" marL="702945">
              <a:lnSpc>
                <a:spcPct val="100000"/>
              </a:lnSpc>
              <a:spcBef>
                <a:spcPts val="725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  <a:p>
            <a:pPr marL="11811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 spc="70">
                <a:latin typeface="Symbol"/>
                <a:cs typeface="Symbol"/>
              </a:rPr>
              <a:t>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</a:t>
            </a:r>
            <a:r>
              <a:rPr dirty="0" sz="1200" spc="-1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70">
                <a:latin typeface="Symbol"/>
                <a:cs typeface="Symbol"/>
              </a:rPr>
              <a:t>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142357" y="5680328"/>
            <a:ext cx="205104" cy="5683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spc="-25"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  <a:p>
            <a:pPr marL="13970">
              <a:lnSpc>
                <a:spcPct val="100000"/>
              </a:lnSpc>
              <a:spcBef>
                <a:spcPts val="695"/>
              </a:spcBef>
            </a:pPr>
            <a:r>
              <a:rPr dirty="0" sz="1200" spc="-25"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81227" y="5681249"/>
            <a:ext cx="4035425" cy="111125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181100">
              <a:lnSpc>
                <a:spcPct val="100000"/>
              </a:lnSpc>
              <a:spcBef>
                <a:spcPts val="785"/>
              </a:spcBef>
            </a:pP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185">
                <a:latin typeface="Palatino Linotype"/>
                <a:cs typeface="Palatino Linotype"/>
              </a:rPr>
              <a:t> </a:t>
            </a:r>
            <a:r>
              <a:rPr dirty="0" sz="1200" spc="55">
                <a:latin typeface="Symbol"/>
                <a:cs typeface="Symbol"/>
              </a:rPr>
              <a:t>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7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55">
                <a:latin typeface="Symbol"/>
                <a:cs typeface="Symbol"/>
              </a:rPr>
              <a:t>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1181100">
              <a:lnSpc>
                <a:spcPct val="100000"/>
              </a:lnSpc>
              <a:spcBef>
                <a:spcPts val="700"/>
              </a:spcBef>
            </a:pPr>
            <a:r>
              <a:rPr dirty="0" sz="1200" spc="-10">
                <a:latin typeface="Palatino Linotype"/>
                <a:cs typeface="Palatino Linotype"/>
              </a:rPr>
              <a:t>f(-</a:t>
            </a:r>
            <a:r>
              <a:rPr dirty="0" sz="1200">
                <a:latin typeface="Palatino Linotype"/>
                <a:cs typeface="Palatino Linotype"/>
              </a:rPr>
              <a:t>2)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14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00" spc="70">
                <a:latin typeface="Symbol"/>
                <a:cs typeface="Symbol"/>
              </a:rPr>
              <a:t>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4a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2b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Times New Roman"/>
                <a:cs typeface="Times New Roman"/>
              </a:rPr>
              <a:t>14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70">
                <a:latin typeface="Symbol"/>
                <a:cs typeface="Symbol"/>
              </a:rPr>
              <a:t>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2a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  <a:p>
            <a:pPr marL="11811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 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6.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là: 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-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5827" y="6763892"/>
            <a:ext cx="4828540" cy="247840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819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2.</a:t>
            </a:r>
            <a:r>
              <a:rPr dirty="0" sz="1200" spc="135" b="1">
                <a:solidFill>
                  <a:srgbClr val="00AFEF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 biết:</a:t>
            </a:r>
            <a:r>
              <a:rPr dirty="0" sz="1200" spc="2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1; f(1)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25">
                <a:latin typeface="Palatino Linotype"/>
                <a:cs typeface="Palatino Linotype"/>
              </a:rPr>
              <a:t>22</a:t>
            </a:r>
            <a:endParaRPr sz="1200">
              <a:latin typeface="Palatino Linotype"/>
              <a:cs typeface="Palatino Linotype"/>
            </a:endParaRPr>
          </a:p>
          <a:p>
            <a:pPr marL="63500" marR="1431290" indent="2795270">
              <a:lnSpc>
                <a:spcPct val="148400"/>
              </a:lnSpc>
              <a:spcBef>
                <a:spcPts val="20"/>
              </a:spcBef>
              <a:tabLst>
                <a:tab pos="1743075" algn="l"/>
              </a:tabLst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 </a:t>
            </a:r>
            <a:r>
              <a:rPr dirty="0" sz="1200">
                <a:latin typeface="Palatino Linotype"/>
                <a:cs typeface="Palatino Linotype"/>
              </a:rPr>
              <a:t>Gọi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là:</a:t>
            </a:r>
            <a:r>
              <a:rPr dirty="0" sz="1200">
                <a:latin typeface="Palatino Linotype"/>
                <a:cs typeface="Palatino Linotype"/>
              </a:rPr>
              <a:t>	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+d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  <a:p>
            <a:pPr algn="just" marL="1206500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1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50" spc="50">
                <a:latin typeface="Symbol"/>
                <a:cs typeface="Symbol"/>
              </a:rPr>
              <a:t></a:t>
            </a:r>
            <a:r>
              <a:rPr dirty="0" sz="1200" spc="50">
                <a:latin typeface="Palatino Linotype"/>
                <a:cs typeface="Palatino Linotype"/>
              </a:rPr>
              <a:t>d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algn="just" marL="1206500" marR="1519555">
              <a:lnSpc>
                <a:spcPct val="142800"/>
              </a:lnSpc>
              <a:spcBef>
                <a:spcPts val="5"/>
              </a:spcBef>
              <a:tabLst>
                <a:tab pos="3122295" algn="l"/>
              </a:tabLst>
            </a:pPr>
            <a:r>
              <a:rPr dirty="0" sz="1200" spc="-10">
                <a:latin typeface="Palatino Linotype"/>
                <a:cs typeface="Palatino Linotype"/>
              </a:rPr>
              <a:t>f(1)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50" spc="50">
                <a:latin typeface="Symbol"/>
                <a:cs typeface="Symbol"/>
              </a:rPr>
              <a:t></a:t>
            </a:r>
            <a:r>
              <a:rPr dirty="0" sz="1200" spc="50">
                <a:latin typeface="Palatino Linotype"/>
                <a:cs typeface="Palatino Linotype"/>
              </a:rPr>
              <a:t>a</a:t>
            </a:r>
            <a:r>
              <a:rPr dirty="0" sz="1200">
                <a:latin typeface="Palatino Linotype"/>
                <a:cs typeface="Palatino Linotype"/>
              </a:rPr>
              <a:t> + b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1	</a:t>
            </a:r>
            <a:r>
              <a:rPr dirty="0" sz="1200" spc="-5">
                <a:latin typeface="Palatino Linotype"/>
                <a:cs typeface="Palatino Linotype"/>
              </a:rPr>
              <a:t>(1) </a:t>
            </a:r>
            <a:r>
              <a:rPr dirty="0" sz="1200" spc="-10">
                <a:latin typeface="Palatino Linotype"/>
                <a:cs typeface="Palatino Linotype"/>
              </a:rPr>
              <a:t>f(2)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50" spc="-40">
                <a:latin typeface="Symbol"/>
                <a:cs typeface="Symbol"/>
              </a:rPr>
              <a:t></a:t>
            </a:r>
            <a:r>
              <a:rPr dirty="0" sz="1250" spc="-1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4a + </a:t>
            </a:r>
            <a:r>
              <a:rPr dirty="0" sz="1200" spc="-5">
                <a:latin typeface="Palatino Linotype"/>
                <a:cs typeface="Palatino Linotype"/>
              </a:rPr>
              <a:t>2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2        </a:t>
            </a:r>
            <a:r>
              <a:rPr dirty="0" sz="1200" spc="-10">
                <a:latin typeface="Palatino Linotype"/>
                <a:cs typeface="Palatino Linotype"/>
              </a:rPr>
              <a:t>(2)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f(3)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22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50" spc="-40">
                <a:latin typeface="Symbol"/>
                <a:cs typeface="Symbol"/>
              </a:rPr>
              <a:t></a:t>
            </a:r>
            <a:r>
              <a:rPr dirty="0" sz="1250" spc="-1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9a + </a:t>
            </a:r>
            <a:r>
              <a:rPr dirty="0" sz="1200" spc="-5">
                <a:latin typeface="Palatino Linotype"/>
                <a:cs typeface="Palatino Linotype"/>
              </a:rPr>
              <a:t>3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7      </a:t>
            </a:r>
            <a:r>
              <a:rPr dirty="0" sz="1200" spc="-10">
                <a:latin typeface="Palatino Linotype"/>
                <a:cs typeface="Palatino Linotype"/>
              </a:rPr>
              <a:t>(3)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685"/>
              </a:spcBef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(3)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trình: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797194" y="976536"/>
            <a:ext cx="10096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71794" y="1180114"/>
            <a:ext cx="105092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>
                <a:latin typeface="Times New Roman"/>
                <a:cs typeface="Times New Roman"/>
              </a:rPr>
              <a:t>9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3</a:t>
            </a:r>
            <a:r>
              <a:rPr dirty="0" sz="1200" spc="-35" i="1">
                <a:latin typeface="Times New Roman"/>
                <a:cs typeface="Times New Roman"/>
              </a:rPr>
              <a:t>b</a:t>
            </a:r>
            <a:r>
              <a:rPr dirty="0" sz="1200" spc="-5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3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71794" y="950249"/>
            <a:ext cx="10604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32407" sz="1800">
                <a:latin typeface="Symbol"/>
                <a:cs typeface="Symbol"/>
              </a:rPr>
              <a:t>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4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2</a:t>
            </a:r>
            <a:r>
              <a:rPr dirty="0" sz="1200" spc="-20" i="1">
                <a:latin typeface="Times New Roman"/>
                <a:cs typeface="Times New Roman"/>
              </a:rPr>
              <a:t>b</a:t>
            </a:r>
            <a:r>
              <a:rPr dirty="0" sz="1200" spc="-6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3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97194" y="731700"/>
            <a:ext cx="92900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Symbol"/>
                <a:cs typeface="Symbol"/>
              </a:rPr>
              <a:t>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60" i="1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Symbol"/>
                <a:cs typeface="Symbol"/>
              </a:rPr>
              <a:t></a:t>
            </a:r>
            <a:r>
              <a:rPr dirty="0" baseline="4629" sz="1800" spc="-12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9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9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37" i="1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Symbol"/>
                <a:cs typeface="Symbol"/>
              </a:rPr>
              <a:t></a:t>
            </a:r>
            <a:r>
              <a:rPr dirty="0" baseline="4629" sz="1800" spc="-179">
                <a:latin typeface="Times New Roman"/>
                <a:cs typeface="Times New Roman"/>
              </a:rPr>
              <a:t> </a:t>
            </a:r>
            <a:r>
              <a:rPr dirty="0" baseline="4629" sz="1800" spc="-75">
                <a:latin typeface="Times New Roman"/>
                <a:cs typeface="Times New Roman"/>
              </a:rPr>
              <a:t>1</a:t>
            </a:r>
            <a:endParaRPr baseline="4629" sz="1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1227" y="1128848"/>
            <a:ext cx="5707380" cy="219837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 marR="3366135">
              <a:lnSpc>
                <a:spcPct val="100000"/>
              </a:lnSpc>
              <a:spcBef>
                <a:spcPts val="835"/>
              </a:spcBef>
            </a:pP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  <a:p>
            <a:pPr algn="ctr" marR="3426460">
              <a:lnSpc>
                <a:spcPct val="100000"/>
              </a:lnSpc>
              <a:spcBef>
                <a:spcPts val="730"/>
              </a:spcBef>
            </a:pP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1;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0;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  <a:p>
            <a:pPr marL="1524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647700" marR="30480" indent="-610235">
              <a:lnSpc>
                <a:spcPts val="2230"/>
              </a:lnSpc>
              <a:spcBef>
                <a:spcPts val="340"/>
              </a:spcBef>
            </a:pP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baseline="2314" sz="18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baseline="2314" sz="18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3.</a:t>
            </a:r>
            <a:r>
              <a:rPr dirty="0" baseline="2314" sz="1800" spc="427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Cho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hàm</a:t>
            </a:r>
            <a:r>
              <a:rPr dirty="0" baseline="2314" sz="1800" spc="-22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số:</a:t>
            </a:r>
            <a:r>
              <a:rPr dirty="0" baseline="2314" sz="1800" spc="427">
                <a:latin typeface="Palatino Linotype"/>
                <a:cs typeface="Palatino Linotype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y</a:t>
            </a:r>
            <a:r>
              <a:rPr dirty="0" baseline="4444" sz="1875" spc="-44" i="1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</a:t>
            </a:r>
            <a:r>
              <a:rPr dirty="0" baseline="4444" sz="1875" spc="217">
                <a:latin typeface="Times New Roman"/>
                <a:cs typeface="Times New Roman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f</a:t>
            </a:r>
            <a:r>
              <a:rPr dirty="0" baseline="4444" sz="1875" spc="97" i="1">
                <a:latin typeface="Times New Roman"/>
                <a:cs typeface="Times New Roman"/>
              </a:rPr>
              <a:t> </a:t>
            </a:r>
            <a:r>
              <a:rPr dirty="0" sz="1650" spc="-150">
                <a:latin typeface="Symbol"/>
                <a:cs typeface="Symbol"/>
              </a:rPr>
              <a:t></a:t>
            </a:r>
            <a:r>
              <a:rPr dirty="0" sz="1650" spc="-270">
                <a:latin typeface="Times New Roman"/>
                <a:cs typeface="Times New Roman"/>
              </a:rPr>
              <a:t> </a:t>
            </a:r>
            <a:r>
              <a:rPr dirty="0" baseline="4444" sz="1875" spc="-67" i="1">
                <a:latin typeface="Times New Roman"/>
                <a:cs typeface="Times New Roman"/>
              </a:rPr>
              <a:t>x</a:t>
            </a:r>
            <a:r>
              <a:rPr dirty="0" sz="1650" spc="-45">
                <a:latin typeface="Symbol"/>
                <a:cs typeface="Symbol"/>
              </a:rPr>
              <a:t></a:t>
            </a:r>
            <a:r>
              <a:rPr dirty="0" sz="1650" spc="-165">
                <a:latin typeface="Times New Roman"/>
                <a:cs typeface="Times New Roman"/>
              </a:rPr>
              <a:t> </a:t>
            </a:r>
            <a:r>
              <a:rPr dirty="0" baseline="4444" sz="1875">
                <a:latin typeface="Symbol"/>
                <a:cs typeface="Symbol"/>
              </a:rPr>
              <a:t></a:t>
            </a:r>
            <a:r>
              <a:rPr dirty="0" baseline="4444" sz="1875" spc="-104">
                <a:latin typeface="Times New Roman"/>
                <a:cs typeface="Times New Roman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ax</a:t>
            </a:r>
            <a:r>
              <a:rPr dirty="0" baseline="48148" sz="1125">
                <a:latin typeface="Times New Roman"/>
                <a:cs typeface="Times New Roman"/>
              </a:rPr>
              <a:t>2</a:t>
            </a:r>
            <a:r>
              <a:rPr dirty="0" baseline="48148" sz="1125" spc="157">
                <a:latin typeface="Times New Roman"/>
                <a:cs typeface="Times New Roman"/>
              </a:rPr>
              <a:t> </a:t>
            </a:r>
            <a:r>
              <a:rPr dirty="0" baseline="4444" sz="1875" spc="-15">
                <a:latin typeface="Symbol"/>
                <a:cs typeface="Symbol"/>
              </a:rPr>
              <a:t></a:t>
            </a:r>
            <a:r>
              <a:rPr dirty="0" baseline="4444" sz="1875" spc="-240">
                <a:latin typeface="Times New Roman"/>
                <a:cs typeface="Times New Roman"/>
              </a:rPr>
              <a:t> </a:t>
            </a:r>
            <a:r>
              <a:rPr dirty="0" baseline="4444" sz="1875" spc="-37" i="1">
                <a:latin typeface="Times New Roman"/>
                <a:cs typeface="Times New Roman"/>
              </a:rPr>
              <a:t>bx</a:t>
            </a:r>
            <a:r>
              <a:rPr dirty="0" baseline="4444" sz="1875" spc="-179" i="1">
                <a:latin typeface="Times New Roman"/>
                <a:cs typeface="Times New Roman"/>
              </a:rPr>
              <a:t> </a:t>
            </a:r>
            <a:r>
              <a:rPr dirty="0" baseline="4444" sz="1875" spc="-15">
                <a:latin typeface="Symbol"/>
                <a:cs typeface="Symbol"/>
              </a:rPr>
              <a:t></a:t>
            </a:r>
            <a:r>
              <a:rPr dirty="0" baseline="4444" sz="1875" spc="-209">
                <a:latin typeface="Times New Roman"/>
                <a:cs typeface="Times New Roman"/>
              </a:rPr>
              <a:t> </a:t>
            </a:r>
            <a:r>
              <a:rPr dirty="0" baseline="4444" sz="1875" i="1">
                <a:latin typeface="Times New Roman"/>
                <a:cs typeface="Times New Roman"/>
              </a:rPr>
              <a:t>c</a:t>
            </a:r>
            <a:r>
              <a:rPr dirty="0" baseline="4444" sz="1875" spc="300" i="1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cho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biết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f(0)=2010,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f(1)=2011,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f(-1)=2012,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f(-</a:t>
            </a:r>
            <a:r>
              <a:rPr dirty="0" sz="1200" spc="-25">
                <a:latin typeface="Palatino Linotype"/>
                <a:cs typeface="Palatino Linotype"/>
              </a:rPr>
              <a:t>2)</a:t>
            </a:r>
            <a:endParaRPr sz="1200">
              <a:latin typeface="Palatino Linotype"/>
              <a:cs typeface="Palatino Linotype"/>
            </a:endParaRPr>
          </a:p>
          <a:p>
            <a:pPr algn="ctr" marL="489584">
              <a:lnSpc>
                <a:spcPct val="100000"/>
              </a:lnSpc>
              <a:spcBef>
                <a:spcPts val="31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710"/>
              </a:spcBef>
            </a:pPr>
            <a:r>
              <a:rPr dirty="0" sz="1200" spc="10">
                <a:latin typeface="Palatino Linotype"/>
                <a:cs typeface="Palatino Linotype"/>
              </a:rPr>
              <a:t>Theo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10">
                <a:latin typeface="Palatino Linotype"/>
                <a:cs typeface="Palatino Linotype"/>
              </a:rPr>
              <a:t>giả thiết ta có:</a:t>
            </a:r>
            <a:r>
              <a:rPr dirty="0" sz="1200" spc="430">
                <a:latin typeface="Palatino Linotype"/>
                <a:cs typeface="Palatino Linotype"/>
              </a:rPr>
              <a:t> </a:t>
            </a:r>
            <a:r>
              <a:rPr dirty="0" sz="1150" spc="10" i="1">
                <a:latin typeface="Times New Roman"/>
                <a:cs typeface="Times New Roman"/>
              </a:rPr>
              <a:t>f</a:t>
            </a:r>
            <a:r>
              <a:rPr dirty="0" sz="1150" spc="-10" i="1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(0)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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2010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Symbol"/>
                <a:cs typeface="Symbol"/>
              </a:rPr>
              <a:t>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0" i="1">
                <a:latin typeface="Times New Roman"/>
                <a:cs typeface="Times New Roman"/>
              </a:rPr>
              <a:t>c</a:t>
            </a:r>
            <a:r>
              <a:rPr dirty="0" sz="1150" spc="-25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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2010</a:t>
            </a:r>
            <a:r>
              <a:rPr dirty="0" sz="1150" spc="-17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,</a:t>
            </a:r>
            <a:endParaRPr sz="1200">
              <a:latin typeface="Palatino Linotype"/>
              <a:cs typeface="Palatino Linotype"/>
            </a:endParaRPr>
          </a:p>
          <a:p>
            <a:pPr marL="1842770">
              <a:lnSpc>
                <a:spcPct val="100000"/>
              </a:lnSpc>
              <a:spcBef>
                <a:spcPts val="540"/>
              </a:spcBef>
            </a:pPr>
            <a:r>
              <a:rPr dirty="0" sz="1150" i="1">
                <a:latin typeface="Times New Roman"/>
                <a:cs typeface="Times New Roman"/>
              </a:rPr>
              <a:t>f</a:t>
            </a:r>
            <a:r>
              <a:rPr dirty="0" sz="1150" spc="15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(1)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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2011</a:t>
            </a:r>
            <a:r>
              <a:rPr dirty="0" sz="1150" spc="-135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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55" i="1">
                <a:latin typeface="Times New Roman"/>
                <a:cs typeface="Times New Roman"/>
              </a:rPr>
              <a:t>a</a:t>
            </a:r>
            <a:r>
              <a:rPr dirty="0" sz="1150" spc="-70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125">
                <a:latin typeface="Times New Roman"/>
                <a:cs typeface="Times New Roman"/>
              </a:rPr>
              <a:t> </a:t>
            </a:r>
            <a:r>
              <a:rPr dirty="0" sz="1150" spc="55" i="1">
                <a:latin typeface="Times New Roman"/>
                <a:cs typeface="Times New Roman"/>
              </a:rPr>
              <a:t>b</a:t>
            </a:r>
            <a:r>
              <a:rPr dirty="0" sz="1150" spc="-90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c</a:t>
            </a:r>
            <a:r>
              <a:rPr dirty="0" sz="1150" spc="10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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2011</a:t>
            </a:r>
            <a:r>
              <a:rPr dirty="0" sz="1150" spc="-130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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55" i="1">
                <a:latin typeface="Times New Roman"/>
                <a:cs typeface="Times New Roman"/>
              </a:rPr>
              <a:t>a</a:t>
            </a:r>
            <a:r>
              <a:rPr dirty="0" sz="1150" spc="-75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114">
                <a:latin typeface="Times New Roman"/>
                <a:cs typeface="Times New Roman"/>
              </a:rPr>
              <a:t> </a:t>
            </a:r>
            <a:r>
              <a:rPr dirty="0" sz="1150" spc="55" i="1">
                <a:latin typeface="Times New Roman"/>
                <a:cs typeface="Times New Roman"/>
              </a:rPr>
              <a:t>b</a:t>
            </a:r>
            <a:r>
              <a:rPr dirty="0" sz="1150" spc="-10" i="1">
                <a:latin typeface="Times New Roman"/>
                <a:cs typeface="Times New Roman"/>
              </a:rPr>
              <a:t> </a:t>
            </a:r>
            <a:r>
              <a:rPr dirty="0" sz="1150" spc="90">
                <a:latin typeface="Symbol"/>
                <a:cs typeface="Symbol"/>
              </a:rPr>
              <a:t></a:t>
            </a:r>
            <a:r>
              <a:rPr dirty="0" sz="1150" spc="9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679621" y="3588705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 h="0">
                <a:moveTo>
                  <a:pt x="0" y="0"/>
                </a:moveTo>
                <a:lnTo>
                  <a:pt x="104236" y="0"/>
                </a:lnTo>
              </a:path>
            </a:pathLst>
          </a:custGeom>
          <a:ln w="77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677773" y="3367396"/>
            <a:ext cx="10922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677773" y="3580760"/>
            <a:ext cx="10922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30882" y="3462058"/>
            <a:ext cx="3876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94735" algn="l"/>
              </a:tabLst>
            </a:pP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465">
                <a:latin typeface="Palatino Linotype"/>
                <a:cs typeface="Palatino Linotype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f</a:t>
            </a:r>
            <a:r>
              <a:rPr dirty="0" sz="1150" spc="-5" i="1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sz="1150">
                <a:latin typeface="Times New Roman"/>
                <a:cs typeface="Times New Roman"/>
              </a:rPr>
              <a:t>1)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Symbol"/>
                <a:cs typeface="Symbol"/>
              </a:rPr>
              <a:t>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2012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50">
                <a:latin typeface="Symbol"/>
                <a:cs typeface="Symbol"/>
              </a:rPr>
              <a:t>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60" i="1">
                <a:latin typeface="Times New Roman"/>
                <a:cs typeface="Times New Roman"/>
              </a:rPr>
              <a:t>a</a:t>
            </a:r>
            <a:r>
              <a:rPr dirty="0" sz="1150" spc="-90" i="1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Symbol"/>
                <a:cs typeface="Symbol"/>
              </a:rPr>
              <a:t></a:t>
            </a:r>
            <a:r>
              <a:rPr dirty="0" sz="1150" spc="-150">
                <a:latin typeface="Times New Roman"/>
                <a:cs typeface="Times New Roman"/>
              </a:rPr>
              <a:t> </a:t>
            </a:r>
            <a:r>
              <a:rPr dirty="0" sz="1150" spc="60" i="1">
                <a:latin typeface="Times New Roman"/>
                <a:cs typeface="Times New Roman"/>
              </a:rPr>
              <a:t>b</a:t>
            </a:r>
            <a:r>
              <a:rPr dirty="0" sz="1150" spc="-105" i="1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Symbol"/>
                <a:cs typeface="Symbol"/>
              </a:rPr>
              <a:t></a:t>
            </a:r>
            <a:r>
              <a:rPr dirty="0" sz="1150" spc="-110">
                <a:latin typeface="Times New Roman"/>
                <a:cs typeface="Times New Roman"/>
              </a:rPr>
              <a:t> </a:t>
            </a:r>
            <a:r>
              <a:rPr dirty="0" sz="1150" spc="50" i="1">
                <a:latin typeface="Times New Roman"/>
                <a:cs typeface="Times New Roman"/>
              </a:rPr>
              <a:t>c</a:t>
            </a:r>
            <a:r>
              <a:rPr dirty="0" sz="1150" spc="-10" i="1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Symbol"/>
                <a:cs typeface="Symbol"/>
              </a:rPr>
              <a:t>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2012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50">
                <a:latin typeface="Symbol"/>
                <a:cs typeface="Symbol"/>
              </a:rPr>
              <a:t>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60" i="1">
                <a:latin typeface="Times New Roman"/>
                <a:cs typeface="Times New Roman"/>
              </a:rPr>
              <a:t>a</a:t>
            </a:r>
            <a:r>
              <a:rPr dirty="0" sz="1150" spc="-95" i="1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Symbol"/>
                <a:cs typeface="Symbol"/>
              </a:rPr>
              <a:t></a:t>
            </a:r>
            <a:r>
              <a:rPr dirty="0" sz="1150" spc="-145">
                <a:latin typeface="Times New Roman"/>
                <a:cs typeface="Times New Roman"/>
              </a:rPr>
              <a:t> </a:t>
            </a:r>
            <a:r>
              <a:rPr dirty="0" sz="1150" spc="60" i="1">
                <a:latin typeface="Times New Roman"/>
                <a:cs typeface="Times New Roman"/>
              </a:rPr>
              <a:t>b</a:t>
            </a:r>
            <a:r>
              <a:rPr dirty="0" sz="1150" spc="-35" i="1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Symbol"/>
                <a:cs typeface="Symbol"/>
              </a:rPr>
              <a:t>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Times New Roman"/>
                <a:cs typeface="Times New Roman"/>
              </a:rPr>
              <a:t>2</a:t>
            </a:r>
            <a:r>
              <a:rPr dirty="0" sz="115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=&gt;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=</a:t>
            </a:r>
            <a:r>
              <a:rPr dirty="0" sz="1200">
                <a:latin typeface="Palatino Linotype"/>
                <a:cs typeface="Palatino Linotype"/>
              </a:rPr>
              <a:t>	, b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sz="1150" spc="-50">
                <a:latin typeface="Symbol"/>
                <a:cs typeface="Symbol"/>
              </a:rPr>
              <a:t>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133412" y="3588705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 h="0">
                <a:moveTo>
                  <a:pt x="0" y="0"/>
                </a:moveTo>
                <a:lnTo>
                  <a:pt x="165797" y="0"/>
                </a:lnTo>
              </a:path>
            </a:pathLst>
          </a:custGeom>
          <a:ln w="74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130487" y="3335180"/>
            <a:ext cx="188595" cy="452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8895" marR="5080" indent="-36830">
              <a:lnSpc>
                <a:spcPct val="121700"/>
              </a:lnSpc>
              <a:spcBef>
                <a:spcPts val="90"/>
              </a:spcBef>
            </a:pPr>
            <a:r>
              <a:rPr dirty="0" sz="1150" spc="-25">
                <a:latin typeface="Symbol"/>
                <a:cs typeface="Symbol"/>
              </a:rPr>
              <a:t></a:t>
            </a:r>
            <a:r>
              <a:rPr dirty="0" sz="1150" spc="-25">
                <a:latin typeface="Times New Roman"/>
                <a:cs typeface="Times New Roman"/>
              </a:rPr>
              <a:t>1 </a:t>
            </a: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483974" y="4019870"/>
            <a:ext cx="90805" cy="0"/>
          </a:xfrm>
          <a:custGeom>
            <a:avLst/>
            <a:gdLst/>
            <a:ahLst/>
            <a:cxnLst/>
            <a:rect l="l" t="t" r="r" b="b"/>
            <a:pathLst>
              <a:path w="90804" h="0">
                <a:moveTo>
                  <a:pt x="0" y="0"/>
                </a:moveTo>
                <a:lnTo>
                  <a:pt x="90809" y="0"/>
                </a:lnTo>
              </a:path>
            </a:pathLst>
          </a:custGeom>
          <a:ln w="74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881511" y="4019870"/>
            <a:ext cx="90805" cy="0"/>
          </a:xfrm>
          <a:custGeom>
            <a:avLst/>
            <a:gdLst/>
            <a:ahLst/>
            <a:cxnLst/>
            <a:rect l="l" t="t" r="r" b="b"/>
            <a:pathLst>
              <a:path w="90804" h="0">
                <a:moveTo>
                  <a:pt x="0" y="0"/>
                </a:moveTo>
                <a:lnTo>
                  <a:pt x="90809" y="0"/>
                </a:lnTo>
              </a:path>
            </a:pathLst>
          </a:custGeom>
          <a:ln w="74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93927" y="3858003"/>
            <a:ext cx="5973445" cy="1113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82600">
              <a:lnSpc>
                <a:spcPts val="1550"/>
              </a:lnSpc>
              <a:spcBef>
                <a:spcPts val="105"/>
              </a:spcBef>
            </a:pPr>
            <a:r>
              <a:rPr dirty="0" baseline="4629" sz="1800">
                <a:latin typeface="Palatino Linotype"/>
                <a:cs typeface="Palatino Linotype"/>
              </a:rPr>
              <a:t>khi</a:t>
            </a:r>
            <a:r>
              <a:rPr dirty="0" baseline="4629" sz="1800" spc="-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đó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hàm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số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có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dạng</a:t>
            </a:r>
            <a:r>
              <a:rPr dirty="0" baseline="4629" sz="1800" spc="465">
                <a:latin typeface="Palatino Linotype"/>
                <a:cs typeface="Palatino Linotype"/>
              </a:rPr>
              <a:t> </a:t>
            </a:r>
            <a:r>
              <a:rPr dirty="0" baseline="4830" sz="1725" i="1">
                <a:latin typeface="Times New Roman"/>
                <a:cs typeface="Times New Roman"/>
              </a:rPr>
              <a:t>y</a:t>
            </a:r>
            <a:r>
              <a:rPr dirty="0" baseline="4830" sz="1725" spc="30" i="1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Symbol"/>
                <a:cs typeface="Symbol"/>
              </a:rPr>
              <a:t></a:t>
            </a:r>
            <a:r>
              <a:rPr dirty="0" baseline="4830" sz="1725" spc="315">
                <a:latin typeface="Times New Roman"/>
                <a:cs typeface="Times New Roman"/>
              </a:rPr>
              <a:t> </a:t>
            </a:r>
            <a:r>
              <a:rPr dirty="0" baseline="4830" sz="1725" i="1">
                <a:latin typeface="Times New Roman"/>
                <a:cs typeface="Times New Roman"/>
              </a:rPr>
              <a:t>f</a:t>
            </a:r>
            <a:r>
              <a:rPr dirty="0" baseline="4830" sz="1725" spc="172" i="1">
                <a:latin typeface="Times New Roman"/>
                <a:cs typeface="Times New Roman"/>
              </a:rPr>
              <a:t> </a:t>
            </a:r>
            <a:r>
              <a:rPr dirty="0" sz="1550" spc="-114">
                <a:latin typeface="Symbol"/>
                <a:cs typeface="Symbol"/>
              </a:rPr>
              <a:t></a:t>
            </a:r>
            <a:r>
              <a:rPr dirty="0" sz="1550" spc="-240">
                <a:latin typeface="Times New Roman"/>
                <a:cs typeface="Times New Roman"/>
              </a:rPr>
              <a:t> </a:t>
            </a:r>
            <a:r>
              <a:rPr dirty="0" baseline="4830" sz="1725" i="1">
                <a:latin typeface="Times New Roman"/>
                <a:cs typeface="Times New Roman"/>
              </a:rPr>
              <a:t>x</a:t>
            </a:r>
            <a:r>
              <a:rPr dirty="0" sz="1550">
                <a:latin typeface="Symbol"/>
                <a:cs typeface="Symbol"/>
              </a:rPr>
              <a:t></a:t>
            </a:r>
            <a:r>
              <a:rPr dirty="0" sz="1550" spc="-125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Symbol"/>
                <a:cs typeface="Symbol"/>
              </a:rPr>
              <a:t></a:t>
            </a:r>
            <a:r>
              <a:rPr dirty="0" baseline="4830" sz="1725" spc="120">
                <a:latin typeface="Times New Roman"/>
                <a:cs typeface="Times New Roman"/>
              </a:rPr>
              <a:t> </a:t>
            </a:r>
            <a:r>
              <a:rPr dirty="0" baseline="41062" sz="1725">
                <a:latin typeface="Times New Roman"/>
                <a:cs typeface="Times New Roman"/>
              </a:rPr>
              <a:t>3</a:t>
            </a:r>
            <a:r>
              <a:rPr dirty="0" baseline="41062" sz="1725" spc="-7">
                <a:latin typeface="Times New Roman"/>
                <a:cs typeface="Times New Roman"/>
              </a:rPr>
              <a:t> </a:t>
            </a:r>
            <a:r>
              <a:rPr dirty="0" baseline="4830" sz="1725" spc="82" i="1">
                <a:latin typeface="Times New Roman"/>
                <a:cs typeface="Times New Roman"/>
              </a:rPr>
              <a:t>x</a:t>
            </a:r>
            <a:r>
              <a:rPr dirty="0" baseline="51282" sz="975" spc="82">
                <a:latin typeface="Times New Roman"/>
                <a:cs typeface="Times New Roman"/>
              </a:rPr>
              <a:t>2</a:t>
            </a:r>
            <a:r>
              <a:rPr dirty="0" baseline="51282" sz="975" spc="232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Symbol"/>
                <a:cs typeface="Symbol"/>
              </a:rPr>
              <a:t></a:t>
            </a:r>
            <a:r>
              <a:rPr dirty="0" baseline="4830" sz="1725" spc="-22">
                <a:latin typeface="Times New Roman"/>
                <a:cs typeface="Times New Roman"/>
              </a:rPr>
              <a:t> </a:t>
            </a:r>
            <a:r>
              <a:rPr dirty="0" baseline="41062" sz="1725">
                <a:latin typeface="Times New Roman"/>
                <a:cs typeface="Times New Roman"/>
              </a:rPr>
              <a:t>1</a:t>
            </a:r>
            <a:r>
              <a:rPr dirty="0" baseline="41062" sz="1725" spc="22">
                <a:latin typeface="Times New Roman"/>
                <a:cs typeface="Times New Roman"/>
              </a:rPr>
              <a:t> </a:t>
            </a:r>
            <a:r>
              <a:rPr dirty="0" baseline="4830" sz="1725" i="1">
                <a:latin typeface="Times New Roman"/>
                <a:cs typeface="Times New Roman"/>
              </a:rPr>
              <a:t>x</a:t>
            </a:r>
            <a:r>
              <a:rPr dirty="0" baseline="4830" sz="1725" spc="-120" i="1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Symbol"/>
                <a:cs typeface="Symbol"/>
              </a:rPr>
              <a:t></a:t>
            </a:r>
            <a:r>
              <a:rPr dirty="0" baseline="4830" sz="1725" spc="-112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2010</a:t>
            </a:r>
            <a:r>
              <a:rPr dirty="0" baseline="4830" sz="1725" spc="24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=&gt;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f(2) =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 spc="-30">
                <a:latin typeface="Palatino Linotype"/>
                <a:cs typeface="Palatino Linotype"/>
              </a:rPr>
              <a:t>2017</a:t>
            </a:r>
            <a:endParaRPr baseline="4629" sz="1800">
              <a:latin typeface="Palatino Linotype"/>
              <a:cs typeface="Palatino Linotype"/>
            </a:endParaRPr>
          </a:p>
          <a:p>
            <a:pPr marL="2799080">
              <a:lnSpc>
                <a:spcPts val="1070"/>
              </a:lnSpc>
              <a:tabLst>
                <a:tab pos="3196590" algn="l"/>
              </a:tabLst>
            </a:pPr>
            <a:r>
              <a:rPr dirty="0" sz="1150" spc="-50">
                <a:latin typeface="Times New Roman"/>
                <a:cs typeface="Times New Roman"/>
              </a:rPr>
              <a:t>2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marL="25400" marR="17780" indent="104775">
              <a:lnSpc>
                <a:spcPts val="1960"/>
              </a:lnSpc>
              <a:spcBef>
                <a:spcPts val="45"/>
              </a:spcBef>
              <a:buChar char="*"/>
              <a:tabLst>
                <a:tab pos="130175" algn="l"/>
                <a:tab pos="815975" algn="l"/>
              </a:tabLst>
            </a:pPr>
            <a:r>
              <a:rPr dirty="0" sz="1200" b="1">
                <a:latin typeface="Palatino Linotype"/>
                <a:cs typeface="Palatino Linotype"/>
              </a:rPr>
              <a:t>Chú</a:t>
            </a:r>
            <a:r>
              <a:rPr dirty="0" sz="1200" spc="-30" b="1">
                <a:latin typeface="Palatino Linotype"/>
                <a:cs typeface="Palatino Linotype"/>
              </a:rPr>
              <a:t> </a:t>
            </a:r>
            <a:r>
              <a:rPr dirty="0" sz="1200" spc="-25" b="1">
                <a:latin typeface="Palatino Linotype"/>
                <a:cs typeface="Palatino Linotype"/>
              </a:rPr>
              <a:t>ý:</a:t>
            </a:r>
            <a:r>
              <a:rPr dirty="0" sz="1200" b="1">
                <a:latin typeface="Palatino Linotype"/>
                <a:cs typeface="Palatino Linotype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còn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nếu </a:t>
            </a:r>
            <a:r>
              <a:rPr dirty="0" sz="1200">
                <a:latin typeface="Palatino Linotype"/>
                <a:cs typeface="Palatino Linotype"/>
              </a:rPr>
              <a:t>chỉ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2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 phụ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thuộc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tham</a:t>
            </a:r>
            <a:r>
              <a:rPr dirty="0" sz="1200" spc="-25">
                <a:latin typeface="Palatino Linotype"/>
                <a:cs typeface="Palatino Linotype"/>
              </a:rPr>
              <a:t> số.</a:t>
            </a:r>
            <a:endParaRPr sz="1200">
              <a:latin typeface="Palatino Linotype"/>
              <a:cs typeface="Palatino Linotype"/>
            </a:endParaRPr>
          </a:p>
          <a:p>
            <a:pPr marL="130175" indent="-104775">
              <a:lnSpc>
                <a:spcPct val="100000"/>
              </a:lnSpc>
              <a:spcBef>
                <a:spcPts val="530"/>
              </a:spcBef>
              <a:buChar char="*"/>
              <a:tabLst>
                <a:tab pos="130175" algn="l"/>
              </a:tabLst>
            </a:pPr>
            <a:r>
              <a:rPr dirty="0" sz="1200" b="1">
                <a:latin typeface="Palatino Linotype"/>
                <a:cs typeface="Palatino Linotype"/>
              </a:rPr>
              <a:t>Bài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tập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áp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 spc="-10" b="1">
                <a:latin typeface="Palatino Linotype"/>
                <a:cs typeface="Palatino Linotype"/>
              </a:rPr>
              <a:t>dụng: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31" name="object 3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706627" y="4946776"/>
            <a:ext cx="2023745" cy="56896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1.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biết: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2.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biết: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47105" y="4946776"/>
            <a:ext cx="610235" cy="56896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4;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-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1;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99890" y="4946776"/>
            <a:ext cx="544830" cy="56896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795"/>
              </a:spcBef>
            </a:pP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0;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2;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736565" y="4946776"/>
            <a:ext cx="1511300" cy="56896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latin typeface="Palatino Linotype"/>
                <a:cs typeface="Palatino Linotype"/>
              </a:rPr>
              <a:t>f(-</a:t>
            </a:r>
            <a:r>
              <a:rPr dirty="0" sz="1200">
                <a:latin typeface="Palatino Linotype"/>
                <a:cs typeface="Palatino Linotype"/>
              </a:rPr>
              <a:t>1) =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6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965835" algn="l"/>
              </a:tabLst>
            </a:pP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31;</a:t>
            </a:r>
            <a:r>
              <a:rPr dirty="0" sz="1200">
                <a:latin typeface="Palatino Linotype"/>
                <a:cs typeface="Palatino Linotype"/>
              </a:rPr>
              <a:t>	f(2)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47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81227" y="5355154"/>
            <a:ext cx="6168390" cy="7626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38100" marR="30480">
              <a:lnSpc>
                <a:spcPct val="137400"/>
              </a:lnSpc>
              <a:spcBef>
                <a:spcPts val="580"/>
              </a:spcBef>
            </a:pPr>
            <a:r>
              <a:rPr dirty="0" sz="1200" b="1">
                <a:latin typeface="Palatino Linotype"/>
                <a:cs typeface="Palatino Linotype"/>
              </a:rPr>
              <a:t>Câu 3:</a:t>
            </a:r>
            <a:r>
              <a:rPr dirty="0" sz="1200" spc="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thức:</a:t>
            </a:r>
            <a:r>
              <a:rPr dirty="0" sz="1200" spc="40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30" i="1">
                <a:latin typeface="Times New Roman"/>
                <a:cs typeface="Times New Roman"/>
              </a:rPr>
              <a:t> </a:t>
            </a:r>
            <a:r>
              <a:rPr dirty="0" baseline="-3003" sz="2775" spc="-97">
                <a:latin typeface="Symbol"/>
                <a:cs typeface="Symbol"/>
              </a:rPr>
              <a:t></a:t>
            </a:r>
            <a:r>
              <a:rPr dirty="0" sz="1200" spc="-65" i="1">
                <a:latin typeface="Times New Roman"/>
                <a:cs typeface="Times New Roman"/>
              </a:rPr>
              <a:t>x</a:t>
            </a:r>
            <a:r>
              <a:rPr dirty="0" baseline="-3003" sz="2775" spc="-97">
                <a:latin typeface="Symbol"/>
                <a:cs typeface="Symbol"/>
              </a:rPr>
              <a:t></a:t>
            </a:r>
            <a:r>
              <a:rPr dirty="0" baseline="-3003" sz="277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1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bx</a:t>
            </a:r>
            <a:r>
              <a:rPr dirty="0" sz="1200" spc="-5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240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dịnh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biết:</a:t>
            </a:r>
            <a:r>
              <a:rPr dirty="0" sz="1200" spc="39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35" i="1">
                <a:latin typeface="Times New Roman"/>
                <a:cs typeface="Times New Roman"/>
              </a:rPr>
              <a:t> </a:t>
            </a:r>
            <a:r>
              <a:rPr dirty="0" baseline="-3003" sz="2775" spc="-104">
                <a:latin typeface="Symbol"/>
                <a:cs typeface="Symbol"/>
              </a:rPr>
              <a:t></a:t>
            </a:r>
            <a:r>
              <a:rPr dirty="0" sz="1200" spc="-70">
                <a:latin typeface="Symbol"/>
                <a:cs typeface="Symbol"/>
              </a:rPr>
              <a:t></a:t>
            </a:r>
            <a:r>
              <a:rPr dirty="0" sz="1200" spc="-70">
                <a:latin typeface="Times New Roman"/>
                <a:cs typeface="Times New Roman"/>
              </a:rPr>
              <a:t>2</a:t>
            </a:r>
            <a:r>
              <a:rPr dirty="0" baseline="-3003" sz="2775" spc="-104">
                <a:latin typeface="Symbol"/>
                <a:cs typeface="Symbol"/>
              </a:rPr>
              <a:t></a:t>
            </a:r>
            <a:r>
              <a:rPr dirty="0" baseline="-3003" sz="277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40" i="1">
                <a:latin typeface="Times New Roman"/>
                <a:cs typeface="Times New Roman"/>
              </a:rPr>
              <a:t> </a:t>
            </a:r>
            <a:r>
              <a:rPr dirty="0" baseline="-3003" sz="2775" spc="-142">
                <a:latin typeface="Symbol"/>
                <a:cs typeface="Symbol"/>
              </a:rPr>
              <a:t></a:t>
            </a:r>
            <a:r>
              <a:rPr dirty="0" sz="1200" spc="-95">
                <a:latin typeface="Times New Roman"/>
                <a:cs typeface="Times New Roman"/>
              </a:rPr>
              <a:t>2</a:t>
            </a:r>
            <a:r>
              <a:rPr dirty="0" baseline="-3003" sz="2775" spc="-142">
                <a:latin typeface="Symbol"/>
                <a:cs typeface="Symbol"/>
              </a:rPr>
              <a:t></a:t>
            </a:r>
            <a:r>
              <a:rPr dirty="0" baseline="-3003" sz="277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số </a:t>
            </a:r>
            <a:r>
              <a:rPr dirty="0" sz="1200">
                <a:latin typeface="Palatino Linotype"/>
                <a:cs typeface="Palatino Linotype"/>
              </a:rPr>
              <a:t>lớn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vị.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81227" y="6187366"/>
            <a:ext cx="61760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latin typeface="Palatino Linotype"/>
                <a:cs typeface="Palatino Linotype"/>
              </a:rPr>
              <a:t>Câu 4:</a:t>
            </a:r>
            <a:r>
              <a:rPr dirty="0" sz="1200" spc="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hàm số</a:t>
            </a:r>
            <a:r>
              <a:rPr dirty="0" sz="1200" spc="42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30" i="1">
                <a:latin typeface="Times New Roman"/>
                <a:cs typeface="Times New Roman"/>
              </a:rPr>
              <a:t> </a:t>
            </a:r>
            <a:r>
              <a:rPr dirty="0" baseline="-3003" sz="2775" spc="-97">
                <a:latin typeface="Symbol"/>
                <a:cs typeface="Symbol"/>
              </a:rPr>
              <a:t></a:t>
            </a:r>
            <a:r>
              <a:rPr dirty="0" sz="1200" spc="-65" i="1">
                <a:latin typeface="Times New Roman"/>
                <a:cs typeface="Times New Roman"/>
              </a:rPr>
              <a:t>x</a:t>
            </a:r>
            <a:r>
              <a:rPr dirty="0" baseline="-3003" sz="2775" spc="-97">
                <a:latin typeface="Symbol"/>
                <a:cs typeface="Symbol"/>
              </a:rPr>
              <a:t></a:t>
            </a:r>
            <a:r>
              <a:rPr dirty="0" baseline="-3003" sz="277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179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cx</a:t>
            </a:r>
            <a:r>
              <a:rPr dirty="0" sz="1200" spc="-5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</a:t>
            </a:r>
            <a:r>
              <a:rPr dirty="0" sz="1200" spc="270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mãn:</a:t>
            </a:r>
            <a:r>
              <a:rPr dirty="0" sz="1200" spc="400">
                <a:latin typeface="Palatino Linotype"/>
                <a:cs typeface="Palatino Linotype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f</a:t>
            </a:r>
            <a:r>
              <a:rPr dirty="0" baseline="2314" sz="1800" spc="60" i="1">
                <a:latin typeface="Times New Roman"/>
                <a:cs typeface="Times New Roman"/>
              </a:rPr>
              <a:t> </a:t>
            </a:r>
            <a:r>
              <a:rPr dirty="0" baseline="-3003" sz="2775" spc="-150">
                <a:latin typeface="Symbol"/>
                <a:cs typeface="Symbol"/>
              </a:rPr>
              <a:t></a:t>
            </a:r>
            <a:r>
              <a:rPr dirty="0" baseline="2314" sz="1800" spc="-150">
                <a:latin typeface="Symbol"/>
                <a:cs typeface="Symbol"/>
              </a:rPr>
              <a:t></a:t>
            </a:r>
            <a:r>
              <a:rPr dirty="0" baseline="2314" sz="1800" spc="-150">
                <a:latin typeface="Times New Roman"/>
                <a:cs typeface="Times New Roman"/>
              </a:rPr>
              <a:t>1</a:t>
            </a:r>
            <a:r>
              <a:rPr dirty="0" baseline="-3003" sz="2775" spc="-150">
                <a:latin typeface="Symbol"/>
                <a:cs typeface="Symbol"/>
              </a:rPr>
              <a:t></a:t>
            </a:r>
            <a:r>
              <a:rPr dirty="0" baseline="-3003" sz="2775" spc="-262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-3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2,</a:t>
            </a:r>
            <a:r>
              <a:rPr dirty="0" baseline="2314" sz="1800" spc="15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f</a:t>
            </a:r>
            <a:r>
              <a:rPr dirty="0" baseline="2314" sz="1800" spc="60" i="1">
                <a:latin typeface="Times New Roman"/>
                <a:cs typeface="Times New Roman"/>
              </a:rPr>
              <a:t> </a:t>
            </a:r>
            <a:r>
              <a:rPr dirty="0" baseline="-3003" sz="2775" spc="-150">
                <a:latin typeface="Symbol"/>
                <a:cs typeface="Symbol"/>
              </a:rPr>
              <a:t></a:t>
            </a:r>
            <a:r>
              <a:rPr dirty="0" baseline="2314" sz="1800" spc="-150">
                <a:latin typeface="Times New Roman"/>
                <a:cs typeface="Times New Roman"/>
              </a:rPr>
              <a:t>0</a:t>
            </a:r>
            <a:r>
              <a:rPr dirty="0" baseline="-3003" sz="2775" spc="-150">
                <a:latin typeface="Symbol"/>
                <a:cs typeface="Symbol"/>
              </a:rPr>
              <a:t></a:t>
            </a:r>
            <a:r>
              <a:rPr dirty="0" baseline="-3003" sz="2775" spc="-262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-19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1,</a:t>
            </a:r>
            <a:r>
              <a:rPr dirty="0" baseline="2314" sz="1800" spc="15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f</a:t>
            </a:r>
            <a:r>
              <a:rPr dirty="0" baseline="2314" sz="1800" spc="67" i="1">
                <a:latin typeface="Times New Roman"/>
                <a:cs typeface="Times New Roman"/>
              </a:rPr>
              <a:t> </a:t>
            </a:r>
            <a:r>
              <a:rPr dirty="0" baseline="37037" sz="1800">
                <a:latin typeface="Symbol"/>
                <a:cs typeface="Symbol"/>
              </a:rPr>
              <a:t></a:t>
            </a:r>
            <a:r>
              <a:rPr dirty="0" baseline="37037" sz="1800" spc="-97">
                <a:latin typeface="Times New Roman"/>
                <a:cs typeface="Times New Roman"/>
              </a:rPr>
              <a:t> </a:t>
            </a:r>
            <a:r>
              <a:rPr dirty="0" u="sng" baseline="37037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7037" sz="1800" spc="-120">
                <a:latin typeface="Times New Roman"/>
                <a:cs typeface="Times New Roman"/>
              </a:rPr>
              <a:t> </a:t>
            </a:r>
            <a:r>
              <a:rPr dirty="0" baseline="37037" sz="1800">
                <a:latin typeface="Symbol"/>
                <a:cs typeface="Symbol"/>
              </a:rPr>
              <a:t></a:t>
            </a:r>
            <a:r>
              <a:rPr dirty="0" baseline="37037" sz="1800" spc="-3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-52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3,</a:t>
            </a:r>
            <a:r>
              <a:rPr dirty="0" baseline="2314" sz="1800" spc="15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f</a:t>
            </a:r>
            <a:r>
              <a:rPr dirty="0" baseline="2314" sz="1800" spc="75" i="1">
                <a:latin typeface="Times New Roman"/>
                <a:cs typeface="Times New Roman"/>
              </a:rPr>
              <a:t> </a:t>
            </a:r>
            <a:r>
              <a:rPr dirty="0" baseline="-3003" sz="2775" spc="-247">
                <a:latin typeface="Symbol"/>
                <a:cs typeface="Symbol"/>
              </a:rPr>
              <a:t></a:t>
            </a:r>
            <a:r>
              <a:rPr dirty="0" baseline="2314" sz="1800" spc="-247">
                <a:latin typeface="Times New Roman"/>
                <a:cs typeface="Times New Roman"/>
              </a:rPr>
              <a:t>1</a:t>
            </a:r>
            <a:r>
              <a:rPr dirty="0" baseline="-3003" sz="2775" spc="-247">
                <a:latin typeface="Symbol"/>
                <a:cs typeface="Symbol"/>
              </a:rPr>
              <a:t></a:t>
            </a:r>
            <a:r>
              <a:rPr dirty="0" baseline="-3003" sz="2775" spc="-27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-7">
                <a:latin typeface="Times New Roman"/>
                <a:cs typeface="Times New Roman"/>
              </a:rPr>
              <a:t> </a:t>
            </a:r>
            <a:r>
              <a:rPr dirty="0" baseline="2314" sz="1800" spc="-75">
                <a:latin typeface="Times New Roman"/>
                <a:cs typeface="Times New Roman"/>
              </a:rPr>
              <a:t>7</a:t>
            </a:r>
            <a:endParaRPr baseline="2314" sz="18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726801" y="6310153"/>
            <a:ext cx="33210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latin typeface="Symbol"/>
                <a:cs typeface="Symbol"/>
              </a:rPr>
              <a:t>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baseline="-27777" sz="1800">
                <a:latin typeface="Times New Roman"/>
                <a:cs typeface="Times New Roman"/>
              </a:rPr>
              <a:t>2</a:t>
            </a:r>
            <a:r>
              <a:rPr dirty="0" baseline="-27777" sz="1800" spc="-127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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752201" y="6419499"/>
            <a:ext cx="28130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08279" algn="l"/>
              </a:tabLst>
            </a:pPr>
            <a:r>
              <a:rPr dirty="0" sz="1200" spc="-50">
                <a:latin typeface="Symbol"/>
                <a:cs typeface="Symbol"/>
              </a:rPr>
              <a:t>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81227" y="6664832"/>
            <a:ext cx="5974715" cy="294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 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d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5:</a:t>
            </a:r>
            <a:r>
              <a:rPr dirty="0" sz="1200" spc="1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thức: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 spc="-170" i="1">
                <a:latin typeface="Times New Roman"/>
                <a:cs typeface="Times New Roman"/>
              </a:rPr>
              <a:t> </a:t>
            </a:r>
            <a:r>
              <a:rPr dirty="0" baseline="-4629" sz="2700" spc="-82">
                <a:latin typeface="Symbol"/>
                <a:cs typeface="Symbol"/>
              </a:rPr>
              <a:t></a:t>
            </a:r>
            <a:r>
              <a:rPr dirty="0" sz="1200" spc="-55" i="1">
                <a:latin typeface="Times New Roman"/>
                <a:cs typeface="Times New Roman"/>
              </a:rPr>
              <a:t>x</a:t>
            </a:r>
            <a:r>
              <a:rPr dirty="0" baseline="-4629" sz="2700" spc="-82">
                <a:latin typeface="Symbol"/>
                <a:cs typeface="Symbol"/>
              </a:rPr>
              <a:t></a:t>
            </a:r>
            <a:r>
              <a:rPr dirty="0" baseline="-4629" sz="2700" spc="-2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18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cx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</a:t>
            </a:r>
            <a:r>
              <a:rPr dirty="0" sz="1200" spc="245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biết:</a:t>
            </a:r>
            <a:endParaRPr sz="1200">
              <a:latin typeface="Palatino Linotype"/>
              <a:cs typeface="Palatino Linotype"/>
            </a:endParaRPr>
          </a:p>
          <a:p>
            <a:pPr algn="ctr" marL="236854">
              <a:lnSpc>
                <a:spcPct val="100000"/>
              </a:lnSpc>
              <a:spcBef>
                <a:spcPts val="360"/>
              </a:spcBef>
            </a:pP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 spc="-165" i="1">
                <a:latin typeface="Times New Roman"/>
                <a:cs typeface="Times New Roman"/>
              </a:rPr>
              <a:t> </a:t>
            </a:r>
            <a:r>
              <a:rPr dirty="0" baseline="-4629" sz="2700" spc="-135">
                <a:latin typeface="Symbol"/>
                <a:cs typeface="Symbol"/>
              </a:rPr>
              <a:t></a:t>
            </a:r>
            <a:r>
              <a:rPr dirty="0" sz="1200" spc="-90">
                <a:latin typeface="Times New Roman"/>
                <a:cs typeface="Times New Roman"/>
              </a:rPr>
              <a:t>0</a:t>
            </a:r>
            <a:r>
              <a:rPr dirty="0" baseline="-4629" sz="2700" spc="-135">
                <a:latin typeface="Symbol"/>
                <a:cs typeface="Symbol"/>
              </a:rPr>
              <a:t></a:t>
            </a:r>
            <a:r>
              <a:rPr dirty="0" baseline="-4629" sz="2700" spc="-209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2017,</a:t>
            </a:r>
            <a:r>
              <a:rPr dirty="0" sz="1200" spc="-17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 spc="-160" i="1">
                <a:latin typeface="Times New Roman"/>
                <a:cs typeface="Times New Roman"/>
              </a:rPr>
              <a:t> </a:t>
            </a:r>
            <a:r>
              <a:rPr dirty="0" baseline="-4629" sz="2700" spc="-232">
                <a:latin typeface="Symbol"/>
                <a:cs typeface="Symbol"/>
              </a:rPr>
              <a:t></a:t>
            </a:r>
            <a:r>
              <a:rPr dirty="0" sz="1200" spc="-155">
                <a:latin typeface="Times New Roman"/>
                <a:cs typeface="Times New Roman"/>
              </a:rPr>
              <a:t>1</a:t>
            </a:r>
            <a:r>
              <a:rPr dirty="0" baseline="-4629" sz="2700" spc="-232">
                <a:latin typeface="Symbol"/>
                <a:cs typeface="Symbol"/>
              </a:rPr>
              <a:t></a:t>
            </a:r>
            <a:r>
              <a:rPr dirty="0" baseline="-4629" sz="2700" spc="-2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2,</a:t>
            </a:r>
            <a:r>
              <a:rPr dirty="0" sz="1200" spc="-17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 spc="-155" i="1">
                <a:latin typeface="Times New Roman"/>
                <a:cs typeface="Times New Roman"/>
              </a:rPr>
              <a:t> </a:t>
            </a:r>
            <a:r>
              <a:rPr dirty="0" baseline="-4629" sz="2700" spc="-135">
                <a:latin typeface="Symbol"/>
                <a:cs typeface="Symbol"/>
              </a:rPr>
              <a:t></a:t>
            </a:r>
            <a:r>
              <a:rPr dirty="0" sz="1200" spc="-9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1</a:t>
            </a:r>
            <a:r>
              <a:rPr dirty="0" baseline="-4629" sz="2700" spc="-135">
                <a:latin typeface="Symbol"/>
                <a:cs typeface="Symbol"/>
              </a:rPr>
              <a:t></a:t>
            </a:r>
            <a:r>
              <a:rPr dirty="0" baseline="-4629" sz="2700" spc="-2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6,</a:t>
            </a:r>
            <a:r>
              <a:rPr dirty="0" sz="1200" spc="-17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 spc="-160" i="1">
                <a:latin typeface="Times New Roman"/>
                <a:cs typeface="Times New Roman"/>
              </a:rPr>
              <a:t> </a:t>
            </a:r>
            <a:r>
              <a:rPr dirty="0" baseline="-4629" sz="2700" spc="-135">
                <a:latin typeface="Symbol"/>
                <a:cs typeface="Symbol"/>
              </a:rPr>
              <a:t></a:t>
            </a:r>
            <a:r>
              <a:rPr dirty="0" sz="1200" spc="-90">
                <a:latin typeface="Times New Roman"/>
                <a:cs typeface="Times New Roman"/>
              </a:rPr>
              <a:t>2</a:t>
            </a:r>
            <a:r>
              <a:rPr dirty="0" baseline="-4629" sz="2700" spc="-135">
                <a:latin typeface="Symbol"/>
                <a:cs typeface="Symbol"/>
              </a:rPr>
              <a:t></a:t>
            </a:r>
            <a:r>
              <a:rPr dirty="0" baseline="-4629" sz="2700" spc="-2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Symbol"/>
                <a:cs typeface="Symbol"/>
              </a:rPr>
              <a:t></a:t>
            </a:r>
            <a:r>
              <a:rPr dirty="0" sz="1200" spc="-10">
                <a:latin typeface="Times New Roman"/>
                <a:cs typeface="Times New Roman"/>
              </a:rPr>
              <a:t>6033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dirty="0" sz="1200" spc="-15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2:</a:t>
            </a:r>
            <a:r>
              <a:rPr dirty="0" sz="1200" spc="-15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20">
                <a:latin typeface="Palatino Linotype"/>
                <a:cs typeface="Palatino Linotype"/>
              </a:rPr>
              <a:t> khác</a:t>
            </a:r>
            <a:endParaRPr sz="1200">
              <a:latin typeface="Palatino Linotype"/>
              <a:cs typeface="Palatino Linotype"/>
            </a:endParaRPr>
          </a:p>
          <a:p>
            <a:pPr marL="38100" marR="57785">
              <a:lnSpc>
                <a:spcPct val="135800"/>
              </a:lnSpc>
              <a:spcBef>
                <a:spcPts val="18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3.</a:t>
            </a:r>
            <a:r>
              <a:rPr dirty="0" sz="1200" spc="27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nếu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bằng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nếu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x-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dư </a:t>
            </a:r>
            <a:r>
              <a:rPr dirty="0" sz="1200">
                <a:latin typeface="Palatino Linotype"/>
                <a:cs typeface="Palatino Linotype"/>
              </a:rPr>
              <a:t>bằng</a:t>
            </a:r>
            <a:r>
              <a:rPr dirty="0" sz="1200" spc="-25">
                <a:latin typeface="Palatino Linotype"/>
                <a:cs typeface="Palatino Linotype"/>
              </a:rPr>
              <a:t> 14.</a:t>
            </a:r>
            <a:endParaRPr sz="1200">
              <a:latin typeface="Palatino Linotype"/>
              <a:cs typeface="Palatino Linotype"/>
            </a:endParaRPr>
          </a:p>
          <a:p>
            <a:pPr marL="3810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–3)</a:t>
            </a:r>
            <a:endParaRPr sz="1200">
              <a:latin typeface="Palatino Linotype"/>
              <a:cs typeface="Palatino Linotype"/>
            </a:endParaRPr>
          </a:p>
          <a:p>
            <a:pPr marL="2833370">
              <a:lnSpc>
                <a:spcPct val="100000"/>
              </a:lnSpc>
              <a:spcBef>
                <a:spcPts val="72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</a:t>
            </a:r>
            <a:endParaRPr sz="1200">
              <a:latin typeface="Palatino Linotype"/>
              <a:cs typeface="Palatino Linotype"/>
            </a:endParaRPr>
          </a:p>
          <a:p>
            <a:pPr marL="38100" marR="30480">
              <a:lnSpc>
                <a:spcPct val="135000"/>
              </a:lnSpc>
              <a:spcBef>
                <a:spcPts val="180"/>
              </a:spcBef>
            </a:pPr>
            <a:r>
              <a:rPr dirty="0" sz="1200" b="1" i="1">
                <a:latin typeface="Palatino Linotype"/>
                <a:cs typeface="Palatino Linotype"/>
              </a:rPr>
              <a:t>Cách</a:t>
            </a:r>
            <a:r>
              <a:rPr dirty="0" sz="1200" spc="-10" b="1" i="1">
                <a:latin typeface="Palatino Linotype"/>
                <a:cs typeface="Palatino Linotype"/>
              </a:rPr>
              <a:t> </a:t>
            </a:r>
            <a:r>
              <a:rPr dirty="0" sz="1200" b="1" i="1">
                <a:latin typeface="Palatino Linotype"/>
                <a:cs typeface="Palatino Linotype"/>
              </a:rPr>
              <a:t>1:</a:t>
            </a:r>
            <a:r>
              <a:rPr dirty="0" sz="1200" spc="135" b="1" i="1"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Gọi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 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và </a:t>
            </a:r>
            <a:r>
              <a:rPr dirty="0" sz="1200" spc="-20">
                <a:latin typeface="Palatino Linotype"/>
                <a:cs typeface="Palatino Linotype"/>
              </a:rPr>
              <a:t>B(x)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87932" y="624077"/>
            <a:ext cx="2104390" cy="5715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1).A(x) 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mọi</a:t>
            </a:r>
            <a:r>
              <a:rPr dirty="0" sz="1200" spc="26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3).B(x)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14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vỡi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mọi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68671" y="624077"/>
            <a:ext cx="229235" cy="5715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810"/>
              </a:spcBef>
            </a:pPr>
            <a:r>
              <a:rPr dirty="0" sz="1200" spc="-25"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spc="-25"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6627" y="1196085"/>
            <a:ext cx="6006465" cy="1334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0">
              <a:lnSpc>
                <a:spcPct val="135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Gọi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R(x).Vì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R(x)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2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2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 hơn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dạng</a:t>
            </a:r>
            <a:r>
              <a:rPr dirty="0" sz="1200" spc="2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b</a:t>
            </a:r>
            <a:endParaRPr sz="1200">
              <a:latin typeface="Palatino Linotype"/>
              <a:cs typeface="Palatino Linotype"/>
            </a:endParaRPr>
          </a:p>
          <a:p>
            <a:pPr marL="12700" marR="2247265">
              <a:lnSpc>
                <a:spcPts val="2150"/>
              </a:lnSpc>
              <a:spcBef>
                <a:spcPts val="175"/>
              </a:spcBef>
              <a:tabLst>
                <a:tab pos="3573145" algn="l"/>
              </a:tabLst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3).C(x)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+ax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mọi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-25">
                <a:latin typeface="Palatino Linotype"/>
                <a:cs typeface="Palatino Linotype"/>
              </a:rPr>
              <a:t>(3) </a:t>
            </a:r>
            <a:r>
              <a:rPr dirty="0" sz="1200">
                <a:latin typeface="Palatino Linotype"/>
                <a:cs typeface="Palatino Linotype"/>
              </a:rPr>
              <a:t>Thay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(3)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b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200">
                <a:latin typeface="Palatino Linotype"/>
                <a:cs typeface="Palatino Linotype"/>
              </a:rPr>
              <a:t>Thay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2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(3)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=14;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b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25073" y="2740412"/>
            <a:ext cx="108204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2505" algn="l"/>
              </a:tabLst>
            </a:pPr>
            <a:r>
              <a:rPr dirty="0" sz="1200" spc="-50">
                <a:latin typeface="Symbol"/>
                <a:cs typeface="Symbol"/>
              </a:rPr>
              <a:t>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99673" y="2831312"/>
            <a:ext cx="152781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17905" algn="l"/>
              </a:tabLst>
            </a:pPr>
            <a:r>
              <a:rPr dirty="0" baseline="-18518" sz="1800" spc="-30">
                <a:latin typeface="Symbol"/>
                <a:cs typeface="Symbol"/>
              </a:rPr>
              <a:t></a:t>
            </a:r>
            <a:r>
              <a:rPr dirty="0" sz="1200" spc="-20">
                <a:latin typeface="Times New Roman"/>
                <a:cs typeface="Times New Roman"/>
              </a:rPr>
              <a:t>3</a:t>
            </a:r>
            <a:r>
              <a:rPr dirty="0" sz="1200" spc="-20" i="1">
                <a:latin typeface="Times New Roman"/>
                <a:cs typeface="Times New Roman"/>
              </a:rPr>
              <a:t>a</a:t>
            </a:r>
            <a:r>
              <a:rPr dirty="0" sz="1200" spc="-5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 spc="1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baseline="-13888" sz="1800">
                <a:latin typeface="Symbol"/>
                <a:cs typeface="Symbol"/>
              </a:rPr>
              <a:t>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97085" y="2612845"/>
            <a:ext cx="1697989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baseline="-37037" sz="1800">
                <a:latin typeface="Symbol"/>
                <a:cs typeface="Symbol"/>
              </a:rPr>
              <a:t></a:t>
            </a:r>
            <a:r>
              <a:rPr dirty="0" baseline="-37037" sz="1800" spc="-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</a:t>
            </a:r>
            <a:r>
              <a:rPr dirty="0" baseline="4629" sz="1800" spc="30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6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3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1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4</a:t>
            </a:r>
            <a:r>
              <a:rPr dirty="0" baseline="4629" sz="1800" spc="150">
                <a:latin typeface="Times New Roman"/>
                <a:cs typeface="Times New Roman"/>
              </a:rPr>
              <a:t>  </a:t>
            </a:r>
            <a:r>
              <a:rPr dirty="0" baseline="-37037" sz="1800">
                <a:latin typeface="Symbol"/>
                <a:cs typeface="Symbol"/>
              </a:rPr>
              <a:t></a:t>
            </a:r>
            <a:r>
              <a:rPr dirty="0" baseline="-37037" sz="1800" spc="4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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44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52">
                <a:latin typeface="Times New Roman"/>
                <a:cs typeface="Times New Roman"/>
              </a:rPr>
              <a:t> </a:t>
            </a:r>
            <a:r>
              <a:rPr dirty="0" baseline="4629" sz="1800" spc="-75">
                <a:latin typeface="Times New Roman"/>
                <a:cs typeface="Times New Roman"/>
              </a:rPr>
              <a:t>5</a:t>
            </a:r>
            <a:endParaRPr baseline="4629" sz="1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6627" y="3057271"/>
            <a:ext cx="4030345" cy="842644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b="1" i="1">
                <a:latin typeface="Palatino Linotype"/>
                <a:cs typeface="Palatino Linotype"/>
              </a:rPr>
              <a:t>Cách</a:t>
            </a:r>
            <a:r>
              <a:rPr dirty="0" sz="1200" spc="-20" b="1" i="1">
                <a:latin typeface="Palatino Linotype"/>
                <a:cs typeface="Palatino Linotype"/>
              </a:rPr>
              <a:t> </a:t>
            </a:r>
            <a:r>
              <a:rPr dirty="0" sz="1200" spc="-25" b="1" i="1">
                <a:latin typeface="Palatino Linotype"/>
                <a:cs typeface="Palatino Linotype"/>
              </a:rPr>
              <a:t>2:</a:t>
            </a:r>
            <a:endParaRPr sz="1200">
              <a:latin typeface="Palatino Linotype"/>
              <a:cs typeface="Palatino Linotype"/>
            </a:endParaRPr>
          </a:p>
          <a:p>
            <a:pPr marL="8128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1).A(x)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4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49832" y="3872611"/>
            <a:ext cx="3178175" cy="8426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55244" indent="-457200">
              <a:lnSpc>
                <a:spcPct val="149200"/>
              </a:lnSpc>
              <a:spcBef>
                <a:spcPts val="100"/>
              </a:spcBef>
              <a:tabLst>
                <a:tab pos="490855" algn="l"/>
              </a:tabLst>
            </a:pPr>
            <a:r>
              <a:rPr dirty="0" sz="1200" spc="-25">
                <a:latin typeface="Palatino Linotype"/>
                <a:cs typeface="Palatino Linotype"/>
              </a:rPr>
              <a:t>nên</a:t>
            </a:r>
            <a:r>
              <a:rPr dirty="0" sz="1200">
                <a:latin typeface="Palatino Linotype"/>
                <a:cs typeface="Palatino Linotype"/>
              </a:rPr>
              <a:t>		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3).f(x)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1).A(x)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3)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3).B(x)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14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490855" algn="l"/>
              </a:tabLst>
            </a:pPr>
            <a:r>
              <a:rPr dirty="0" sz="1200" spc="-25">
                <a:latin typeface="Palatino Linotype"/>
                <a:cs typeface="Palatino Linotype"/>
              </a:rPr>
              <a:t>nên</a:t>
            </a:r>
            <a:r>
              <a:rPr dirty="0" sz="1200">
                <a:latin typeface="Palatino Linotype"/>
                <a:cs typeface="Palatino Linotype"/>
              </a:rPr>
              <a:t>	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1).f(x)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1).B(x)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14(x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685155" y="3962527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659247" y="4506594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6627" y="4689474"/>
            <a:ext cx="4474210" cy="842644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Palatino Linotype"/>
                <a:cs typeface="Palatino Linotype"/>
              </a:rPr>
              <a:t>Lấy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được:</a:t>
            </a:r>
            <a:endParaRPr sz="1200">
              <a:latin typeface="Palatino Linotype"/>
              <a:cs typeface="Palatino Linotype"/>
            </a:endParaRPr>
          </a:p>
          <a:p>
            <a:pPr marL="12700" marR="5080">
              <a:lnSpc>
                <a:spcPct val="148500"/>
              </a:lnSpc>
              <a:spcBef>
                <a:spcPts val="10"/>
              </a:spcBef>
            </a:pPr>
            <a:r>
              <a:rPr dirty="0" sz="1200">
                <a:latin typeface="Palatino Linotype"/>
                <a:cs typeface="Palatino Linotype"/>
              </a:rPr>
              <a:t>[(x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].f(x)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[A(x)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B(x)]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14(x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3)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2f(x)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3)[A(x)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B(x)]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2518059" y="5801680"/>
            <a:ext cx="738505" cy="0"/>
          </a:xfrm>
          <a:custGeom>
            <a:avLst/>
            <a:gdLst/>
            <a:ahLst/>
            <a:cxnLst/>
            <a:rect l="l" t="t" r="r" b="b"/>
            <a:pathLst>
              <a:path w="738504" h="0">
                <a:moveTo>
                  <a:pt x="0" y="0"/>
                </a:moveTo>
                <a:lnTo>
                  <a:pt x="738102" y="0"/>
                </a:lnTo>
              </a:path>
            </a:pathLst>
          </a:custGeom>
          <a:ln w="6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43311" y="5667677"/>
            <a:ext cx="27597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222" sz="1875" spc="-67">
                <a:latin typeface="Symbol"/>
                <a:cs typeface="Symbol"/>
              </a:rPr>
              <a:t></a:t>
            </a:r>
            <a:r>
              <a:rPr dirty="0" baseline="2222" sz="1875" spc="-25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3).</a:t>
            </a:r>
            <a:r>
              <a:rPr dirty="0" sz="1200" spc="85">
                <a:latin typeface="Palatino Linotype"/>
                <a:cs typeface="Palatino Linotype"/>
              </a:rPr>
              <a:t> </a:t>
            </a:r>
            <a:r>
              <a:rPr dirty="0" baseline="36231" sz="1725" i="1">
                <a:latin typeface="Times New Roman"/>
                <a:cs typeface="Times New Roman"/>
              </a:rPr>
              <a:t>A</a:t>
            </a:r>
            <a:r>
              <a:rPr dirty="0" baseline="36231" sz="1725">
                <a:latin typeface="Times New Roman"/>
                <a:cs typeface="Times New Roman"/>
              </a:rPr>
              <a:t>(</a:t>
            </a:r>
            <a:r>
              <a:rPr dirty="0" baseline="36231" sz="1725" i="1">
                <a:latin typeface="Times New Roman"/>
                <a:cs typeface="Times New Roman"/>
              </a:rPr>
              <a:t>x</a:t>
            </a:r>
            <a:r>
              <a:rPr dirty="0" baseline="36231" sz="1725">
                <a:latin typeface="Times New Roman"/>
                <a:cs typeface="Times New Roman"/>
              </a:rPr>
              <a:t>)</a:t>
            </a:r>
            <a:r>
              <a:rPr dirty="0" baseline="36231" sz="1725" spc="-82">
                <a:latin typeface="Times New Roman"/>
                <a:cs typeface="Times New Roman"/>
              </a:rPr>
              <a:t> </a:t>
            </a:r>
            <a:r>
              <a:rPr dirty="0" baseline="36231" sz="1725" spc="75">
                <a:latin typeface="Symbol"/>
                <a:cs typeface="Symbol"/>
              </a:rPr>
              <a:t></a:t>
            </a:r>
            <a:r>
              <a:rPr dirty="0" baseline="36231" sz="1725" spc="-22">
                <a:latin typeface="Times New Roman"/>
                <a:cs typeface="Times New Roman"/>
              </a:rPr>
              <a:t> </a:t>
            </a:r>
            <a:r>
              <a:rPr dirty="0" baseline="36231" sz="1725" spc="82" i="1">
                <a:latin typeface="Times New Roman"/>
                <a:cs typeface="Times New Roman"/>
              </a:rPr>
              <a:t>B</a:t>
            </a:r>
            <a:r>
              <a:rPr dirty="0" baseline="36231" sz="1725" spc="82">
                <a:latin typeface="Times New Roman"/>
                <a:cs typeface="Times New Roman"/>
              </a:rPr>
              <a:t>(</a:t>
            </a:r>
            <a:r>
              <a:rPr dirty="0" baseline="36231" sz="1725" spc="82" i="1">
                <a:latin typeface="Times New Roman"/>
                <a:cs typeface="Times New Roman"/>
              </a:rPr>
              <a:t>x</a:t>
            </a:r>
            <a:r>
              <a:rPr dirty="0" baseline="36231" sz="1725" spc="82">
                <a:latin typeface="Times New Roman"/>
                <a:cs typeface="Times New Roman"/>
              </a:rPr>
              <a:t>)</a:t>
            </a:r>
            <a:r>
              <a:rPr dirty="0" baseline="36231" sz="1725" spc="75">
                <a:latin typeface="Times New Roman"/>
                <a:cs typeface="Times New Roman"/>
              </a:rPr>
              <a:t> </a:t>
            </a:r>
            <a:r>
              <a:rPr dirty="0" sz="1150" spc="50">
                <a:latin typeface="Symbol"/>
                <a:cs typeface="Symbol"/>
              </a:rPr>
              <a:t>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Times New Roman"/>
                <a:cs typeface="Times New Roman"/>
              </a:rPr>
              <a:t>5</a:t>
            </a:r>
            <a:r>
              <a:rPr dirty="0" sz="1150" spc="55" i="1">
                <a:latin typeface="Times New Roman"/>
                <a:cs typeface="Times New Roman"/>
              </a:rPr>
              <a:t>x</a:t>
            </a:r>
            <a:r>
              <a:rPr dirty="0" sz="1150" spc="-40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</a:t>
            </a:r>
            <a:r>
              <a:rPr dirty="0" sz="1150" spc="65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681227" y="5717167"/>
            <a:ext cx="6198235" cy="133604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algn="ctr" marR="1771650">
              <a:lnSpc>
                <a:spcPct val="100000"/>
              </a:lnSpc>
              <a:spcBef>
                <a:spcPts val="740"/>
              </a:spcBef>
            </a:pP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thấy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bé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5x 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38100" marR="30480">
              <a:lnSpc>
                <a:spcPct val="135800"/>
              </a:lnSpc>
              <a:spcBef>
                <a:spcPts val="18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3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4.</a:t>
            </a:r>
            <a:r>
              <a:rPr dirty="0" sz="1200" spc="37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2x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3.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khi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1)</a:t>
            </a:r>
            <a:endParaRPr sz="1200">
              <a:latin typeface="Palatino Linotype"/>
              <a:cs typeface="Palatino Linotype"/>
            </a:endParaRPr>
          </a:p>
          <a:p>
            <a:pPr marL="2833370">
              <a:lnSpc>
                <a:spcPct val="100000"/>
              </a:lnSpc>
              <a:spcBef>
                <a:spcPts val="71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1227" y="7027164"/>
            <a:ext cx="2777490" cy="84201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lý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0">
                <a:latin typeface="Palatino Linotype"/>
                <a:cs typeface="Palatino Linotype"/>
              </a:rPr>
              <a:t> f(-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4</a:t>
            </a:r>
            <a:endParaRPr sz="1200">
              <a:latin typeface="Palatino Linotype"/>
              <a:cs typeface="Palatino Linotype"/>
            </a:endParaRPr>
          </a:p>
          <a:p>
            <a:pPr marL="38100" marR="30480">
              <a:lnSpc>
                <a:spcPts val="2150"/>
              </a:lnSpc>
              <a:spcBef>
                <a:spcPts val="90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chia(x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5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dạng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c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896842" y="7115936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576711" y="7925017"/>
            <a:ext cx="263080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50" spc="-45">
                <a:latin typeface="Symbol"/>
                <a:cs typeface="Symbol"/>
              </a:rPr>
              <a:t></a:t>
            </a:r>
            <a:r>
              <a:rPr dirty="0" sz="1250" spc="-1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+ 1)(x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-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+ax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+c</a:t>
            </a:r>
            <a:endParaRPr sz="1200">
              <a:latin typeface="Palatino Linotype"/>
              <a:cs typeface="Palatino Linotype"/>
            </a:endParaRPr>
          </a:p>
        </p:txBody>
      </p:sp>
      <p:graphicFrame>
        <p:nvGraphicFramePr>
          <p:cNvPr id="24" name="object 24" descr=""/>
          <p:cNvGraphicFramePr>
            <a:graphicFrameLocks noGrp="1"/>
          </p:cNvGraphicFramePr>
          <p:nvPr/>
        </p:nvGraphicFramePr>
        <p:xfrm>
          <a:off x="687577" y="8258006"/>
          <a:ext cx="4471670" cy="970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0495"/>
                <a:gridCol w="1285875"/>
                <a:gridCol w="419100"/>
              </a:tblGrid>
              <a:tr h="212725">
                <a:tc>
                  <a:txBody>
                    <a:bodyPr/>
                    <a:lstStyle/>
                    <a:p>
                      <a:pPr marL="69850">
                        <a:lnSpc>
                          <a:spcPts val="1120"/>
                        </a:lnSpc>
                      </a:pPr>
                      <a:r>
                        <a:rPr dirty="0" sz="1200">
                          <a:latin typeface="Palatino Linotype"/>
                          <a:cs typeface="Palatino Linotype"/>
                        </a:rPr>
                        <a:t>=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[(x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+1).</a:t>
                      </a:r>
                      <a:r>
                        <a:rPr dirty="0" sz="1200" spc="-1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q(x)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a](x</a:t>
                      </a:r>
                      <a:r>
                        <a:rPr dirty="0" baseline="27777" sz="1050">
                          <a:latin typeface="Palatino Linotype"/>
                          <a:cs typeface="Palatino Linotype"/>
                        </a:rPr>
                        <a:t>2</a:t>
                      </a:r>
                      <a:r>
                        <a:rPr dirty="0" baseline="27777" sz="1050" spc="179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+1)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bx</a:t>
                      </a:r>
                      <a:r>
                        <a:rPr dirty="0" sz="1200" spc="28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–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 spc="-50">
                          <a:latin typeface="Palatino Linotype"/>
                          <a:cs typeface="Palatino Linotype"/>
                        </a:rPr>
                        <a:t>a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1120"/>
                        </a:lnSpc>
                      </a:pPr>
                      <a:r>
                        <a:rPr dirty="0" sz="1200" spc="-25">
                          <a:latin typeface="Palatino Linotype"/>
                          <a:cs typeface="Palatino Linotype"/>
                        </a:rPr>
                        <a:t>(2)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200">
                          <a:latin typeface="Palatino Linotype"/>
                          <a:cs typeface="Palatino Linotype"/>
                        </a:rPr>
                        <a:t>mà</a:t>
                      </a:r>
                      <a:r>
                        <a:rPr dirty="0" sz="1200" spc="-1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f(x)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chia</a:t>
                      </a:r>
                      <a:r>
                        <a:rPr dirty="0" sz="1200" spc="-1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cho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x</a:t>
                      </a:r>
                      <a:r>
                        <a:rPr dirty="0" baseline="27777" sz="1050">
                          <a:latin typeface="Palatino Linotype"/>
                          <a:cs typeface="Palatino Linotype"/>
                        </a:rPr>
                        <a:t>2</a:t>
                      </a:r>
                      <a:r>
                        <a:rPr dirty="0" baseline="27777" sz="1050" spc="172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</a:t>
                      </a:r>
                      <a:r>
                        <a:rPr dirty="0" sz="1200" spc="-1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1 dư</a:t>
                      </a:r>
                      <a:r>
                        <a:rPr dirty="0" sz="1200" spc="-1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2x</a:t>
                      </a:r>
                      <a:r>
                        <a:rPr dirty="0" sz="1200" spc="-1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 spc="-50">
                          <a:latin typeface="Palatino Linotype"/>
                          <a:cs typeface="Palatino Linotype"/>
                        </a:rPr>
                        <a:t>3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algn="ctr" marR="208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200" spc="-25">
                          <a:latin typeface="Palatino Linotype"/>
                          <a:cs typeface="Palatino Linotype"/>
                        </a:rPr>
                        <a:t>(3)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86409">
                <a:tc>
                  <a:txBody>
                    <a:bodyPr/>
                    <a:lstStyle/>
                    <a:p>
                      <a:pPr algn="r" marR="254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200">
                          <a:latin typeface="Palatino Linotype"/>
                          <a:cs typeface="Palatino Linotype"/>
                        </a:rPr>
                        <a:t>Từ</a:t>
                      </a:r>
                      <a:r>
                        <a:rPr dirty="0" sz="1200" spc="28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(1),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(2),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(3)</a:t>
                      </a:r>
                      <a:r>
                        <a:rPr dirty="0" sz="1200" spc="28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ta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có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b =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2</a:t>
                      </a:r>
                      <a:r>
                        <a:rPr dirty="0" sz="1200" spc="140"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(4)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;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–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=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 spc="-50">
                          <a:latin typeface="Palatino Linotype"/>
                          <a:cs typeface="Palatino Linotype"/>
                        </a:rPr>
                        <a:t>3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  <a:p>
                      <a:pPr algn="r" marR="73025">
                        <a:lnSpc>
                          <a:spcPct val="100000"/>
                        </a:lnSpc>
                        <a:spcBef>
                          <a:spcPts val="710"/>
                        </a:spcBef>
                        <a:tabLst>
                          <a:tab pos="563245" algn="l"/>
                          <a:tab pos="1221740" algn="l"/>
                          <a:tab pos="1702435" algn="l"/>
                        </a:tabLst>
                      </a:pPr>
                      <a:r>
                        <a:rPr dirty="0" sz="1200" spc="-25">
                          <a:latin typeface="Palatino Linotype"/>
                          <a:cs typeface="Palatino Linotype"/>
                        </a:rPr>
                        <a:t>Mà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	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f(-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1)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=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 spc="-50">
                          <a:latin typeface="Palatino Linotype"/>
                          <a:cs typeface="Palatino Linotype"/>
                        </a:rPr>
                        <a:t>4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	</a:t>
                      </a:r>
                      <a:r>
                        <a:rPr dirty="0" sz="1200" spc="-25">
                          <a:latin typeface="Palatino Linotype"/>
                          <a:cs typeface="Palatino Linotype"/>
                        </a:rPr>
                        <a:t>nên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	a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– b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+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=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 spc="-50">
                          <a:latin typeface="Palatino Linotype"/>
                          <a:cs typeface="Palatino Linotype"/>
                        </a:rPr>
                        <a:t>4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200" spc="-25">
                          <a:latin typeface="Palatino Linotype"/>
                          <a:cs typeface="Palatino Linotype"/>
                        </a:rPr>
                        <a:t>(5)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200">
                          <a:latin typeface="Palatino Linotype"/>
                          <a:cs typeface="Palatino Linotype"/>
                        </a:rPr>
                        <a:t>hay</a:t>
                      </a:r>
                      <a:r>
                        <a:rPr dirty="0" sz="1200" spc="-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dirty="0" sz="1200" spc="1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–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2 +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>
                          <a:latin typeface="Palatino Linotype"/>
                          <a:cs typeface="Palatino Linotype"/>
                        </a:rPr>
                        <a:t>=</a:t>
                      </a:r>
                      <a:r>
                        <a:rPr dirty="0" sz="1200" spc="-5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200" spc="-50">
                          <a:latin typeface="Palatino Linotype"/>
                          <a:cs typeface="Palatino Linotype"/>
                        </a:rPr>
                        <a:t>4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8915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Palatino Linotype"/>
                          <a:cs typeface="Palatino Linotype"/>
                        </a:rPr>
                        <a:t>(6)</a:t>
                      </a:r>
                      <a:endParaRPr sz="12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15570"/>
                </a:tc>
              </a:tr>
            </a:tbl>
          </a:graphicData>
        </a:graphic>
      </p:graphicFrame>
      <p:sp>
        <p:nvSpPr>
          <p:cNvPr id="25" name="object 25" descr=""/>
          <p:cNvSpPr txBox="1"/>
          <p:nvPr/>
        </p:nvSpPr>
        <p:spPr>
          <a:xfrm>
            <a:off x="668527" y="9370017"/>
            <a:ext cx="2225675" cy="326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21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(5)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(6) suy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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u="sng" baseline="36231" sz="1725" spc="-3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36231" sz="17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baseline="36231" sz="1725" spc="-157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,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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u="sng" baseline="36231" sz="1725" spc="-3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36231" sz="1725" spc="-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</a:t>
            </a:r>
            <a:endParaRPr baseline="36231" sz="1725">
              <a:latin typeface="Times New Roman"/>
              <a:cs typeface="Times New Roman"/>
            </a:endParaRPr>
          </a:p>
          <a:p>
            <a:pPr algn="r" marR="43815">
              <a:lnSpc>
                <a:spcPts val="1150"/>
              </a:lnSpc>
              <a:tabLst>
                <a:tab pos="434975" algn="l"/>
              </a:tabLst>
            </a:pPr>
            <a:r>
              <a:rPr dirty="0" sz="1150" spc="-50">
                <a:latin typeface="Times New Roman"/>
                <a:cs typeface="Times New Roman"/>
              </a:rPr>
              <a:t>2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167130" y="636904"/>
            <a:ext cx="6233160" cy="287020"/>
            <a:chOff x="1167130" y="636904"/>
            <a:chExt cx="6233160" cy="287020"/>
          </a:xfrm>
        </p:grpSpPr>
        <p:sp>
          <p:nvSpPr>
            <p:cNvPr id="7" name="object 7" descr=""/>
            <p:cNvSpPr/>
            <p:nvPr/>
          </p:nvSpPr>
          <p:spPr>
            <a:xfrm>
              <a:off x="1170305" y="640079"/>
              <a:ext cx="6226810" cy="0"/>
            </a:xfrm>
            <a:custGeom>
              <a:avLst/>
              <a:gdLst/>
              <a:ahLst/>
              <a:cxnLst/>
              <a:rect l="l" t="t" r="r" b="b"/>
              <a:pathLst>
                <a:path w="6226809" h="0">
                  <a:moveTo>
                    <a:pt x="0" y="0"/>
                  </a:moveTo>
                  <a:lnTo>
                    <a:pt x="6226810" y="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500594" y="920130"/>
              <a:ext cx="96520" cy="0"/>
            </a:xfrm>
            <a:custGeom>
              <a:avLst/>
              <a:gdLst/>
              <a:ahLst/>
              <a:cxnLst/>
              <a:rect l="l" t="t" r="r" b="b"/>
              <a:pathLst>
                <a:path w="96519" h="0">
                  <a:moveTo>
                    <a:pt x="0" y="0"/>
                  </a:moveTo>
                  <a:lnTo>
                    <a:pt x="95908" y="0"/>
                  </a:lnTo>
                </a:path>
              </a:pathLst>
            </a:custGeom>
            <a:ln w="65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498616" y="912194"/>
            <a:ext cx="101600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98616" y="698483"/>
            <a:ext cx="101600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1227" y="790447"/>
            <a:ext cx="2519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950720" algn="l"/>
              </a:tabLst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20">
                <a:latin typeface="Palatino Linotype"/>
                <a:cs typeface="Palatino Linotype"/>
              </a:rPr>
              <a:t> tìm:</a:t>
            </a:r>
            <a:r>
              <a:rPr dirty="0" sz="1200">
                <a:latin typeface="Palatino Linotype"/>
                <a:cs typeface="Palatino Linotype"/>
              </a:rPr>
              <a:t>	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-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+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226294" y="920130"/>
            <a:ext cx="95885" cy="0"/>
          </a:xfrm>
          <a:custGeom>
            <a:avLst/>
            <a:gdLst/>
            <a:ahLst/>
            <a:cxnLst/>
            <a:rect l="l" t="t" r="r" b="b"/>
            <a:pathLst>
              <a:path w="95885" h="0">
                <a:moveTo>
                  <a:pt x="0" y="0"/>
                </a:moveTo>
                <a:lnTo>
                  <a:pt x="95527" y="0"/>
                </a:lnTo>
              </a:path>
            </a:pathLst>
          </a:custGeom>
          <a:ln w="65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221900" y="666215"/>
            <a:ext cx="103505" cy="45339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00" spc="-5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240"/>
              </a:spcBef>
            </a:pP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19327" y="1175257"/>
            <a:ext cx="584200" cy="205740"/>
          </a:xfrm>
          <a:custGeom>
            <a:avLst/>
            <a:gdLst/>
            <a:ahLst/>
            <a:cxnLst/>
            <a:rect l="l" t="t" r="r" b="b"/>
            <a:pathLst>
              <a:path w="584200" h="205740">
                <a:moveTo>
                  <a:pt x="583996" y="0"/>
                </a:moveTo>
                <a:lnTo>
                  <a:pt x="0" y="0"/>
                </a:lnTo>
                <a:lnTo>
                  <a:pt x="0" y="205740"/>
                </a:lnTo>
                <a:lnTo>
                  <a:pt x="583996" y="205740"/>
                </a:lnTo>
                <a:lnTo>
                  <a:pt x="5839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06627" y="1170177"/>
            <a:ext cx="571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5.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1455674" y="1078736"/>
            <a:ext cx="3678554" cy="57404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7</a:t>
            </a:r>
            <a:r>
              <a:rPr dirty="0" baseline="27777" sz="1050" spc="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5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-7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–1</a:t>
            </a:r>
            <a:endParaRPr sz="1200">
              <a:latin typeface="Palatino Linotype"/>
              <a:cs typeface="Palatino Linotype"/>
            </a:endParaRPr>
          </a:p>
          <a:p>
            <a:pPr marL="2058670">
              <a:lnSpc>
                <a:spcPct val="100000"/>
              </a:lnSpc>
              <a:spcBef>
                <a:spcPts val="72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1227" y="1628901"/>
            <a:ext cx="6076315" cy="10864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dirty="0" sz="1200" spc="-10" b="1" i="1">
                <a:latin typeface="Palatino Linotype"/>
                <a:cs typeface="Palatino Linotype"/>
              </a:rPr>
              <a:t>Cách1: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Tách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bị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thành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những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chia.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thấy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n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 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 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mọi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 nhiên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2n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 hết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6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1,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dirty="0" sz="1200">
                <a:latin typeface="Palatino Linotype"/>
                <a:cs typeface="Palatino Linotype"/>
              </a:rPr>
              <a:t>...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06627" y="2779521"/>
            <a:ext cx="421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06627" y="3595242"/>
            <a:ext cx="5207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latin typeface="Palatino Linotype"/>
                <a:cs typeface="Palatino Linotype"/>
              </a:rPr>
              <a:t>Cách</a:t>
            </a:r>
            <a:r>
              <a:rPr dirty="0" sz="1200" spc="-20" b="1" i="1">
                <a:latin typeface="Palatino Linotype"/>
                <a:cs typeface="Palatino Linotype"/>
              </a:rPr>
              <a:t> </a:t>
            </a:r>
            <a:r>
              <a:rPr dirty="0" sz="1200" spc="-25" b="1" i="1">
                <a:latin typeface="Palatino Linotype"/>
                <a:cs typeface="Palatino Linotype"/>
              </a:rPr>
              <a:t>2: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06627" y="4139310"/>
            <a:ext cx="421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91082" y="2690748"/>
            <a:ext cx="4365625" cy="165735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8905">
              <a:lnSpc>
                <a:spcPct val="100000"/>
              </a:lnSpc>
              <a:spcBef>
                <a:spcPts val="800"/>
              </a:spcBef>
            </a:pP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7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5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 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7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 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5</a:t>
            </a:r>
            <a:r>
              <a:rPr dirty="0" baseline="27777" sz="1050" spc="18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 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marL="11049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x(x</a:t>
            </a:r>
            <a:r>
              <a:rPr dirty="0" baseline="27777" sz="1050">
                <a:latin typeface="Palatino Linotype"/>
                <a:cs typeface="Palatino Linotype"/>
              </a:rPr>
              <a:t>6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x(x</a:t>
            </a:r>
            <a:r>
              <a:rPr dirty="0" baseline="27777" sz="1050">
                <a:latin typeface="Palatino Linotype"/>
                <a:cs typeface="Palatino Linotype"/>
              </a:rPr>
              <a:t>4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marL="38100" marR="30480" indent="457200">
              <a:lnSpc>
                <a:spcPts val="2140"/>
              </a:lnSpc>
              <a:spcBef>
                <a:spcPts val="200"/>
              </a:spcBef>
            </a:pPr>
            <a:r>
              <a:rPr dirty="0" sz="1250">
                <a:latin typeface="Symbol"/>
                <a:cs typeface="Symbol"/>
              </a:rPr>
              <a:t>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7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5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 </a:t>
            </a:r>
            <a:r>
              <a:rPr dirty="0" sz="1200">
                <a:latin typeface="Palatino Linotype"/>
                <a:cs typeface="Palatino Linotype"/>
              </a:rPr>
              <a:t>+1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 </a:t>
            </a:r>
            <a:r>
              <a:rPr dirty="0" sz="1200">
                <a:latin typeface="Palatino Linotype"/>
                <a:cs typeface="Palatino Linotype"/>
              </a:rPr>
              <a:t>Xét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riêng</a:t>
            </a:r>
            <a:endParaRPr sz="1200">
              <a:latin typeface="Palatino Linotype"/>
              <a:cs typeface="Palatino Linotype"/>
            </a:endParaRPr>
          </a:p>
          <a:p>
            <a:pPr marL="205104" marR="763270" indent="251460">
              <a:lnSpc>
                <a:spcPts val="2140"/>
              </a:lnSpc>
            </a:pPr>
            <a:r>
              <a:rPr dirty="0" sz="1200">
                <a:latin typeface="Palatino Linotype"/>
                <a:cs typeface="Palatino Linotype"/>
              </a:rPr>
              <a:t>Gọi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b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7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5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1).Q(x)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mọi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43127" y="4315816"/>
            <a:ext cx="6261100" cy="534733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76200" marR="2243455">
              <a:lnSpc>
                <a:spcPct val="149200"/>
              </a:lnSpc>
              <a:spcBef>
                <a:spcPts val="150"/>
              </a:spcBef>
              <a:tabLst>
                <a:tab pos="2350135" algn="l"/>
              </a:tabLst>
            </a:pPr>
            <a:r>
              <a:rPr dirty="0" sz="1200">
                <a:latin typeface="Palatino Linotype"/>
                <a:cs typeface="Palatino Linotype"/>
              </a:rPr>
              <a:t>Đẳng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đúng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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 spc="165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 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được: 4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 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28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(1)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 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b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-25"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  <a:p>
            <a:pPr marL="457200">
              <a:lnSpc>
                <a:spcPct val="100000"/>
              </a:lnSpc>
              <a:spcBef>
                <a:spcPts val="645"/>
              </a:spcBef>
              <a:tabLst>
                <a:tab pos="1251585" algn="l"/>
                <a:tab pos="1728470" algn="l"/>
              </a:tabLst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(1),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(2)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50" spc="-50">
                <a:latin typeface="Symbol"/>
                <a:cs typeface="Symbol"/>
              </a:rPr>
              <a:t></a:t>
            </a:r>
            <a:r>
              <a:rPr dirty="0" sz="125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3; b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marL="45720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là: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180975" indent="-104775">
              <a:lnSpc>
                <a:spcPct val="100000"/>
              </a:lnSpc>
              <a:spcBef>
                <a:spcPts val="685"/>
              </a:spcBef>
              <a:buChar char="*"/>
              <a:tabLst>
                <a:tab pos="180975" algn="l"/>
              </a:tabLst>
            </a:pPr>
            <a:r>
              <a:rPr dirty="0" sz="1200" b="1">
                <a:latin typeface="Palatino Linotype"/>
                <a:cs typeface="Palatino Linotype"/>
              </a:rPr>
              <a:t>Bài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tập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áp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 spc="-10" b="1">
                <a:latin typeface="Palatino Linotype"/>
                <a:cs typeface="Palatino Linotype"/>
              </a:rPr>
              <a:t>dụng:</a:t>
            </a:r>
            <a:endParaRPr sz="1200">
              <a:latin typeface="Palatino Linotype"/>
              <a:cs typeface="Palatino Linotype"/>
            </a:endParaRPr>
          </a:p>
          <a:p>
            <a:pPr marL="76200" marR="151130">
              <a:lnSpc>
                <a:spcPct val="135800"/>
              </a:lnSpc>
              <a:spcBef>
                <a:spcPts val="190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5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1.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8.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cho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còn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dư.</a:t>
            </a:r>
            <a:endParaRPr sz="1200">
              <a:latin typeface="Palatino Linotype"/>
              <a:cs typeface="Palatino Linotype"/>
            </a:endParaRPr>
          </a:p>
          <a:p>
            <a:pPr marL="76200">
              <a:lnSpc>
                <a:spcPct val="100000"/>
              </a:lnSpc>
              <a:spcBef>
                <a:spcPts val="685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2.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 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chia:</a:t>
            </a:r>
            <a:r>
              <a:rPr dirty="0" sz="1200" spc="2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99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55</a:t>
            </a:r>
            <a:r>
              <a:rPr dirty="0" baseline="27777" sz="1050" spc="-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11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+7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marL="76200">
              <a:lnSpc>
                <a:spcPct val="100000"/>
              </a:lnSpc>
              <a:spcBef>
                <a:spcPts val="720"/>
              </a:spcBef>
              <a:tabLst>
                <a:tab pos="784860" algn="l"/>
              </a:tabLst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Dạng </a:t>
            </a:r>
            <a:r>
              <a:rPr dirty="0" sz="1200" spc="-25" b="1" i="1">
                <a:solidFill>
                  <a:srgbClr val="FF0000"/>
                </a:solidFill>
                <a:latin typeface="Palatino Linotype"/>
                <a:cs typeface="Palatino Linotype"/>
              </a:rPr>
              <a:t>3:</a:t>
            </a: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điều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kiện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số</a:t>
            </a:r>
            <a:endParaRPr sz="1200">
              <a:latin typeface="Palatino Linotype"/>
              <a:cs typeface="Palatino Linotype"/>
            </a:endParaRPr>
          </a:p>
          <a:p>
            <a:pPr marL="76200" marR="206375">
              <a:lnSpc>
                <a:spcPct val="135800"/>
              </a:lnSpc>
              <a:spcBef>
                <a:spcPts val="17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6.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tất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cả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nguyênkhông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âm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8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thoả </a:t>
            </a:r>
            <a:r>
              <a:rPr dirty="0" sz="1200">
                <a:latin typeface="Palatino Linotype"/>
                <a:cs typeface="Palatino Linotype"/>
              </a:rPr>
              <a:t>mãn: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f(8)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2003.</a:t>
            </a:r>
            <a:endParaRPr sz="1200">
              <a:latin typeface="Palatino Linotype"/>
              <a:cs typeface="Palatino Linotype"/>
            </a:endParaRPr>
          </a:p>
          <a:p>
            <a:pPr marL="2871470">
              <a:lnSpc>
                <a:spcPct val="100000"/>
              </a:lnSpc>
              <a:spcBef>
                <a:spcPts val="72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685"/>
              </a:spcBef>
            </a:pPr>
            <a:r>
              <a:rPr dirty="0" sz="1200">
                <a:latin typeface="Palatino Linotype"/>
                <a:cs typeface="Palatino Linotype"/>
              </a:rPr>
              <a:t>Xét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thức</a:t>
            </a:r>
            <a:endParaRPr sz="1200">
              <a:latin typeface="Palatino Linotype"/>
              <a:cs typeface="Palatino Linotype"/>
            </a:endParaRPr>
          </a:p>
          <a:p>
            <a:pPr marL="76200" marR="55880" indent="419100">
              <a:lnSpc>
                <a:spcPct val="135000"/>
              </a:lnSpc>
              <a:spcBef>
                <a:spcPts val="204"/>
              </a:spcBef>
            </a:pP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n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n</a:t>
            </a:r>
            <a:r>
              <a:rPr dirty="0" baseline="27777" sz="1050" spc="26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n</a:t>
            </a:r>
            <a:r>
              <a:rPr dirty="0" sz="700" spc="60">
                <a:latin typeface="Palatino Linotype"/>
                <a:cs typeface="Palatino Linotype"/>
              </a:rPr>
              <a:t> </a:t>
            </a:r>
            <a:r>
              <a:rPr dirty="0" sz="700" spc="-10">
                <a:latin typeface="Palatino Linotype"/>
                <a:cs typeface="Palatino Linotype"/>
              </a:rPr>
              <a:t>–1</a:t>
            </a:r>
            <a:r>
              <a:rPr dirty="0" sz="1200" spc="-10">
                <a:latin typeface="Palatino Linotype"/>
                <a:cs typeface="Palatino Linotype"/>
              </a:rPr>
              <a:t>x</a:t>
            </a:r>
            <a:r>
              <a:rPr dirty="0" baseline="27777" sz="1050" spc="-15">
                <a:latin typeface="Palatino Linotype"/>
                <a:cs typeface="Palatino Linotype"/>
              </a:rPr>
              <a:t>n-</a:t>
            </a:r>
            <a:r>
              <a:rPr dirty="0" baseline="27777" sz="1050">
                <a:latin typeface="Palatino Linotype"/>
                <a:cs typeface="Palatino Linotype"/>
              </a:rPr>
              <a:t>1</a:t>
            </a:r>
            <a:r>
              <a:rPr dirty="0" baseline="27777" sz="1050" spc="8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...+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1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700" spc="290">
                <a:latin typeface="Palatino Linotype"/>
                <a:cs typeface="Palatino Linotype"/>
              </a:rPr>
              <a:t> </a:t>
            </a:r>
            <a:r>
              <a:rPr dirty="0" sz="700">
                <a:latin typeface="Palatino Linotype"/>
                <a:cs typeface="Palatino Linotype"/>
              </a:rPr>
              <a:t>với</a:t>
            </a:r>
            <a:r>
              <a:rPr dirty="0" sz="7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0,</a:t>
            </a:r>
            <a:r>
              <a:rPr dirty="0" sz="7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1</a:t>
            </a:r>
            <a:r>
              <a:rPr dirty="0" sz="700" spc="1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...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a</a:t>
            </a:r>
            <a:r>
              <a:rPr dirty="0" sz="700" spc="-10">
                <a:latin typeface="Palatino Linotype"/>
                <a:cs typeface="Palatino Linotype"/>
              </a:rPr>
              <a:t>n-</a:t>
            </a:r>
            <a:r>
              <a:rPr dirty="0" sz="700">
                <a:latin typeface="Palatino Linotype"/>
                <a:cs typeface="Palatino Linotype"/>
              </a:rPr>
              <a:t>1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n</a:t>
            </a:r>
            <a:r>
              <a:rPr dirty="0" sz="700" spc="1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đều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âm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và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8.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f(8)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2003 nên a</a:t>
            </a:r>
            <a:r>
              <a:rPr dirty="0" sz="700">
                <a:latin typeface="Palatino Linotype"/>
                <a:cs typeface="Palatino Linotype"/>
              </a:rPr>
              <a:t>n</a:t>
            </a:r>
            <a:r>
              <a:rPr dirty="0" sz="1200">
                <a:latin typeface="Palatino Linotype"/>
                <a:cs typeface="Palatino Linotype"/>
              </a:rPr>
              <a:t>.8</a:t>
            </a:r>
            <a:r>
              <a:rPr dirty="0" baseline="27777" sz="1050">
                <a:latin typeface="Palatino Linotype"/>
                <a:cs typeface="Palatino Linotype"/>
              </a:rPr>
              <a:t>n </a:t>
            </a:r>
            <a:r>
              <a:rPr dirty="0" sz="120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a</a:t>
            </a:r>
            <a:r>
              <a:rPr dirty="0" sz="700" spc="-10">
                <a:latin typeface="Palatino Linotype"/>
                <a:cs typeface="Palatino Linotype"/>
              </a:rPr>
              <a:t>n-1</a:t>
            </a:r>
            <a:r>
              <a:rPr dirty="0" sz="1200" spc="-10">
                <a:latin typeface="Palatino Linotype"/>
                <a:cs typeface="Palatino Linotype"/>
              </a:rPr>
              <a:t>.8</a:t>
            </a:r>
            <a:r>
              <a:rPr dirty="0" baseline="27777" sz="1050" spc="-15">
                <a:latin typeface="Palatino Linotype"/>
                <a:cs typeface="Palatino Linotype"/>
              </a:rPr>
              <a:t>n-</a:t>
            </a:r>
            <a:r>
              <a:rPr dirty="0" baseline="27777" sz="1050">
                <a:latin typeface="Palatino Linotype"/>
                <a:cs typeface="Palatino Linotype"/>
              </a:rPr>
              <a:t>1</a:t>
            </a:r>
            <a:r>
              <a:rPr dirty="0" baseline="27777" sz="1050" spc="18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...+a</a:t>
            </a:r>
            <a:r>
              <a:rPr dirty="0" sz="700">
                <a:latin typeface="Palatino Linotype"/>
                <a:cs typeface="Palatino Linotype"/>
              </a:rPr>
              <a:t>1</a:t>
            </a:r>
            <a:r>
              <a:rPr dirty="0" sz="1200">
                <a:latin typeface="Palatino Linotype"/>
                <a:cs typeface="Palatino Linotype"/>
              </a:rPr>
              <a:t>.8 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7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20">
                <a:latin typeface="Palatino Linotype"/>
                <a:cs typeface="Palatino Linotype"/>
              </a:rPr>
              <a:t>2003</a:t>
            </a:r>
            <a:endParaRPr sz="1200">
              <a:latin typeface="Palatino Linotype"/>
              <a:cs typeface="Palatino Linotype"/>
            </a:endParaRPr>
          </a:p>
          <a:p>
            <a:pPr marL="76200" marR="64135" indent="457200">
              <a:lnSpc>
                <a:spcPct val="135000"/>
              </a:lnSpc>
              <a:spcBef>
                <a:spcPts val="204"/>
              </a:spcBef>
            </a:pPr>
            <a:r>
              <a:rPr dirty="0" sz="1200">
                <a:latin typeface="Palatino Linotype"/>
                <a:cs typeface="Palatino Linotype"/>
              </a:rPr>
              <a:t>Ở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đây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1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...,</a:t>
            </a:r>
            <a:r>
              <a:rPr dirty="0" sz="1200" spc="-10">
                <a:latin typeface="Palatino Linotype"/>
                <a:cs typeface="Palatino Linotype"/>
              </a:rPr>
              <a:t> a</a:t>
            </a:r>
            <a:r>
              <a:rPr dirty="0" sz="700" spc="-10">
                <a:latin typeface="Palatino Linotype"/>
                <a:cs typeface="Palatino Linotype"/>
              </a:rPr>
              <a:t>n-</a:t>
            </a:r>
            <a:r>
              <a:rPr dirty="0" sz="700">
                <a:latin typeface="Palatino Linotype"/>
                <a:cs typeface="Palatino Linotype"/>
              </a:rPr>
              <a:t>1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n</a:t>
            </a:r>
            <a:r>
              <a:rPr dirty="0" sz="700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chữ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viết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ghi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8.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Thực </a:t>
            </a:r>
            <a:r>
              <a:rPr dirty="0" sz="1200">
                <a:latin typeface="Palatino Linotype"/>
                <a:cs typeface="Palatino Linotype"/>
              </a:rPr>
              <a:t>hiện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việc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8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7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lại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lấy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8,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liên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tiếp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được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là:</a:t>
            </a:r>
            <a:r>
              <a:rPr dirty="0" sz="1200" spc="135"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7x</a:t>
            </a:r>
            <a:r>
              <a:rPr dirty="0" baseline="27777" sz="1050">
                <a:latin typeface="Palatino Linotype"/>
                <a:cs typeface="Palatino Linotype"/>
              </a:rPr>
              <a:t>2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  <a:p>
            <a:pPr marL="180975" indent="-104775">
              <a:lnSpc>
                <a:spcPct val="100000"/>
              </a:lnSpc>
              <a:spcBef>
                <a:spcPts val="685"/>
              </a:spcBef>
              <a:buChar char="*"/>
              <a:tabLst>
                <a:tab pos="180975" algn="l"/>
              </a:tabLst>
            </a:pPr>
            <a:r>
              <a:rPr dirty="0" sz="1200" b="1">
                <a:latin typeface="Palatino Linotype"/>
                <a:cs typeface="Palatino Linotype"/>
              </a:rPr>
              <a:t>Bài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tập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áp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 spc="-10" b="1">
                <a:latin typeface="Palatino Linotype"/>
                <a:cs typeface="Palatino Linotype"/>
              </a:rPr>
              <a:t>dụng: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1227" y="621030"/>
            <a:ext cx="5819775" cy="401256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19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1.</a:t>
            </a:r>
            <a:r>
              <a:rPr dirty="0" sz="1200" spc="130" b="1"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âm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f(5)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352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dirty="0" sz="1200" spc="-15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4:</a:t>
            </a:r>
            <a:r>
              <a:rPr dirty="0" sz="1200" spc="130" b="1" i="1">
                <a:solidFill>
                  <a:srgbClr val="FF0000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thoả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đối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f(x)</a:t>
            </a:r>
            <a:endParaRPr sz="1200">
              <a:latin typeface="Palatino Linotype"/>
              <a:cs typeface="Palatino Linotype"/>
            </a:endParaRPr>
          </a:p>
          <a:p>
            <a:pPr marL="495300" marR="1819275" indent="-457834">
              <a:lnSpc>
                <a:spcPct val="120000"/>
              </a:lnSpc>
              <a:spcBef>
                <a:spcPts val="409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7.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điều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kiện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sau: P(-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38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75">
                <a:latin typeface="Times New Roman"/>
                <a:cs typeface="Times New Roman"/>
              </a:rPr>
              <a:t> </a:t>
            </a:r>
            <a:r>
              <a:rPr dirty="0" sz="1200" spc="-95">
                <a:latin typeface="Palatino Linotype"/>
                <a:cs typeface="Palatino Linotype"/>
              </a:rPr>
              <a:t>1</a:t>
            </a:r>
            <a:r>
              <a:rPr dirty="0" baseline="-4761" sz="2625" spc="-142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1</a:t>
            </a:r>
            <a:r>
              <a:rPr dirty="0" baseline="-4761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2x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r>
              <a:rPr dirty="0" sz="1200" spc="-10">
                <a:latin typeface="Palatino Linotype"/>
                <a:cs typeface="Palatino Linotype"/>
              </a:rPr>
              <a:t>,</a:t>
            </a:r>
            <a:r>
              <a:rPr dirty="0" sz="1200" spc="-10">
                <a:latin typeface="Symbol"/>
                <a:cs typeface="Symbol"/>
              </a:rPr>
              <a:t></a:t>
            </a:r>
            <a:r>
              <a:rPr dirty="0" sz="1200" spc="-1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Symbol"/>
                <a:cs typeface="Symbol"/>
              </a:rPr>
              <a:t></a:t>
            </a:r>
            <a:r>
              <a:rPr dirty="0" sz="1200" spc="-10">
                <a:latin typeface="Palatino Linotype"/>
                <a:cs typeface="Palatino Linotype"/>
              </a:rPr>
              <a:t>R.</a:t>
            </a:r>
            <a:endParaRPr sz="1200">
              <a:latin typeface="Palatino Linotype"/>
              <a:cs typeface="Palatino Linotype"/>
            </a:endParaRPr>
          </a:p>
          <a:p>
            <a:pPr algn="ctr" marL="377190">
              <a:lnSpc>
                <a:spcPct val="100000"/>
              </a:lnSpc>
              <a:spcBef>
                <a:spcPts val="1045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 giải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275"/>
              </a:spcBef>
            </a:pP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P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0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Palatino Linotype"/>
                <a:cs typeface="Palatino Linotype"/>
              </a:rPr>
              <a:t>P</a:t>
            </a:r>
            <a:r>
              <a:rPr dirty="0" baseline="-4761" sz="2625" spc="-60">
                <a:latin typeface="Symbol"/>
                <a:cs typeface="Symbol"/>
              </a:rPr>
              <a:t></a:t>
            </a:r>
            <a:r>
              <a:rPr dirty="0" sz="1200" spc="-40">
                <a:latin typeface="Symbol"/>
                <a:cs typeface="Symbol"/>
              </a:rPr>
              <a:t></a:t>
            </a:r>
            <a:r>
              <a:rPr dirty="0" sz="1200" spc="-40">
                <a:latin typeface="Palatino Linotype"/>
                <a:cs typeface="Palatino Linotype"/>
              </a:rPr>
              <a:t>1</a:t>
            </a:r>
            <a:r>
              <a:rPr dirty="0" baseline="-4761" sz="2625" spc="-60">
                <a:latin typeface="Symbol"/>
                <a:cs typeface="Symbol"/>
              </a:rPr>
              <a:t></a:t>
            </a:r>
            <a:r>
              <a:rPr dirty="0" baseline="-4761" sz="262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 spc="-40">
                <a:latin typeface="Palatino Linotype"/>
                <a:cs typeface="Palatino Linotype"/>
              </a:rPr>
              <a:t>P</a:t>
            </a:r>
            <a:r>
              <a:rPr dirty="0" baseline="-4761" sz="2625" spc="-60">
                <a:latin typeface="Symbol"/>
                <a:cs typeface="Symbol"/>
              </a:rPr>
              <a:t></a:t>
            </a:r>
            <a:r>
              <a:rPr dirty="0" sz="1200" spc="-40">
                <a:latin typeface="Symbol"/>
                <a:cs typeface="Symbol"/>
              </a:rPr>
              <a:t></a:t>
            </a:r>
            <a:r>
              <a:rPr dirty="0" sz="1200" spc="-40">
                <a:latin typeface="Palatino Linotype"/>
                <a:cs typeface="Palatino Linotype"/>
              </a:rPr>
              <a:t>1</a:t>
            </a:r>
            <a:r>
              <a:rPr dirty="0" baseline="-4761" sz="2625" spc="-60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1035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nhận</a:t>
            </a:r>
            <a:r>
              <a:rPr dirty="0" sz="1200" spc="-10">
                <a:latin typeface="Palatino Linotype"/>
                <a:cs typeface="Palatino Linotype"/>
              </a:rPr>
              <a:t> -</a:t>
            </a:r>
            <a:r>
              <a:rPr dirty="0" sz="1200">
                <a:latin typeface="Palatino Linotype"/>
                <a:cs typeface="Palatino Linotype"/>
              </a:rPr>
              <a:t>1,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0, -2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nghiệm.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185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P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r>
              <a:rPr dirty="0" baseline="-4761" sz="2625" spc="-75">
                <a:latin typeface="Symbol"/>
                <a:cs typeface="Symbol"/>
              </a:rPr>
              <a:t>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2</a:t>
            </a:r>
            <a:r>
              <a:rPr dirty="0" baseline="-4761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ax</a:t>
            </a:r>
            <a:r>
              <a:rPr dirty="0" sz="1200" spc="-13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b</a:t>
            </a:r>
            <a:r>
              <a:rPr dirty="0" baseline="-4761" sz="2625" spc="-52">
                <a:latin typeface="Symbol"/>
                <a:cs typeface="Symbol"/>
              </a:rPr>
              <a:t></a:t>
            </a:r>
            <a:r>
              <a:rPr dirty="0" baseline="-4761" sz="2625" spc="3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≠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0.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1040"/>
              </a:spcBef>
            </a:pP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P(0) 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 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ts val="1190"/>
              </a:lnSpc>
              <a:spcBef>
                <a:spcPts val="1485"/>
              </a:spcBef>
            </a:pP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 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P(2)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P(1) 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30 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36.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 ra: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2a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u="sng" baseline="37037" sz="1800" spc="-33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7037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</a:t>
            </a:r>
            <a:r>
              <a:rPr dirty="0" baseline="37037" sz="1800" spc="442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  <a:p>
            <a:pPr algn="ctr" marL="1849755">
              <a:lnSpc>
                <a:spcPts val="1190"/>
              </a:lnSpc>
            </a:pP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ts val="1190"/>
              </a:lnSpc>
              <a:spcBef>
                <a:spcPts val="1390"/>
              </a:spcBef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</a:t>
            </a:r>
            <a:r>
              <a:rPr dirty="0" sz="1200" spc="4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u="sng" baseline="37037" sz="1800" spc="-33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7037" sz="1800" spc="-7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baseline="37037" sz="1800">
              <a:latin typeface="Palatino Linotype"/>
              <a:cs typeface="Palatino Linotype"/>
            </a:endParaRPr>
          </a:p>
          <a:p>
            <a:pPr algn="ctr" marR="953769">
              <a:lnSpc>
                <a:spcPts val="1190"/>
              </a:lnSpc>
            </a:pP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38732" y="4708176"/>
            <a:ext cx="1766570" cy="301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u="sng" baseline="37037" sz="1800" spc="-33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7037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baseline="37037" sz="1800" spc="-8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3086" sz="2700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Palatino Linotype"/>
                <a:cs typeface="Palatino Linotype"/>
              </a:rPr>
              <a:t>1</a:t>
            </a:r>
            <a:r>
              <a:rPr dirty="0" baseline="-3086" sz="2700" spc="-60">
                <a:latin typeface="Symbol"/>
                <a:cs typeface="Symbol"/>
              </a:rPr>
              <a:t></a:t>
            </a:r>
            <a:r>
              <a:rPr dirty="0" baseline="67460" sz="1050" spc="-60">
                <a:latin typeface="Palatino Linotype"/>
                <a:cs typeface="Palatino Linotype"/>
              </a:rPr>
              <a:t>2</a:t>
            </a:r>
            <a:r>
              <a:rPr dirty="0" baseline="67460" sz="1050" spc="120">
                <a:latin typeface="Palatino Linotype"/>
                <a:cs typeface="Palatino Linotype"/>
              </a:rPr>
              <a:t> </a:t>
            </a:r>
            <a:r>
              <a:rPr dirty="0" baseline="-3086" sz="2700" spc="-75">
                <a:latin typeface="Symbol"/>
                <a:cs typeface="Symbol"/>
              </a:rPr>
              <a:t>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r>
              <a:rPr dirty="0" baseline="-3086" sz="2700" spc="-37">
                <a:latin typeface="Symbol"/>
                <a:cs typeface="Symbol"/>
              </a:rPr>
              <a:t></a:t>
            </a:r>
            <a:endParaRPr baseline="-3086" sz="2700">
              <a:latin typeface="Symbol"/>
              <a:cs typeface="Symbo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6627" y="4822959"/>
            <a:ext cx="5951220" cy="82486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059180">
              <a:lnSpc>
                <a:spcPct val="100000"/>
              </a:lnSpc>
              <a:spcBef>
                <a:spcPts val="740"/>
              </a:spcBef>
            </a:pP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latin typeface="Palatino Linotype"/>
                <a:cs typeface="Palatino Linotype"/>
              </a:rPr>
              <a:t>*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Bài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tập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áp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 spc="-20" b="1">
                <a:latin typeface="Palatino Linotype"/>
                <a:cs typeface="Palatino Linotype"/>
              </a:rPr>
              <a:t>dụng:</a:t>
            </a:r>
            <a:endParaRPr sz="1200">
              <a:latin typeface="Palatino Linotype"/>
              <a:cs typeface="Palatino Linotype"/>
            </a:endParaRPr>
          </a:p>
          <a:p>
            <a:pPr marL="469900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tất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cả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thoả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sau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ít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trị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6627" y="5596508"/>
            <a:ext cx="6146165" cy="261810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95"/>
              </a:spcBef>
            </a:pPr>
            <a:r>
              <a:rPr dirty="0" sz="1200">
                <a:latin typeface="Palatino Linotype"/>
                <a:cs typeface="Palatino Linotype"/>
              </a:rPr>
              <a:t>phân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biệt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x:</a:t>
            </a:r>
            <a:r>
              <a:rPr dirty="0" sz="1200" spc="280">
                <a:latin typeface="Palatino Linotype"/>
                <a:cs typeface="Palatino Linotype"/>
              </a:rPr>
              <a:t>   </a:t>
            </a:r>
            <a:r>
              <a:rPr dirty="0" sz="1200">
                <a:latin typeface="Palatino Linotype"/>
                <a:cs typeface="Palatino Linotype"/>
              </a:rPr>
              <a:t>x.P(x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2).P(x)</a:t>
            </a:r>
            <a:endParaRPr sz="1200">
              <a:latin typeface="Palatino Linotype"/>
              <a:cs typeface="Palatino Linotype"/>
            </a:endParaRPr>
          </a:p>
          <a:p>
            <a:pPr marL="12700" marR="347345">
              <a:lnSpc>
                <a:spcPct val="135000"/>
              </a:lnSpc>
              <a:spcBef>
                <a:spcPts val="190"/>
              </a:spcBef>
            </a:pP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III.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50" b="1">
                <a:solidFill>
                  <a:srgbClr val="006FC0"/>
                </a:solidFill>
                <a:latin typeface="Palatino Linotype"/>
                <a:cs typeface="Palatino Linotype"/>
              </a:rPr>
              <a:t>PHƢƠNG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PHÁP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DÙNG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PHỤ</a:t>
            </a:r>
            <a:r>
              <a:rPr dirty="0" sz="1200" spc="-1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ĐỂ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GIẢI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TOÁN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TÌM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THỨC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HOẶC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TÍNH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GIÁ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TRỊ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CỦA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1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THỨC.</a:t>
            </a:r>
            <a:endParaRPr sz="1200">
              <a:latin typeface="Palatino Linotype"/>
              <a:cs typeface="Palatino Linotype"/>
            </a:endParaRPr>
          </a:p>
          <a:p>
            <a:pPr algn="just" marL="12700" marR="5080" indent="533400">
              <a:lnSpc>
                <a:spcPct val="135300"/>
              </a:lnSpc>
              <a:spcBef>
                <a:spcPts val="190"/>
              </a:spcBef>
            </a:pP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Giới</a:t>
            </a:r>
            <a:r>
              <a:rPr dirty="0" sz="1200" spc="120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thiệu</a:t>
            </a:r>
            <a:r>
              <a:rPr dirty="0" sz="1200" spc="114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spc="-45" b="1">
                <a:solidFill>
                  <a:srgbClr val="00AF50"/>
                </a:solidFill>
                <a:latin typeface="Palatino Linotype"/>
                <a:cs typeface="Palatino Linotype"/>
              </a:rPr>
              <a:t>phƣơng</a:t>
            </a:r>
            <a:r>
              <a:rPr dirty="0" sz="1200" spc="135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50"/>
                </a:solidFill>
                <a:latin typeface="Palatino Linotype"/>
                <a:cs typeface="Palatino Linotype"/>
              </a:rPr>
              <a:t>pháp:</a:t>
            </a:r>
            <a:r>
              <a:rPr dirty="0" sz="1200" spc="120" b="1">
                <a:solidFill>
                  <a:srgbClr val="00AF50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nhiều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pháp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toán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đa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chủ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yếu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dùng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thuần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nhất;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hai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đồng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nhất;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lý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Bơ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du;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bất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đã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1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1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nó.</a:t>
            </a:r>
            <a:r>
              <a:rPr dirty="0" sz="1200" spc="114"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Song</a:t>
            </a:r>
            <a:r>
              <a:rPr dirty="0" sz="1200" spc="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nhiều</a:t>
            </a:r>
            <a:r>
              <a:rPr dirty="0" sz="1200" spc="1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8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toán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thể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bằng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cách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trực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tiếp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phải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dùng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pháp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dùng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thức </a:t>
            </a:r>
            <a:r>
              <a:rPr dirty="0" sz="1200">
                <a:latin typeface="Palatino Linotype"/>
                <a:cs typeface="Palatino Linotype"/>
              </a:rPr>
              <a:t>phụ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hoặc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riêng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thức.</a:t>
            </a:r>
            <a:endParaRPr sz="1200">
              <a:latin typeface="Palatino Linotype"/>
              <a:cs typeface="Palatino Linotype"/>
            </a:endParaRPr>
          </a:p>
          <a:p>
            <a:pPr algn="just" marL="127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solidFill>
                  <a:srgbClr val="FF0000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2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FF0000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2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FF0000"/>
                </a:solidFill>
                <a:latin typeface="Palatino Linotype"/>
                <a:cs typeface="Palatino Linotype"/>
              </a:rPr>
              <a:t>minh</a:t>
            </a:r>
            <a:r>
              <a:rPr dirty="0" sz="1200" spc="-20" b="1">
                <a:solidFill>
                  <a:srgbClr val="FF0000"/>
                </a:solidFill>
                <a:latin typeface="Palatino Linotype"/>
                <a:cs typeface="Palatino Linotype"/>
              </a:rPr>
              <a:t> họa:</a:t>
            </a:r>
            <a:endParaRPr sz="1200">
              <a:latin typeface="Palatino Linotype"/>
              <a:cs typeface="Palatino Linotype"/>
            </a:endParaRPr>
          </a:p>
          <a:p>
            <a:pPr algn="just" marL="127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8.</a:t>
            </a:r>
            <a:r>
              <a:rPr dirty="0" sz="1200" spc="3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 đa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 bậc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cao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 là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 và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thoả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10,</a:t>
            </a:r>
            <a:r>
              <a:rPr dirty="0" sz="1200" spc="165"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20,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6627" y="8358378"/>
            <a:ext cx="10642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30.</a:t>
            </a:r>
            <a:r>
              <a:rPr dirty="0" sz="1200" spc="140">
                <a:latin typeface="Palatino Linotype"/>
                <a:cs typeface="Palatino Linotype"/>
              </a:rPr>
              <a:t>  </a:t>
            </a:r>
            <a:r>
              <a:rPr dirty="0" sz="1200" spc="-10">
                <a:latin typeface="Palatino Linotype"/>
                <a:cs typeface="Palatino Linotype"/>
              </a:rPr>
              <a:t>Tính: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547193" y="8482358"/>
            <a:ext cx="845185" cy="0"/>
          </a:xfrm>
          <a:custGeom>
            <a:avLst/>
            <a:gdLst/>
            <a:ahLst/>
            <a:cxnLst/>
            <a:rect l="l" t="t" r="r" b="b"/>
            <a:pathLst>
              <a:path w="845185" h="0">
                <a:moveTo>
                  <a:pt x="0" y="0"/>
                </a:moveTo>
                <a:lnTo>
                  <a:pt x="844894" y="0"/>
                </a:lnTo>
              </a:path>
            </a:pathLst>
          </a:custGeom>
          <a:ln w="62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541554" y="8230294"/>
            <a:ext cx="857250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Times New Roman"/>
                <a:cs typeface="Times New Roman"/>
              </a:rPr>
              <a:t>f(12)</a:t>
            </a:r>
            <a:r>
              <a:rPr dirty="0" sz="1400" spc="-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2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f(-8)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3414688" y="8333651"/>
            <a:ext cx="31559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Times New Roman"/>
                <a:cs typeface="Times New Roman"/>
              </a:rPr>
              <a:t>+15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860839" y="8461568"/>
            <a:ext cx="20383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6627" y="8663177"/>
            <a:ext cx="6146800" cy="10864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Phân</a:t>
            </a:r>
            <a:r>
              <a:rPr dirty="0" sz="1200" spc="-25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tích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006FC0"/>
                </a:solidFill>
                <a:latin typeface="Palatino Linotype"/>
                <a:cs typeface="Palatino Linotype"/>
              </a:rPr>
              <a:t>toán:</a:t>
            </a:r>
            <a:endParaRPr sz="1200">
              <a:latin typeface="Palatino Linotype"/>
              <a:cs typeface="Palatino Linotype"/>
            </a:endParaRPr>
          </a:p>
          <a:p>
            <a:pPr marL="12700" marR="5080" indent="93980">
              <a:lnSpc>
                <a:spcPct val="135000"/>
              </a:lnSpc>
              <a:spcBef>
                <a:spcPts val="190"/>
              </a:spcBef>
              <a:buChar char="-"/>
              <a:tabLst>
                <a:tab pos="106680" algn="l"/>
              </a:tabLst>
            </a:pP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mới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phải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dùng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phụ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h(x).</a:t>
            </a:r>
            <a:endParaRPr sz="1200">
              <a:latin typeface="Palatino Linotype"/>
              <a:cs typeface="Palatino Linotype"/>
            </a:endParaRPr>
          </a:p>
          <a:p>
            <a:pPr marL="100330" indent="-87630">
              <a:lnSpc>
                <a:spcPct val="100000"/>
              </a:lnSpc>
              <a:spcBef>
                <a:spcPts val="700"/>
              </a:spcBef>
              <a:buChar char="-"/>
              <a:tabLst>
                <a:tab pos="100330" algn="l"/>
              </a:tabLst>
            </a:pP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 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f(x).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1227" y="625601"/>
            <a:ext cx="6193155" cy="2178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4238625">
              <a:lnSpc>
                <a:spcPct val="149300"/>
              </a:lnSpc>
              <a:spcBef>
                <a:spcPts val="100"/>
              </a:spcBef>
            </a:pPr>
            <a:r>
              <a:rPr dirty="0" u="sng" sz="120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Thuật</a:t>
            </a:r>
            <a:r>
              <a:rPr dirty="0" u="sng" sz="1200" spc="-2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toán</a:t>
            </a:r>
            <a:r>
              <a:rPr dirty="0" u="sng" sz="1200" spc="-1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tìm</a:t>
            </a:r>
            <a:r>
              <a:rPr dirty="0" u="sng" sz="1200" spc="-2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đa</a:t>
            </a:r>
            <a:r>
              <a:rPr dirty="0" u="sng" sz="1200" spc="-1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thức</a:t>
            </a:r>
            <a:r>
              <a:rPr dirty="0" u="sng" sz="1200" spc="-20" b="1" i="1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Palatino Linotype"/>
                <a:cs typeface="Palatino Linotype"/>
              </a:rPr>
              <a:t> phụ</a:t>
            </a:r>
            <a:r>
              <a:rPr dirty="0" sz="1200" spc="-20" b="1" i="1">
                <a:solidFill>
                  <a:srgbClr val="006FC0"/>
                </a:solidFill>
                <a:latin typeface="Palatino Linotype"/>
                <a:cs typeface="Palatino Linotype"/>
              </a:rPr>
              <a:t>. </a:t>
            </a:r>
            <a:r>
              <a:rPr dirty="0" u="sng" sz="1200" b="1" i="1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Bước</a:t>
            </a:r>
            <a:r>
              <a:rPr dirty="0" u="sng" sz="1200" spc="-15" b="1" i="1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25" b="1" i="1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1:</a:t>
            </a:r>
            <a:endParaRPr sz="1200">
              <a:latin typeface="Palatino Linotype"/>
              <a:cs typeface="Palatino Linotype"/>
            </a:endParaRPr>
          </a:p>
          <a:p>
            <a:pPr marL="38100" marR="30480" indent="495300">
              <a:lnSpc>
                <a:spcPct val="135000"/>
              </a:lnSpc>
              <a:spcBef>
                <a:spcPts val="190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 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 ở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 là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 có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 nhỏ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 của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 đồng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thời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đã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f(x)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nghĩa </a:t>
            </a:r>
            <a:r>
              <a:rPr dirty="0" sz="1200" spc="-25">
                <a:latin typeface="Palatino Linotype"/>
                <a:cs typeface="Palatino Linotype"/>
              </a:rPr>
              <a:t>là:</a:t>
            </a:r>
            <a:endParaRPr sz="1200">
              <a:latin typeface="Palatino Linotype"/>
              <a:cs typeface="Palatino Linotype"/>
            </a:endParaRPr>
          </a:p>
          <a:p>
            <a:pPr marL="13335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c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dirty="0" u="sng" sz="1200" b="1" i="1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Bước</a:t>
            </a:r>
            <a:r>
              <a:rPr dirty="0" u="sng" sz="1200" spc="-15" b="1" i="1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25" b="1" i="1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2:</a:t>
            </a:r>
            <a:endParaRPr sz="1200">
              <a:latin typeface="Palatino Linotype"/>
              <a:cs typeface="Palatino Linotype"/>
            </a:endParaRPr>
          </a:p>
          <a:p>
            <a:pPr marL="5334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0.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421751" y="2845415"/>
            <a:ext cx="1073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0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80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1+</a:t>
            </a:r>
            <a:r>
              <a:rPr dirty="0" sz="1400" spc="-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4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85877" y="2870139"/>
            <a:ext cx="1079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latin typeface="Symbol"/>
                <a:cs typeface="Symbol"/>
              </a:rPr>
              <a:t>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6627" y="3028785"/>
            <a:ext cx="194119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1490">
              <a:lnSpc>
                <a:spcPts val="1110"/>
              </a:lnSpc>
              <a:spcBef>
                <a:spcPts val="100"/>
              </a:spcBef>
            </a:pPr>
            <a:r>
              <a:rPr dirty="0" sz="1300" spc="-50">
                <a:latin typeface="Symbol"/>
                <a:cs typeface="Symbol"/>
              </a:rPr>
              <a:t></a:t>
            </a:r>
            <a:endParaRPr sz="1300">
              <a:latin typeface="Symbol"/>
              <a:cs typeface="Symbol"/>
            </a:endParaRPr>
          </a:p>
          <a:p>
            <a:pPr marL="12700">
              <a:lnSpc>
                <a:spcPts val="1230"/>
              </a:lnSpc>
            </a:pPr>
            <a:r>
              <a:rPr dirty="0" sz="1200">
                <a:latin typeface="Palatino Linotype"/>
                <a:cs typeface="Palatino Linotype"/>
              </a:rPr>
              <a:t>Tức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là:</a:t>
            </a:r>
            <a:r>
              <a:rPr dirty="0" sz="1200" spc="125">
                <a:latin typeface="Palatino Linotype"/>
                <a:cs typeface="Palatino Linotype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0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</a:t>
            </a:r>
            <a:r>
              <a:rPr dirty="0" sz="1400" spc="-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4a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2b</a:t>
            </a:r>
            <a:r>
              <a:rPr dirty="0" sz="1400" spc="-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5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85877" y="3152641"/>
            <a:ext cx="1079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latin typeface="Symbol"/>
                <a:cs typeface="Symbol"/>
              </a:rPr>
              <a:t>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60477" y="3378708"/>
            <a:ext cx="15043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7777" sz="1950">
                <a:latin typeface="Symbol"/>
                <a:cs typeface="Symbol"/>
              </a:rPr>
              <a:t></a:t>
            </a:r>
            <a:r>
              <a:rPr dirty="0" sz="1400">
                <a:latin typeface="Times New Roman"/>
                <a:cs typeface="Times New Roman"/>
              </a:rPr>
              <a:t>0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30</a:t>
            </a:r>
            <a:r>
              <a:rPr dirty="0" sz="1400" spc="-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9a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3b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3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6627" y="3340783"/>
            <a:ext cx="3145790" cy="86106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491490">
              <a:lnSpc>
                <a:spcPct val="100000"/>
              </a:lnSpc>
              <a:spcBef>
                <a:spcPts val="850"/>
              </a:spcBef>
            </a:pPr>
            <a:r>
              <a:rPr dirty="0" sz="1300" spc="-50">
                <a:latin typeface="Symbol"/>
                <a:cs typeface="Symbol"/>
              </a:rPr>
              <a:t></a:t>
            </a:r>
            <a:endParaRPr sz="1300">
              <a:latin typeface="Symbol"/>
              <a:cs typeface="Symbol"/>
            </a:endParaRPr>
          </a:p>
          <a:p>
            <a:pPr marL="393700" marR="5080" indent="-381635">
              <a:lnSpc>
                <a:spcPts val="2140"/>
              </a:lnSpc>
              <a:spcBef>
                <a:spcPts val="85"/>
              </a:spcBef>
            </a:pP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trình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10;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50">
                <a:latin typeface="Palatino Linotype"/>
                <a:cs typeface="Palatino Linotype"/>
              </a:rPr>
              <a:t>0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pháp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bất</a:t>
            </a:r>
            <a:r>
              <a:rPr dirty="0" sz="1200" spc="-20">
                <a:latin typeface="Palatino Linotype"/>
                <a:cs typeface="Palatino Linotype"/>
              </a:rPr>
              <a:t> định: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87932" y="4177410"/>
            <a:ext cx="495934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ra: </a:t>
            </a:r>
            <a:r>
              <a:rPr dirty="0" sz="1200" spc="-20">
                <a:latin typeface="Palatino Linotype"/>
                <a:cs typeface="Palatino Linotype"/>
              </a:rPr>
              <a:t>Hay: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39391" y="4177410"/>
            <a:ext cx="1065530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 marR="5080" indent="-8255">
              <a:lnSpc>
                <a:spcPct val="1483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10x</a:t>
            </a:r>
            <a:r>
              <a:rPr dirty="0" sz="1200" spc="5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10x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6627" y="4723884"/>
            <a:ext cx="5657850" cy="328866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ctr" marL="487680">
              <a:lnSpc>
                <a:spcPct val="100000"/>
              </a:lnSpc>
              <a:spcBef>
                <a:spcPts val="79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10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giải</a:t>
            </a:r>
            <a:endParaRPr sz="1200">
              <a:latin typeface="Palatino Linotype"/>
              <a:cs typeface="Palatino Linotype"/>
            </a:endParaRPr>
          </a:p>
          <a:p>
            <a:pPr marL="88900">
              <a:lnSpc>
                <a:spcPct val="100000"/>
              </a:lnSpc>
              <a:spcBef>
                <a:spcPts val="685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 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phụ: g(x)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 – 10x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</a:t>
            </a:r>
            <a:r>
              <a:rPr dirty="0" sz="1200">
                <a:latin typeface="Palatino Linotype"/>
                <a:cs typeface="Palatino Linotype"/>
              </a:rPr>
              <a:t>g(1)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g(3)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469900" marR="5080" indent="-457834">
              <a:lnSpc>
                <a:spcPts val="2150"/>
              </a:lnSpc>
              <a:spcBef>
                <a:spcPts val="185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 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ra: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sz="700" spc="-25">
                <a:latin typeface="Palatino Linotype"/>
                <a:cs typeface="Palatino Linotype"/>
              </a:rPr>
              <a:t>0</a:t>
            </a:r>
            <a:r>
              <a:rPr dirty="0" sz="1200" spc="-25">
                <a:latin typeface="Palatino Linotype"/>
                <a:cs typeface="Palatino Linotype"/>
              </a:rPr>
              <a:t>)</a:t>
            </a:r>
            <a:endParaRPr sz="1200">
              <a:latin typeface="Palatino Linotype"/>
              <a:cs typeface="Palatino Linotype"/>
            </a:endParaRPr>
          </a:p>
          <a:p>
            <a:pPr marL="298450">
              <a:lnSpc>
                <a:spcPct val="100000"/>
              </a:lnSpc>
              <a:spcBef>
                <a:spcPts val="509"/>
              </a:spcBef>
            </a:pPr>
            <a:r>
              <a:rPr dirty="0" sz="1150" spc="55">
                <a:latin typeface="Symbol"/>
                <a:cs typeface="Symbol"/>
              </a:rPr>
              <a:t>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10x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1)(12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2)(12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3)(12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10.12</a:t>
            </a:r>
            <a:endParaRPr sz="1200">
              <a:latin typeface="Palatino Linotype"/>
              <a:cs typeface="Palatino Linotype"/>
            </a:endParaRPr>
          </a:p>
          <a:p>
            <a:pPr marL="6985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11.10.9.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10.12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10.[99.(12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12]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spc="-10">
                <a:latin typeface="Palatino Linotype"/>
                <a:cs typeface="Palatino Linotype"/>
              </a:rPr>
              <a:t>f(-</a:t>
            </a:r>
            <a:r>
              <a:rPr dirty="0" sz="1200">
                <a:latin typeface="Palatino Linotype"/>
                <a:cs typeface="Palatino Linotype"/>
              </a:rPr>
              <a:t>8)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(-</a:t>
            </a:r>
            <a:r>
              <a:rPr dirty="0" sz="1200">
                <a:latin typeface="Palatino Linotype"/>
                <a:cs typeface="Palatino Linotype"/>
              </a:rPr>
              <a:t>8 –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1)(-</a:t>
            </a:r>
            <a:r>
              <a:rPr dirty="0" sz="1200">
                <a:latin typeface="Palatino Linotype"/>
                <a:cs typeface="Palatino Linotype"/>
              </a:rPr>
              <a:t>8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2)(-</a:t>
            </a:r>
            <a:r>
              <a:rPr dirty="0" sz="1200">
                <a:latin typeface="Palatino Linotype"/>
                <a:cs typeface="Palatino Linotype"/>
              </a:rPr>
              <a:t>8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3)(-</a:t>
            </a:r>
            <a:r>
              <a:rPr dirty="0" sz="1200">
                <a:latin typeface="Palatino Linotype"/>
                <a:cs typeface="Palatino Linotype"/>
              </a:rPr>
              <a:t>8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10.(-</a:t>
            </a:r>
            <a:r>
              <a:rPr dirty="0" sz="1200" spc="-25">
                <a:latin typeface="Palatino Linotype"/>
                <a:cs typeface="Palatino Linotype"/>
              </a:rPr>
              <a:t>8)</a:t>
            </a:r>
            <a:endParaRPr sz="1200">
              <a:latin typeface="Palatino Linotype"/>
              <a:cs typeface="Palatino Linotype"/>
            </a:endParaRPr>
          </a:p>
          <a:p>
            <a:pPr algn="r" marR="135255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(-11).(-10).(-</a:t>
            </a:r>
            <a:r>
              <a:rPr dirty="0" sz="1200">
                <a:latin typeface="Palatino Linotype"/>
                <a:cs typeface="Palatino Linotype"/>
              </a:rPr>
              <a:t>9).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(-</a:t>
            </a:r>
            <a:r>
              <a:rPr dirty="0" sz="1200">
                <a:latin typeface="Palatino Linotype"/>
                <a:cs typeface="Palatino Linotype"/>
              </a:rPr>
              <a:t>8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10.(-</a:t>
            </a:r>
            <a:r>
              <a:rPr dirty="0" sz="1200">
                <a:latin typeface="Palatino Linotype"/>
                <a:cs typeface="Palatino Linotype"/>
              </a:rPr>
              <a:t>8)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0">
                <a:latin typeface="Palatino Linotype"/>
                <a:cs typeface="Palatino Linotype"/>
              </a:rPr>
              <a:t>10.[99.(-</a:t>
            </a:r>
            <a:r>
              <a:rPr dirty="0" sz="1200">
                <a:latin typeface="Palatino Linotype"/>
                <a:cs typeface="Palatino Linotype"/>
              </a:rPr>
              <a:t>8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8]</a:t>
            </a:r>
            <a:endParaRPr sz="1200">
              <a:latin typeface="Palatino Linotype"/>
              <a:cs typeface="Palatino Linotype"/>
            </a:endParaRPr>
          </a:p>
          <a:p>
            <a:pPr algn="r" marR="140335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f(12)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f(-</a:t>
            </a:r>
            <a:r>
              <a:rPr dirty="0" sz="1200">
                <a:latin typeface="Palatino Linotype"/>
                <a:cs typeface="Palatino Linotype"/>
              </a:rPr>
              <a:t>8)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10.[99.(12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 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12]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(-10).[99.(-</a:t>
            </a:r>
            <a:r>
              <a:rPr dirty="0" sz="1200">
                <a:latin typeface="Palatino Linotype"/>
                <a:cs typeface="Palatino Linotype"/>
              </a:rPr>
              <a:t>8 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8]</a:t>
            </a:r>
            <a:endParaRPr sz="1200">
              <a:latin typeface="Palatino Linotype"/>
              <a:cs typeface="Palatino Linotype"/>
            </a:endParaRPr>
          </a:p>
          <a:p>
            <a:pPr marL="12700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10(1200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99x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700" spc="40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784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99x</a:t>
            </a:r>
            <a:r>
              <a:rPr dirty="0" sz="700" spc="-10">
                <a:latin typeface="Palatino Linotype"/>
                <a:cs typeface="Palatino Linotype"/>
              </a:rPr>
              <a:t>0</a:t>
            </a:r>
            <a:r>
              <a:rPr dirty="0" sz="1200" spc="-10">
                <a:latin typeface="Palatino Linotype"/>
                <a:cs typeface="Palatino Linotype"/>
              </a:rPr>
              <a:t>)</a:t>
            </a:r>
            <a:endParaRPr sz="1200">
              <a:latin typeface="Palatino Linotype"/>
              <a:cs typeface="Palatino Linotype"/>
            </a:endParaRPr>
          </a:p>
          <a:p>
            <a:pPr marL="12700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10">
                <a:latin typeface="Palatino Linotype"/>
                <a:cs typeface="Palatino Linotype"/>
              </a:rPr>
              <a:t>10.1984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6627" y="8051859"/>
            <a:ext cx="3500754" cy="341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86155">
              <a:lnSpc>
                <a:spcPts val="1250"/>
              </a:lnSpc>
              <a:spcBef>
                <a:spcPts val="95"/>
              </a:spcBef>
            </a:pPr>
            <a:r>
              <a:rPr dirty="0" u="sng" sz="14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f(12)</a:t>
            </a:r>
            <a:r>
              <a:rPr dirty="0" u="sng" sz="14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</a:t>
            </a:r>
            <a:r>
              <a:rPr dirty="0" u="sng" sz="1400" spc="-1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f(-</a:t>
            </a:r>
            <a:r>
              <a:rPr dirty="0" u="sng" sz="14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  <a:tabLst>
                <a:tab pos="1858010" algn="l"/>
              </a:tabLst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được: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+15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1984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+15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6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1999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06627" y="8196439"/>
            <a:ext cx="4910455" cy="11036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304925">
              <a:lnSpc>
                <a:spcPct val="100000"/>
              </a:lnSpc>
              <a:spcBef>
                <a:spcPts val="775"/>
              </a:spcBef>
            </a:pPr>
            <a:r>
              <a:rPr dirty="0" sz="1400" spc="-25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35800"/>
              </a:lnSpc>
              <a:spcBef>
                <a:spcPts val="7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4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4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9.</a:t>
            </a:r>
            <a:r>
              <a:rPr dirty="0" sz="1200" spc="39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cao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thoả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mãn: </a:t>
            </a:r>
            <a:r>
              <a:rPr dirty="0" sz="1200">
                <a:latin typeface="Palatino Linotype"/>
                <a:cs typeface="Palatino Linotype"/>
              </a:rPr>
              <a:t>f(5)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27.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f(-</a:t>
            </a:r>
            <a:r>
              <a:rPr dirty="0" sz="1200">
                <a:latin typeface="Palatino Linotype"/>
                <a:cs typeface="Palatino Linotype"/>
              </a:rPr>
              <a:t>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7.f(6)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Phân</a:t>
            </a:r>
            <a:r>
              <a:rPr dirty="0" sz="1200" spc="-25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tích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006FC0"/>
                </a:solidFill>
                <a:latin typeface="Palatino Linotype"/>
                <a:cs typeface="Palatino Linotype"/>
              </a:rPr>
              <a:t>toán: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683758" y="8570213"/>
            <a:ext cx="1167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3;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11;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06627" y="9298939"/>
            <a:ext cx="614680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mới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phải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dùng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phụ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h(x).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1227" y="622553"/>
            <a:ext cx="5474335" cy="139128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f(x).</a:t>
            </a:r>
            <a:endParaRPr sz="1200">
              <a:latin typeface="Palatino Linotype"/>
              <a:cs typeface="Palatino Linotype"/>
            </a:endParaRPr>
          </a:p>
          <a:p>
            <a:pPr algn="ctr" marL="721995">
              <a:lnSpc>
                <a:spcPct val="100000"/>
              </a:lnSpc>
              <a:spcBef>
                <a:spcPts val="72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10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giải</a:t>
            </a:r>
            <a:endParaRPr sz="1200">
              <a:latin typeface="Palatino Linotype"/>
              <a:cs typeface="Palatino Linotype"/>
            </a:endParaRPr>
          </a:p>
          <a:p>
            <a:pPr algn="ctr" marR="4107179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phụ:</a:t>
            </a:r>
            <a:endParaRPr sz="1200">
              <a:latin typeface="Palatino Linotype"/>
              <a:cs typeface="Palatino Linotype"/>
            </a:endParaRPr>
          </a:p>
          <a:p>
            <a:pPr algn="ctr" marR="48133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 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g(5)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62230">
              <a:lnSpc>
                <a:spcPct val="100000"/>
              </a:lnSpc>
              <a:spcBef>
                <a:spcPts val="720"/>
              </a:spcBef>
            </a:pPr>
            <a:r>
              <a:rPr dirty="0" sz="1200" spc="60">
                <a:latin typeface="Symbol"/>
                <a:cs typeface="Symbol"/>
              </a:rPr>
              <a:t>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20">
                <a:latin typeface="Palatino Linotype"/>
                <a:cs typeface="Palatino Linotype"/>
              </a:rPr>
              <a:t> trình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216797" y="2054846"/>
            <a:ext cx="10915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0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</a:t>
            </a:r>
            <a:r>
              <a:rPr dirty="0" sz="1400" spc="-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</a:t>
            </a:r>
            <a:r>
              <a:rPr dirty="0" sz="1400" spc="-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5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24315" y="2321277"/>
            <a:ext cx="15271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32051" sz="1950">
                <a:latin typeface="Symbol"/>
                <a:cs typeface="Symbol"/>
              </a:rPr>
              <a:t></a:t>
            </a:r>
            <a:r>
              <a:rPr dirty="0" baseline="32051" sz="1950" spc="3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0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11+</a:t>
            </a:r>
            <a:r>
              <a:rPr dirty="0" sz="1400" spc="-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9a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3b</a:t>
            </a:r>
            <a:r>
              <a:rPr dirty="0" sz="1400" spc="-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4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49715" y="2079550"/>
            <a:ext cx="1079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latin typeface="Symbol"/>
                <a:cs typeface="Symbol"/>
              </a:rPr>
              <a:t>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49715" y="2361825"/>
            <a:ext cx="1079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latin typeface="Symbol"/>
                <a:cs typeface="Symbol"/>
              </a:rPr>
              <a:t>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24315" y="2587712"/>
            <a:ext cx="15925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7777" sz="1950">
                <a:latin typeface="Symbol"/>
                <a:cs typeface="Symbol"/>
              </a:rPr>
              <a:t></a:t>
            </a:r>
            <a:r>
              <a:rPr dirty="0" sz="1400">
                <a:latin typeface="Times New Roman"/>
                <a:cs typeface="Times New Roman"/>
              </a:rPr>
              <a:t>0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27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25a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5b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4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6627" y="7378445"/>
            <a:ext cx="1049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25">
                <a:latin typeface="Palatino Linotype"/>
                <a:cs typeface="Palatino Linotype"/>
              </a:rPr>
              <a:t> hệ: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840316" y="7487285"/>
            <a:ext cx="1525905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0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2001+</a:t>
            </a:r>
            <a:r>
              <a:rPr dirty="0" sz="1400" spc="-114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2000.a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1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1227" y="2549965"/>
            <a:ext cx="6198235" cy="492188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80795">
              <a:lnSpc>
                <a:spcPct val="100000"/>
              </a:lnSpc>
              <a:spcBef>
                <a:spcPts val="844"/>
              </a:spcBef>
            </a:pPr>
            <a:r>
              <a:rPr dirty="0" sz="1300" spc="-50">
                <a:latin typeface="Symbol"/>
                <a:cs typeface="Symbol"/>
              </a:rPr>
              <a:t></a:t>
            </a:r>
            <a:endParaRPr sz="13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1;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-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f(x):</a:t>
            </a:r>
            <a:endParaRPr sz="1200">
              <a:latin typeface="Palatino Linotype"/>
              <a:cs typeface="Palatino Linotype"/>
            </a:endParaRPr>
          </a:p>
          <a:p>
            <a:pPr marL="38100" marR="32384" indent="457200">
              <a:lnSpc>
                <a:spcPct val="135000"/>
              </a:lnSpc>
              <a:spcBef>
                <a:spcPts val="200"/>
              </a:spcBef>
            </a:pP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 hết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 1);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3);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 5)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=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sz="700" spc="-25">
                <a:latin typeface="Palatino Linotype"/>
                <a:cs typeface="Palatino Linotype"/>
              </a:rPr>
              <a:t>0</a:t>
            </a:r>
            <a:r>
              <a:rPr dirty="0" sz="1200" spc="-25">
                <a:latin typeface="Palatino Linotype"/>
                <a:cs typeface="Palatino Linotype"/>
              </a:rPr>
              <a:t>)</a:t>
            </a:r>
            <a:endParaRPr sz="1200">
              <a:latin typeface="Palatino Linotype"/>
              <a:cs typeface="Palatino Linotype"/>
            </a:endParaRPr>
          </a:p>
          <a:p>
            <a:pPr marL="513715">
              <a:lnSpc>
                <a:spcPts val="1225"/>
              </a:lnSpc>
              <a:spcBef>
                <a:spcPts val="730"/>
              </a:spcBef>
            </a:pPr>
            <a:r>
              <a:rPr dirty="0" sz="1300" spc="50">
                <a:latin typeface="Symbol"/>
                <a:cs typeface="Symbol"/>
              </a:rPr>
              <a:t></a:t>
            </a:r>
            <a:r>
              <a:rPr dirty="0" sz="1300" spc="-6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</a:t>
            </a:r>
            <a:r>
              <a:rPr dirty="0" sz="1300" spc="-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(x)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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g(x)</a:t>
            </a:r>
            <a:r>
              <a:rPr dirty="0" sz="1300" spc="-70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</a:t>
            </a:r>
            <a:r>
              <a:rPr dirty="0" sz="1300" spc="-1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(</a:t>
            </a:r>
            <a:r>
              <a:rPr dirty="0" sz="1300">
                <a:latin typeface="Symbol"/>
                <a:cs typeface="Symbol"/>
              </a:rPr>
              <a:t></a:t>
            </a:r>
            <a:r>
              <a:rPr dirty="0" sz="1300">
                <a:latin typeface="Times New Roman"/>
                <a:cs typeface="Times New Roman"/>
              </a:rPr>
              <a:t>x</a:t>
            </a:r>
            <a:r>
              <a:rPr dirty="0" baseline="44444" sz="1125">
                <a:latin typeface="Times New Roman"/>
                <a:cs typeface="Times New Roman"/>
              </a:rPr>
              <a:t>2</a:t>
            </a:r>
            <a:r>
              <a:rPr dirty="0" baseline="44444" sz="1125" spc="300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</a:t>
            </a:r>
            <a:r>
              <a:rPr dirty="0" sz="1300" spc="-10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2)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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(x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</a:t>
            </a:r>
            <a:r>
              <a:rPr dirty="0" sz="1300">
                <a:latin typeface="Times New Roman"/>
                <a:cs typeface="Times New Roman"/>
              </a:rPr>
              <a:t>1)(x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</a:t>
            </a:r>
            <a:r>
              <a:rPr dirty="0" sz="1300" spc="-1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3)(x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</a:t>
            </a:r>
            <a:r>
              <a:rPr dirty="0" sz="1300" spc="-1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5)(x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</a:t>
            </a:r>
            <a:r>
              <a:rPr dirty="0" sz="1300" spc="-8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x</a:t>
            </a:r>
            <a:r>
              <a:rPr dirty="0" sz="1300" spc="3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)</a:t>
            </a:r>
            <a:r>
              <a:rPr dirty="0" sz="1300" spc="-65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</a:t>
            </a:r>
            <a:r>
              <a:rPr dirty="0" sz="1300" spc="-65">
                <a:latin typeface="Times New Roman"/>
                <a:cs typeface="Times New Roman"/>
              </a:rPr>
              <a:t> </a:t>
            </a:r>
            <a:r>
              <a:rPr dirty="0" sz="1300" spc="60">
                <a:latin typeface="Times New Roman"/>
                <a:cs typeface="Times New Roman"/>
              </a:rPr>
              <a:t>x</a:t>
            </a:r>
            <a:r>
              <a:rPr dirty="0" baseline="44444" sz="1125" spc="89">
                <a:latin typeface="Times New Roman"/>
                <a:cs typeface="Times New Roman"/>
              </a:rPr>
              <a:t>2</a:t>
            </a:r>
            <a:r>
              <a:rPr dirty="0" baseline="44444" sz="1125" spc="292">
                <a:latin typeface="Times New Roman"/>
                <a:cs typeface="Times New Roman"/>
              </a:rPr>
              <a:t> </a:t>
            </a:r>
            <a:r>
              <a:rPr dirty="0" sz="1300">
                <a:latin typeface="Symbol"/>
                <a:cs typeface="Symbol"/>
              </a:rPr>
              <a:t></a:t>
            </a:r>
            <a:r>
              <a:rPr dirty="0" sz="1300" spc="-90">
                <a:latin typeface="Times New Roman"/>
                <a:cs typeface="Times New Roman"/>
              </a:rPr>
              <a:t> </a:t>
            </a:r>
            <a:r>
              <a:rPr dirty="0" sz="1300" spc="-5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algn="ctr" marL="1926589">
              <a:lnSpc>
                <a:spcPts val="565"/>
              </a:lnSpc>
            </a:pPr>
            <a:r>
              <a:rPr dirty="0" sz="750" spc="-50">
                <a:latin typeface="Times New Roman"/>
                <a:cs typeface="Times New Roman"/>
              </a:rPr>
              <a:t>0</a:t>
            </a:r>
            <a:endParaRPr sz="75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được: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f(-</a:t>
            </a:r>
            <a:r>
              <a:rPr dirty="0" sz="1200">
                <a:latin typeface="Palatino Linotype"/>
                <a:cs typeface="Palatino Linotype"/>
              </a:rPr>
              <a:t>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7f(6)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=1112</a:t>
            </a:r>
            <a:endParaRPr sz="1200">
              <a:latin typeface="Palatino Linotype"/>
              <a:cs typeface="Palatino Linotype"/>
            </a:endParaRPr>
          </a:p>
          <a:p>
            <a:pPr marL="38100" marR="30480">
              <a:lnSpc>
                <a:spcPct val="135000"/>
              </a:lnSpc>
              <a:spcBef>
                <a:spcPts val="19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10.</a:t>
            </a:r>
            <a:r>
              <a:rPr dirty="0" sz="1200" spc="28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thoả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f(1999)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2000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f(2000)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2001.</a:t>
            </a:r>
            <a:endParaRPr sz="1200">
              <a:latin typeface="Palatino Linotype"/>
              <a:cs typeface="Palatino Linotype"/>
            </a:endParaRPr>
          </a:p>
          <a:p>
            <a:pPr marL="4191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Chứng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minh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f(2001)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f(1998)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hợp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số.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Phân</a:t>
            </a:r>
            <a:r>
              <a:rPr dirty="0" sz="1200" spc="-25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tích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006FC0"/>
                </a:solidFill>
                <a:latin typeface="Palatino Linotype"/>
                <a:cs typeface="Palatino Linotype"/>
              </a:rPr>
              <a:t>toán:</a:t>
            </a:r>
            <a:endParaRPr sz="1200">
              <a:latin typeface="Palatino Linotype"/>
              <a:cs typeface="Palatino Linotype"/>
            </a:endParaRPr>
          </a:p>
          <a:p>
            <a:pPr marL="38100" marR="32384" indent="90805">
              <a:lnSpc>
                <a:spcPct val="135000"/>
              </a:lnSpc>
              <a:spcBef>
                <a:spcPts val="180"/>
              </a:spcBef>
              <a:buChar char="-"/>
              <a:tabLst>
                <a:tab pos="128905" algn="l"/>
              </a:tabLst>
            </a:pP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mới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phải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dùng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phụ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h(x).</a:t>
            </a:r>
            <a:endParaRPr sz="1200">
              <a:latin typeface="Palatino Linotype"/>
              <a:cs typeface="Palatino Linotype"/>
            </a:endParaRPr>
          </a:p>
          <a:p>
            <a:pPr marL="125730" indent="-87630">
              <a:lnSpc>
                <a:spcPct val="100000"/>
              </a:lnSpc>
              <a:spcBef>
                <a:spcPts val="710"/>
              </a:spcBef>
              <a:buChar char="-"/>
              <a:tabLst>
                <a:tab pos="125730" algn="l"/>
              </a:tabLst>
            </a:pP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 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hơn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f(x).</a:t>
            </a:r>
            <a:endParaRPr sz="1200">
              <a:latin typeface="Palatino Linotype"/>
              <a:cs typeface="Palatino Linotype"/>
            </a:endParaRPr>
          </a:p>
          <a:p>
            <a:pPr marL="2833370">
              <a:lnSpc>
                <a:spcPct val="100000"/>
              </a:lnSpc>
              <a:spcBef>
                <a:spcPts val="71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10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giải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phụ.</a:t>
            </a:r>
            <a:endParaRPr sz="1200">
              <a:latin typeface="Palatino Linotype"/>
              <a:cs typeface="Palatino Linotype"/>
            </a:endParaRPr>
          </a:p>
          <a:p>
            <a:pPr marL="419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b.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g(1999)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g(2000)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đương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là</a:t>
            </a:r>
            <a:endParaRPr sz="1200">
              <a:latin typeface="Palatino Linotype"/>
              <a:cs typeface="Palatino Linotype"/>
            </a:endParaRPr>
          </a:p>
          <a:p>
            <a:pPr marL="1087120">
              <a:lnSpc>
                <a:spcPct val="100000"/>
              </a:lnSpc>
              <a:spcBef>
                <a:spcPts val="509"/>
              </a:spcBef>
            </a:pPr>
            <a:r>
              <a:rPr dirty="0" sz="1300">
                <a:latin typeface="Symbol"/>
                <a:cs typeface="Symbol"/>
              </a:rPr>
              <a:t></a:t>
            </a:r>
            <a:r>
              <a:rPr dirty="0" baseline="3968" sz="2100">
                <a:latin typeface="Times New Roman"/>
                <a:cs typeface="Times New Roman"/>
              </a:rPr>
              <a:t>0</a:t>
            </a:r>
            <a:r>
              <a:rPr dirty="0" baseline="3968" sz="2100" spc="-82">
                <a:latin typeface="Times New Roman"/>
                <a:cs typeface="Times New Roman"/>
              </a:rPr>
              <a:t> </a:t>
            </a:r>
            <a:r>
              <a:rPr dirty="0" baseline="3968" sz="2100">
                <a:latin typeface="Times New Roman"/>
                <a:cs typeface="Times New Roman"/>
              </a:rPr>
              <a:t>=</a:t>
            </a:r>
            <a:r>
              <a:rPr dirty="0" baseline="3968" sz="2100" spc="-7">
                <a:latin typeface="Times New Roman"/>
                <a:cs typeface="Times New Roman"/>
              </a:rPr>
              <a:t> </a:t>
            </a:r>
            <a:r>
              <a:rPr dirty="0" baseline="3968" sz="2100" spc="-15">
                <a:latin typeface="Times New Roman"/>
                <a:cs typeface="Times New Roman"/>
              </a:rPr>
              <a:t>2000</a:t>
            </a:r>
            <a:r>
              <a:rPr dirty="0" baseline="3968" sz="2100" spc="-202">
                <a:latin typeface="Times New Roman"/>
                <a:cs typeface="Times New Roman"/>
              </a:rPr>
              <a:t> </a:t>
            </a:r>
            <a:r>
              <a:rPr dirty="0" baseline="3968" sz="2100">
                <a:latin typeface="Times New Roman"/>
                <a:cs typeface="Times New Roman"/>
              </a:rPr>
              <a:t>+1999.a</a:t>
            </a:r>
            <a:r>
              <a:rPr dirty="0" baseline="3968" sz="2100" spc="-67">
                <a:latin typeface="Times New Roman"/>
                <a:cs typeface="Times New Roman"/>
              </a:rPr>
              <a:t> </a:t>
            </a:r>
            <a:r>
              <a:rPr dirty="0" baseline="3968" sz="2100">
                <a:latin typeface="Times New Roman"/>
                <a:cs typeface="Times New Roman"/>
              </a:rPr>
              <a:t>+</a:t>
            </a:r>
            <a:r>
              <a:rPr dirty="0" baseline="3968" sz="2100" spc="-172">
                <a:latin typeface="Times New Roman"/>
                <a:cs typeface="Times New Roman"/>
              </a:rPr>
              <a:t> </a:t>
            </a:r>
            <a:r>
              <a:rPr dirty="0" baseline="3968" sz="2100" spc="-75">
                <a:latin typeface="Times New Roman"/>
                <a:cs typeface="Times New Roman"/>
              </a:rPr>
              <a:t>b</a:t>
            </a:r>
            <a:endParaRPr baseline="3968" sz="21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756095" y="7391756"/>
            <a:ext cx="108585" cy="372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360"/>
              </a:lnSpc>
              <a:spcBef>
                <a:spcPts val="105"/>
              </a:spcBef>
            </a:pPr>
            <a:r>
              <a:rPr dirty="0" sz="1300" spc="-50">
                <a:latin typeface="Symbol"/>
                <a:cs typeface="Symbol"/>
              </a:rPr>
              <a:t></a:t>
            </a:r>
            <a:endParaRPr sz="1300">
              <a:latin typeface="Symbol"/>
              <a:cs typeface="Symbol"/>
            </a:endParaRPr>
          </a:p>
          <a:p>
            <a:pPr marL="12700">
              <a:lnSpc>
                <a:spcPts val="1360"/>
              </a:lnSpc>
            </a:pPr>
            <a:r>
              <a:rPr dirty="0" sz="1300" spc="-50">
                <a:latin typeface="Symbol"/>
                <a:cs typeface="Symbol"/>
              </a:rPr>
              <a:t></a:t>
            </a:r>
            <a:endParaRPr sz="1300">
              <a:latin typeface="Symbol"/>
              <a:cs typeface="Symbo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1227" y="7735061"/>
            <a:ext cx="6194425" cy="190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 marR="4032250">
              <a:lnSpc>
                <a:spcPct val="1483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f(x):</a:t>
            </a:r>
            <a:endParaRPr sz="1200">
              <a:latin typeface="Palatino Linotype"/>
              <a:cs typeface="Palatino Linotype"/>
            </a:endParaRPr>
          </a:p>
          <a:p>
            <a:pPr marL="38100" marR="30480" indent="342900">
              <a:lnSpc>
                <a:spcPct val="133800"/>
              </a:lnSpc>
              <a:spcBef>
                <a:spcPts val="229"/>
              </a:spcBef>
            </a:pPr>
            <a:r>
              <a:rPr dirty="0" sz="1200">
                <a:latin typeface="Palatino Linotype"/>
                <a:cs typeface="Palatino Linotype"/>
              </a:rPr>
              <a:t>Giả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sử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50">
                <a:latin typeface="Palatino Linotype"/>
                <a:cs typeface="Palatino Linotype"/>
              </a:rPr>
              <a:t>k</a:t>
            </a:r>
            <a:r>
              <a:rPr dirty="0" sz="1200" spc="50">
                <a:latin typeface="Symbol"/>
                <a:cs typeface="Symbol"/>
              </a:rPr>
              <a:t></a:t>
            </a:r>
            <a:r>
              <a:rPr dirty="0" sz="1200" spc="50">
                <a:latin typeface="Palatino Linotype"/>
                <a:cs typeface="Palatino Linotype"/>
              </a:rPr>
              <a:t>Z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f(x).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bằng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bằng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1999);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2000)</a:t>
            </a:r>
            <a:r>
              <a:rPr dirty="0" sz="1200" spc="-20">
                <a:latin typeface="Palatino Linotype"/>
                <a:cs typeface="Palatino Linotype"/>
              </a:rPr>
              <a:t> nên:</a:t>
            </a:r>
            <a:endParaRPr sz="1200">
              <a:latin typeface="Palatino Linotype"/>
              <a:cs typeface="Palatino Linotype"/>
            </a:endParaRPr>
          </a:p>
          <a:p>
            <a:pPr marL="3810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1999)(x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2000)(x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);</a:t>
            </a:r>
            <a:r>
              <a:rPr dirty="0" sz="1200" spc="2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(–x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1)</a:t>
            </a:r>
            <a:endParaRPr sz="1200">
              <a:latin typeface="Palatino Linotype"/>
              <a:cs typeface="Palatino Linotype"/>
            </a:endParaRPr>
          </a:p>
          <a:p>
            <a:pPr marL="209550">
              <a:lnSpc>
                <a:spcPct val="100000"/>
              </a:lnSpc>
              <a:spcBef>
                <a:spcPts val="710"/>
              </a:spcBef>
            </a:pPr>
            <a:r>
              <a:rPr dirty="0" sz="1150" spc="55">
                <a:latin typeface="Symbol"/>
                <a:cs typeface="Symbol"/>
              </a:rPr>
              <a:t></a:t>
            </a:r>
            <a:r>
              <a:rPr dirty="0" sz="1150" spc="-1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1999)(x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2000)(x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70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88695" y="33934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34490" y="5043763"/>
            <a:ext cx="652145" cy="2413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55">
                <a:latin typeface="Symbol"/>
                <a:cs typeface="Symbol"/>
              </a:rPr>
              <a:t>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 spc="10" i="1">
                <a:latin typeface="Times New Roman"/>
                <a:cs typeface="Times New Roman"/>
              </a:rPr>
              <a:t>a</a:t>
            </a:r>
            <a:r>
              <a:rPr dirty="0" sz="1400" spc="10">
                <a:latin typeface="Times New Roman"/>
                <a:cs typeface="Times New Roman"/>
              </a:rPr>
              <a:t>,</a:t>
            </a:r>
            <a:r>
              <a:rPr dirty="0" sz="1400" spc="10" i="1">
                <a:latin typeface="Times New Roman"/>
                <a:cs typeface="Times New Roman"/>
              </a:rPr>
              <a:t>b</a:t>
            </a:r>
            <a:r>
              <a:rPr dirty="0" sz="1400" spc="10">
                <a:latin typeface="Times New Roman"/>
                <a:cs typeface="Times New Roman"/>
              </a:rPr>
              <a:t>,</a:t>
            </a:r>
            <a:r>
              <a:rPr dirty="0" sz="1400" spc="-175">
                <a:latin typeface="Times New Roman"/>
                <a:cs typeface="Times New Roman"/>
              </a:rPr>
              <a:t> </a:t>
            </a:r>
            <a:r>
              <a:rPr dirty="0" sz="1400" spc="-50" i="1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429258" y="5081142"/>
            <a:ext cx="11703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hệ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8527" y="624077"/>
            <a:ext cx="6219825" cy="438467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81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f(2001)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1 .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2k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</a:t>
            </a:r>
            <a:r>
              <a:rPr dirty="0" sz="1200" spc="-20">
                <a:latin typeface="Palatino Linotype"/>
                <a:cs typeface="Palatino Linotype"/>
              </a:rPr>
              <a:t>2002</a:t>
            </a:r>
            <a:endParaRPr sz="1200">
              <a:latin typeface="Palatino Linotype"/>
              <a:cs typeface="Palatino Linotype"/>
            </a:endParaRPr>
          </a:p>
          <a:p>
            <a:pPr marL="3937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f(1998)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(-</a:t>
            </a:r>
            <a:r>
              <a:rPr dirty="0" sz="1200">
                <a:latin typeface="Palatino Linotype"/>
                <a:cs typeface="Palatino Linotype"/>
              </a:rPr>
              <a:t>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1998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+ 1999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2k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 1998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1999</a:t>
            </a:r>
            <a:endParaRPr sz="1200">
              <a:latin typeface="Palatino Linotype"/>
              <a:cs typeface="Palatino Linotype"/>
            </a:endParaRPr>
          </a:p>
          <a:p>
            <a:pPr marL="565150">
              <a:lnSpc>
                <a:spcPct val="100000"/>
              </a:lnSpc>
              <a:spcBef>
                <a:spcPts val="715"/>
              </a:spcBef>
            </a:pPr>
            <a:r>
              <a:rPr dirty="0" sz="1200">
                <a:latin typeface="Symbol"/>
                <a:cs typeface="Symbol"/>
              </a:rPr>
              <a:t></a:t>
            </a:r>
            <a:r>
              <a:rPr dirty="0" sz="1200" spc="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f(2001)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f(1998)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2k 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2k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1998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1999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685"/>
              </a:spcBef>
            </a:pP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f(2001)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f(1998)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3(2k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1)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Vì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3(2k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hợp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f(2001)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f(1998)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 hợp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số.</a:t>
            </a:r>
            <a:endParaRPr sz="1200">
              <a:latin typeface="Palatino Linotype"/>
              <a:cs typeface="Palatino Linotype"/>
            </a:endParaRPr>
          </a:p>
          <a:p>
            <a:pPr marL="50800" marR="312420">
              <a:lnSpc>
                <a:spcPts val="2160"/>
              </a:lnSpc>
              <a:spcBef>
                <a:spcPts val="15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11.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và </a:t>
            </a:r>
            <a:r>
              <a:rPr dirty="0" sz="1200" spc="-10">
                <a:latin typeface="Palatino Linotype"/>
                <a:cs typeface="Palatino Linotype"/>
              </a:rPr>
              <a:t>f(-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 spc="-25">
                <a:latin typeface="Palatino Linotype"/>
                <a:cs typeface="Palatino Linotype"/>
              </a:rPr>
              <a:t>18.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520"/>
              </a:spcBef>
            </a:pP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Phân</a:t>
            </a:r>
            <a:r>
              <a:rPr dirty="0" sz="1200" spc="-25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tích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 i="1">
                <a:solidFill>
                  <a:srgbClr val="006FC0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-10" b="1" i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006FC0"/>
                </a:solidFill>
                <a:latin typeface="Palatino Linotype"/>
                <a:cs typeface="Palatino Linotype"/>
              </a:rPr>
              <a:t>toán:</a:t>
            </a:r>
            <a:endParaRPr sz="1200">
              <a:latin typeface="Palatino Linotype"/>
              <a:cs typeface="Palatino Linotype"/>
            </a:endParaRPr>
          </a:p>
          <a:p>
            <a:pPr marL="50800" marR="43180">
              <a:lnSpc>
                <a:spcPct val="135200"/>
              </a:lnSpc>
              <a:spcBef>
                <a:spcPts val="185"/>
              </a:spcBef>
            </a:pP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1,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2,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–3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đều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6,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lý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Bơ</a:t>
            </a:r>
            <a:r>
              <a:rPr dirty="0" sz="1200" spc="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du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=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6.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phụ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2.</a:t>
            </a:r>
            <a:endParaRPr sz="1200">
              <a:latin typeface="Palatino Linotype"/>
              <a:cs typeface="Palatino Linotype"/>
            </a:endParaRPr>
          </a:p>
          <a:p>
            <a:pPr marL="276225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phụ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thuộc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tham</a:t>
            </a:r>
            <a:r>
              <a:rPr dirty="0" sz="1200" spc="-25">
                <a:latin typeface="Palatino Linotype"/>
                <a:cs typeface="Palatino Linotype"/>
              </a:rPr>
              <a:t> số.</a:t>
            </a:r>
            <a:endParaRPr sz="1200">
              <a:latin typeface="Palatino Linotype"/>
              <a:cs typeface="Palatino Linotype"/>
            </a:endParaRPr>
          </a:p>
          <a:p>
            <a:pPr marL="2846070">
              <a:lnSpc>
                <a:spcPct val="100000"/>
              </a:lnSpc>
              <a:spcBef>
                <a:spcPts val="72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10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giải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phụ: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lý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Bơdu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6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g(3)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1981200">
              <a:lnSpc>
                <a:spcPct val="100000"/>
              </a:lnSpc>
              <a:spcBef>
                <a:spcPts val="615"/>
              </a:spcBef>
            </a:pPr>
            <a:r>
              <a:rPr dirty="0" baseline="-3831" sz="2175">
                <a:latin typeface="Symbol"/>
                <a:cs typeface="Symbol"/>
              </a:rPr>
              <a:t></a:t>
            </a:r>
            <a:r>
              <a:rPr dirty="0" baseline="-3831" sz="2175" spc="562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0</a:t>
            </a:r>
            <a:r>
              <a:rPr dirty="0" sz="1450" spc="-75">
                <a:latin typeface="Times New Roman"/>
                <a:cs typeface="Times New Roman"/>
              </a:rPr>
              <a:t> </a:t>
            </a:r>
            <a:r>
              <a:rPr dirty="0" sz="1450">
                <a:latin typeface="Symbol"/>
                <a:cs typeface="Symbol"/>
              </a:rPr>
              <a:t></a:t>
            </a:r>
            <a:r>
              <a:rPr dirty="0" sz="1450" spc="-80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6</a:t>
            </a:r>
            <a:r>
              <a:rPr dirty="0" sz="1450" spc="-114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Symbol"/>
                <a:cs typeface="Symbol"/>
              </a:rPr>
              <a:t></a:t>
            </a:r>
            <a:r>
              <a:rPr dirty="0" sz="1450" spc="-9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Symbol"/>
                <a:cs typeface="Symbol"/>
              </a:rPr>
              <a:t></a:t>
            </a:r>
            <a:r>
              <a:rPr dirty="0" sz="1450" spc="-7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b</a:t>
            </a:r>
            <a:r>
              <a:rPr dirty="0" sz="1450" spc="-90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Symbol"/>
                <a:cs typeface="Symbol"/>
              </a:rPr>
              <a:t></a:t>
            </a:r>
            <a:r>
              <a:rPr dirty="0" sz="1450" spc="-95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637155" y="4932019"/>
            <a:ext cx="116839" cy="245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-50">
                <a:latin typeface="Symbol"/>
                <a:cs typeface="Symbol"/>
              </a:rPr>
              <a:t>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29365" y="5038123"/>
            <a:ext cx="1346200" cy="245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>
                <a:latin typeface="Times New Roman"/>
                <a:cs typeface="Times New Roman"/>
              </a:rPr>
              <a:t>0</a:t>
            </a:r>
            <a:r>
              <a:rPr dirty="0" sz="1450" spc="-85">
                <a:latin typeface="Times New Roman"/>
                <a:cs typeface="Times New Roman"/>
              </a:rPr>
              <a:t> </a:t>
            </a:r>
            <a:r>
              <a:rPr dirty="0" sz="1450">
                <a:latin typeface="Symbol"/>
                <a:cs typeface="Symbol"/>
              </a:rPr>
              <a:t></a:t>
            </a:r>
            <a:r>
              <a:rPr dirty="0" sz="1450" spc="-8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6</a:t>
            </a:r>
            <a:r>
              <a:rPr dirty="0" sz="1450" spc="-110">
                <a:latin typeface="Times New Roman"/>
                <a:cs typeface="Times New Roman"/>
              </a:rPr>
              <a:t> </a:t>
            </a:r>
            <a:r>
              <a:rPr dirty="0" sz="1450">
                <a:latin typeface="Symbol"/>
                <a:cs typeface="Symbol"/>
              </a:rPr>
              <a:t></a:t>
            </a:r>
            <a:r>
              <a:rPr dirty="0" sz="1450" spc="-8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4a</a:t>
            </a:r>
            <a:r>
              <a:rPr dirty="0" sz="1450" spc="-30">
                <a:latin typeface="Times New Roman"/>
                <a:cs typeface="Times New Roman"/>
              </a:rPr>
              <a:t> </a:t>
            </a:r>
            <a:r>
              <a:rPr dirty="0" sz="1450">
                <a:latin typeface="Symbol"/>
                <a:cs typeface="Symbol"/>
              </a:rPr>
              <a:t></a:t>
            </a:r>
            <a:r>
              <a:rPr dirty="0" sz="1450" spc="-8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2b</a:t>
            </a:r>
            <a:r>
              <a:rPr dirty="0" sz="1450" spc="-90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Symbol"/>
                <a:cs typeface="Symbol"/>
              </a:rPr>
              <a:t></a:t>
            </a:r>
            <a:r>
              <a:rPr dirty="0" sz="1450" spc="-100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37155" y="5069920"/>
            <a:ext cx="116839" cy="245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-50">
                <a:latin typeface="Symbol"/>
                <a:cs typeface="Symbol"/>
              </a:rPr>
              <a:t>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11755" y="5313914"/>
            <a:ext cx="1477010" cy="245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21072" sz="2175">
                <a:latin typeface="Symbol"/>
                <a:cs typeface="Symbol"/>
              </a:rPr>
              <a:t></a:t>
            </a:r>
            <a:r>
              <a:rPr dirty="0" sz="1450">
                <a:latin typeface="Times New Roman"/>
                <a:cs typeface="Times New Roman"/>
              </a:rPr>
              <a:t>0</a:t>
            </a:r>
            <a:r>
              <a:rPr dirty="0" sz="1450" spc="-10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Symbol"/>
                <a:cs typeface="Symbol"/>
              </a:rPr>
              <a:t></a:t>
            </a:r>
            <a:r>
              <a:rPr dirty="0" sz="1450" spc="-80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6</a:t>
            </a:r>
            <a:r>
              <a:rPr dirty="0" sz="1450" spc="-100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Symbol"/>
                <a:cs typeface="Symbol"/>
              </a:rPr>
              <a:t></a:t>
            </a:r>
            <a:r>
              <a:rPr dirty="0" sz="1450" spc="-10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9a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Symbol"/>
                <a:cs typeface="Symbol"/>
              </a:rPr>
              <a:t></a:t>
            </a:r>
            <a:r>
              <a:rPr dirty="0" sz="1450" spc="-100">
                <a:latin typeface="Times New Roman"/>
                <a:cs typeface="Times New Roman"/>
              </a:rPr>
              <a:t> </a:t>
            </a:r>
            <a:r>
              <a:rPr dirty="0" sz="1450" spc="-30">
                <a:latin typeface="Times New Roman"/>
                <a:cs typeface="Times New Roman"/>
              </a:rPr>
              <a:t>3b</a:t>
            </a:r>
            <a:r>
              <a:rPr dirty="0" sz="1450" spc="-7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Symbol"/>
                <a:cs typeface="Symbol"/>
              </a:rPr>
              <a:t></a:t>
            </a:r>
            <a:r>
              <a:rPr dirty="0" sz="1450" spc="-80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1227" y="5261033"/>
            <a:ext cx="5209540" cy="284734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algn="ctr" marR="1172845">
              <a:lnSpc>
                <a:spcPct val="100000"/>
              </a:lnSpc>
              <a:spcBef>
                <a:spcPts val="885"/>
              </a:spcBef>
            </a:pPr>
            <a:r>
              <a:rPr dirty="0" sz="1450" spc="-50">
                <a:latin typeface="Symbol"/>
                <a:cs typeface="Symbol"/>
              </a:rPr>
              <a:t></a:t>
            </a:r>
            <a:endParaRPr sz="1450">
              <a:latin typeface="Symbol"/>
              <a:cs typeface="Symbol"/>
            </a:endParaRPr>
          </a:p>
          <a:p>
            <a:pPr marL="609600" marR="1657350" indent="-572135">
              <a:lnSpc>
                <a:spcPts val="2150"/>
              </a:lnSpc>
              <a:spcBef>
                <a:spcPts val="135"/>
              </a:spcBef>
            </a:pP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6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g(2)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505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f(x):</a:t>
            </a:r>
            <a:endParaRPr sz="1200">
              <a:latin typeface="Palatino Linotype"/>
              <a:cs typeface="Palatino Linotype"/>
            </a:endParaRPr>
          </a:p>
          <a:p>
            <a:pPr marL="266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 nên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1); 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2);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3)</a:t>
            </a:r>
            <a:endParaRPr sz="1200">
              <a:latin typeface="Palatino Linotype"/>
              <a:cs typeface="Palatino Linotype"/>
            </a:endParaRPr>
          </a:p>
          <a:p>
            <a:pPr marL="55244">
              <a:lnSpc>
                <a:spcPct val="100000"/>
              </a:lnSpc>
              <a:spcBef>
                <a:spcPts val="484"/>
              </a:spcBef>
            </a:pPr>
            <a:r>
              <a:rPr dirty="0" sz="1400">
                <a:latin typeface="Symbol"/>
                <a:cs typeface="Symbol"/>
              </a:rPr>
              <a:t></a:t>
            </a:r>
            <a:r>
              <a:rPr dirty="0" sz="1400" spc="-1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g(x)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n(x</a:t>
            </a:r>
            <a:r>
              <a:rPr dirty="0" sz="1400" spc="-10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-</a:t>
            </a:r>
            <a:r>
              <a:rPr dirty="0" sz="1400" spc="-10">
                <a:latin typeface="Times New Roman"/>
                <a:cs typeface="Times New Roman"/>
              </a:rPr>
              <a:t>1)(x</a:t>
            </a:r>
            <a:r>
              <a:rPr dirty="0" sz="1400" spc="-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1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2)(x</a:t>
            </a:r>
            <a:r>
              <a:rPr dirty="0" sz="1400" spc="-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3)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 hệ số của 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8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 thức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f(x)).</a:t>
            </a:r>
            <a:endParaRPr sz="1200">
              <a:latin typeface="Palatino Linotype"/>
              <a:cs typeface="Palatino Linotype"/>
            </a:endParaRPr>
          </a:p>
          <a:p>
            <a:pPr marL="55880">
              <a:lnSpc>
                <a:spcPct val="100000"/>
              </a:lnSpc>
              <a:spcBef>
                <a:spcPts val="655"/>
              </a:spcBef>
            </a:pPr>
            <a:r>
              <a:rPr dirty="0" sz="1400" spc="65">
                <a:latin typeface="Symbol"/>
                <a:cs typeface="Symbol"/>
              </a:rPr>
              <a:t></a:t>
            </a:r>
            <a:r>
              <a:rPr dirty="0" sz="1400" spc="-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f(x)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=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n(x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90">
                <a:latin typeface="Times New Roman"/>
                <a:cs typeface="Times New Roman"/>
              </a:rPr>
              <a:t>-</a:t>
            </a:r>
            <a:r>
              <a:rPr dirty="0" sz="1400">
                <a:latin typeface="Times New Roman"/>
                <a:cs typeface="Times New Roman"/>
              </a:rPr>
              <a:t>1)(x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2)(x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3)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+</a:t>
            </a:r>
            <a:r>
              <a:rPr dirty="0" sz="1400" spc="-12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dirty="0" sz="1200">
                <a:latin typeface="Palatino Linotype"/>
                <a:cs typeface="Palatino Linotype"/>
              </a:rPr>
              <a:t>Mặt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f(-</a:t>
            </a:r>
            <a:r>
              <a:rPr dirty="0" sz="1200">
                <a:latin typeface="Palatino Linotype"/>
                <a:cs typeface="Palatino Linotype"/>
              </a:rPr>
              <a:t>1)=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18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350" spc="105">
                <a:latin typeface="Symbol"/>
                <a:cs typeface="Symbol"/>
              </a:rPr>
              <a:t></a:t>
            </a:r>
            <a:r>
              <a:rPr dirty="0" sz="135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350" spc="105">
                <a:latin typeface="Symbol"/>
                <a:cs typeface="Symbol"/>
              </a:rPr>
              <a:t></a:t>
            </a:r>
            <a:r>
              <a:rPr dirty="0" sz="135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11x.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Ví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dụ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12.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=10;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12;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=1</a:t>
            </a:r>
            <a:endParaRPr sz="1200">
              <a:latin typeface="Palatino Linotype"/>
              <a:cs typeface="Palatino Linotype"/>
            </a:endParaRPr>
          </a:p>
          <a:p>
            <a:pPr algn="ctr" marL="986790">
              <a:lnSpc>
                <a:spcPct val="100000"/>
              </a:lnSpc>
              <a:spcBef>
                <a:spcPts val="730"/>
              </a:spcBef>
            </a:pPr>
            <a:r>
              <a:rPr dirty="0" sz="1200" b="1" i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10" b="1" i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 i="1">
                <a:solidFill>
                  <a:srgbClr val="FF0000"/>
                </a:solidFill>
                <a:latin typeface="Palatino Linotype"/>
                <a:cs typeface="Palatino Linotype"/>
              </a:rPr>
              <a:t>giải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1227" y="8350757"/>
            <a:ext cx="3602354" cy="57150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dirty="0" sz="1200" b="1">
                <a:latin typeface="Palatino Linotype"/>
                <a:cs typeface="Palatino Linotype"/>
              </a:rPr>
              <a:t>Cách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1: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Đã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giải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ở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dạng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Palatino Linotype"/>
                <a:cs typeface="Palatino Linotype"/>
              </a:rPr>
              <a:t>Cách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2: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+Tìm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phụ: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+ax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+bx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c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05662" y="9492254"/>
            <a:ext cx="10160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05662" y="9247110"/>
            <a:ext cx="10160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280262" y="9450683"/>
            <a:ext cx="137096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>
                <a:latin typeface="Times New Roman"/>
                <a:cs typeface="Times New Roman"/>
              </a:rPr>
              <a:t>0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4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Symbol"/>
                <a:cs typeface="Symbol"/>
              </a:rPr>
              <a:t></a:t>
            </a:r>
            <a:r>
              <a:rPr dirty="0" sz="1200" spc="-20">
                <a:latin typeface="Times New Roman"/>
                <a:cs typeface="Times New Roman"/>
              </a:rPr>
              <a:t>2</a:t>
            </a:r>
            <a:r>
              <a:rPr dirty="0" sz="1200" spc="-20" i="1">
                <a:latin typeface="Times New Roman"/>
                <a:cs typeface="Times New Roman"/>
              </a:rPr>
              <a:t>b</a:t>
            </a:r>
            <a:r>
              <a:rPr dirty="0" sz="1200" spc="-6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38732" y="9217065"/>
            <a:ext cx="54140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g(0)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50">
                <a:latin typeface="Symbol"/>
                <a:cs typeface="Symbol"/>
              </a:rPr>
              <a:t></a:t>
            </a:r>
            <a:r>
              <a:rPr dirty="0" sz="125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190">
                <a:latin typeface="Palatino Linotype"/>
                <a:cs typeface="Palatino Linotype"/>
              </a:rPr>
              <a:t> </a:t>
            </a:r>
            <a:r>
              <a:rPr dirty="0" baseline="32407" sz="1800">
                <a:latin typeface="Symbol"/>
                <a:cs typeface="Symbol"/>
              </a:rPr>
              <a:t></a:t>
            </a:r>
            <a:r>
              <a:rPr dirty="0" baseline="32407" sz="1800" spc="607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12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5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 spc="-7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50" i="1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305662" y="9002262"/>
            <a:ext cx="99949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1955" algn="l"/>
              </a:tabLst>
            </a:pPr>
            <a:r>
              <a:rPr dirty="0" sz="1200" spc="-50">
                <a:latin typeface="Symbol"/>
                <a:cs typeface="Symbol"/>
              </a:rPr>
              <a:t>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baseline="4629" sz="1800">
                <a:latin typeface="Times New Roman"/>
                <a:cs typeface="Times New Roman"/>
              </a:rPr>
              <a:t>0</a:t>
            </a:r>
            <a:r>
              <a:rPr dirty="0" baseline="4629" sz="1800" spc="-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79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10</a:t>
            </a:r>
            <a:r>
              <a:rPr dirty="0" baseline="4629" sz="1800" spc="-12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89">
                <a:latin typeface="Times New Roman"/>
                <a:cs typeface="Times New Roman"/>
              </a:rPr>
              <a:t> </a:t>
            </a:r>
            <a:r>
              <a:rPr dirty="0" baseline="4629" sz="1800" spc="-75" i="1">
                <a:latin typeface="Times New Roman"/>
                <a:cs typeface="Times New Roman"/>
              </a:rPr>
              <a:t>c</a:t>
            </a:r>
            <a:endParaRPr baseline="4629"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1227" y="624077"/>
            <a:ext cx="5128260" cy="193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3400" marR="2390140">
              <a:lnSpc>
                <a:spcPct val="1492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5, b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7,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 spc="-25">
                <a:latin typeface="Palatino Linotype"/>
                <a:cs typeface="Palatino Linotype"/>
              </a:rPr>
              <a:t>10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7x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10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g(1) 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27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f(x)</a:t>
            </a:r>
            <a:endParaRPr sz="1200">
              <a:latin typeface="Palatino Linotype"/>
              <a:cs typeface="Palatino Linotype"/>
            </a:endParaRPr>
          </a:p>
          <a:p>
            <a:pPr marL="533400" marR="30480">
              <a:lnSpc>
                <a:spcPct val="148300"/>
              </a:lnSpc>
              <a:spcBef>
                <a:spcPts val="15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 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2 </a:t>
            </a:r>
            <a:r>
              <a:rPr dirty="0" sz="1200">
                <a:latin typeface="Palatino Linotype"/>
                <a:cs typeface="Palatino Linotype"/>
              </a:rPr>
              <a:t>Gọi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mx(x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2)</a:t>
            </a:r>
            <a:endParaRPr sz="1200">
              <a:latin typeface="Palatino Linotype"/>
              <a:cs typeface="Palatino Linotype"/>
            </a:endParaRPr>
          </a:p>
          <a:p>
            <a:pPr marL="56515">
              <a:lnSpc>
                <a:spcPct val="100000"/>
              </a:lnSpc>
              <a:spcBef>
                <a:spcPts val="750"/>
              </a:spcBef>
            </a:pPr>
            <a:r>
              <a:rPr dirty="0" sz="1200">
                <a:latin typeface="Symbol"/>
                <a:cs typeface="Symbol"/>
              </a:rPr>
              <a:t>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f(x)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mx(x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Times New Roman"/>
                <a:cs typeface="Times New Roman"/>
              </a:rPr>
              <a:t>1)(x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2)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5x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8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7x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>
                <a:latin typeface="Times New Roman"/>
                <a:cs typeface="Times New Roman"/>
              </a:rPr>
              <a:t>10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383119" y="2851165"/>
            <a:ext cx="96520" cy="0"/>
          </a:xfrm>
          <a:custGeom>
            <a:avLst/>
            <a:gdLst/>
            <a:ahLst/>
            <a:cxnLst/>
            <a:rect l="l" t="t" r="r" b="b"/>
            <a:pathLst>
              <a:path w="96519" h="0">
                <a:moveTo>
                  <a:pt x="0" y="0"/>
                </a:moveTo>
                <a:lnTo>
                  <a:pt x="95908" y="0"/>
                </a:lnTo>
              </a:path>
            </a:pathLst>
          </a:custGeom>
          <a:ln w="65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381141" y="2843228"/>
            <a:ext cx="101600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1227" y="2714970"/>
            <a:ext cx="182562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Mặt khác;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0">
                <a:latin typeface="Palatino Linotype"/>
                <a:cs typeface="Palatino Linotype"/>
              </a:rPr>
              <a:t> </a:t>
            </a:r>
            <a:r>
              <a:rPr dirty="0" sz="1250">
                <a:latin typeface="Symbol"/>
                <a:cs typeface="Symbol"/>
              </a:rPr>
              <a:t>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295">
                <a:latin typeface="Palatino Linotype"/>
                <a:cs typeface="Palatino Linotype"/>
              </a:rPr>
              <a:t> </a:t>
            </a:r>
            <a:r>
              <a:rPr dirty="0" baseline="34722" sz="1800" spc="-75">
                <a:latin typeface="Times New Roman"/>
                <a:cs typeface="Times New Roman"/>
              </a:rPr>
              <a:t>5</a:t>
            </a:r>
            <a:endParaRPr baseline="34722" sz="1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217578" y="3306765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 h="0">
                <a:moveTo>
                  <a:pt x="0" y="0"/>
                </a:moveTo>
                <a:lnTo>
                  <a:pt x="91224" y="0"/>
                </a:lnTo>
              </a:path>
            </a:pathLst>
          </a:custGeom>
          <a:ln w="6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607546" y="3306765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 h="0">
                <a:moveTo>
                  <a:pt x="0" y="0"/>
                </a:moveTo>
                <a:lnTo>
                  <a:pt x="166075" y="0"/>
                </a:lnTo>
              </a:path>
            </a:pathLst>
          </a:custGeom>
          <a:ln w="6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214884" y="3298825"/>
            <a:ext cx="530860" cy="207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9420" algn="l"/>
              </a:tabLst>
            </a:pPr>
            <a:r>
              <a:rPr dirty="0" sz="1200" spc="-50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76832" y="3085456"/>
            <a:ext cx="3459479" cy="3028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49145">
              <a:lnSpc>
                <a:spcPts val="1095"/>
              </a:lnSpc>
              <a:spcBef>
                <a:spcPts val="90"/>
              </a:spcBef>
              <a:tabLst>
                <a:tab pos="2440940" algn="l"/>
              </a:tabLst>
            </a:pPr>
            <a:r>
              <a:rPr dirty="0" sz="1200" spc="-50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150">
                <a:latin typeface="Times New Roman"/>
                <a:cs typeface="Times New Roman"/>
              </a:rPr>
              <a:t>25</a:t>
            </a:r>
            <a:r>
              <a:rPr dirty="0" sz="1150" spc="195">
                <a:latin typeface="Times New Roman"/>
                <a:cs typeface="Times New Roman"/>
              </a:rPr>
              <a:t>  </a:t>
            </a:r>
            <a:r>
              <a:rPr dirty="0" baseline="-15873" sz="1050" spc="-89">
                <a:latin typeface="Times New Roman"/>
                <a:cs typeface="Times New Roman"/>
              </a:rPr>
              <a:t>2</a:t>
            </a:r>
            <a:endParaRPr baseline="-15873" sz="1050">
              <a:latin typeface="Times New Roman"/>
              <a:cs typeface="Times New Roman"/>
            </a:endParaRPr>
          </a:p>
          <a:p>
            <a:pPr marL="38100">
              <a:lnSpc>
                <a:spcPts val="1095"/>
              </a:lnSpc>
              <a:tabLst>
                <a:tab pos="2164715" algn="l"/>
                <a:tab pos="2629535" algn="l"/>
              </a:tabLst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=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187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sz="1150" spc="215" i="1">
                <a:latin typeface="Times New Roman"/>
                <a:cs typeface="Times New Roman"/>
              </a:rPr>
              <a:t>  </a:t>
            </a:r>
            <a:r>
              <a:rPr dirty="0" sz="1150">
                <a:latin typeface="Symbol"/>
                <a:cs typeface="Symbol"/>
              </a:rPr>
              <a:t></a:t>
            </a:r>
            <a:r>
              <a:rPr dirty="0" sz="1150" spc="-1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12</a:t>
            </a:r>
            <a:r>
              <a:rPr dirty="0" sz="1150" i="1">
                <a:latin typeface="Times New Roman"/>
                <a:cs typeface="Times New Roman"/>
              </a:rPr>
              <a:t>x </a:t>
            </a:r>
            <a:r>
              <a:rPr dirty="0" sz="1150">
                <a:latin typeface="Symbol"/>
                <a:cs typeface="Symbol"/>
              </a:rPr>
              <a:t></a:t>
            </a:r>
            <a:r>
              <a:rPr dirty="0" sz="1150" spc="-1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10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1227" y="3468749"/>
            <a:ext cx="6198870" cy="471868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dirty="0" sz="1200" b="1">
                <a:latin typeface="Palatino Linotype"/>
                <a:cs typeface="Palatino Linotype"/>
              </a:rPr>
              <a:t>*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Bài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tập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áp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 spc="-20" b="1">
                <a:latin typeface="Palatino Linotype"/>
                <a:cs typeface="Palatino Linotype"/>
              </a:rPr>
              <a:t>dụng:</a:t>
            </a:r>
            <a:endParaRPr sz="1200">
              <a:latin typeface="Palatino Linotype"/>
              <a:cs typeface="Palatino Linotype"/>
            </a:endParaRPr>
          </a:p>
          <a:p>
            <a:pPr marL="38100" marR="35560">
              <a:lnSpc>
                <a:spcPct val="135800"/>
              </a:lnSpc>
              <a:spcBef>
                <a:spcPts val="180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1:</a:t>
            </a:r>
            <a:r>
              <a:rPr dirty="0" sz="1200" spc="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2x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3.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chia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1).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2: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12x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lũy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thừa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khác.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3: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 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b)(x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c)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4: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30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4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2015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27777" sz="1050" spc="-37">
                <a:latin typeface="Palatino Linotype"/>
                <a:cs typeface="Palatino Linotype"/>
              </a:rPr>
              <a:t>21</a:t>
            </a:r>
            <a:endParaRPr baseline="27777" sz="105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1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5:</a:t>
            </a:r>
            <a:r>
              <a:rPr dirty="0" sz="1200" spc="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4</a:t>
            </a:r>
            <a:r>
              <a:rPr dirty="0" baseline="27777" sz="1050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5x</a:t>
            </a:r>
            <a:r>
              <a:rPr dirty="0" baseline="27777" sz="1050">
                <a:latin typeface="Palatino Linotype"/>
                <a:cs typeface="Palatino Linotype"/>
              </a:rPr>
              <a:t>3</a:t>
            </a:r>
            <a:r>
              <a:rPr dirty="0" baseline="27777" sz="1050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40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3x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nhỏ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bao</a:t>
            </a:r>
            <a:r>
              <a:rPr dirty="0" sz="1200" spc="-10">
                <a:latin typeface="Palatino Linotype"/>
                <a:cs typeface="Palatino Linotype"/>
              </a:rPr>
              <a:t> nhiêu?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6:</a:t>
            </a:r>
            <a:r>
              <a:rPr dirty="0" sz="1200" spc="-15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thừc(x)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19,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5;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=1995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latin typeface="Palatino Linotype"/>
                <a:cs typeface="Palatino Linotype"/>
              </a:rPr>
              <a:t>Câu</a:t>
            </a:r>
            <a:r>
              <a:rPr dirty="0" sz="1200" spc="-20" b="1">
                <a:latin typeface="Palatino Linotype"/>
                <a:cs typeface="Palatino Linotype"/>
              </a:rPr>
              <a:t> </a:t>
            </a:r>
            <a:r>
              <a:rPr dirty="0" sz="1200" b="1">
                <a:latin typeface="Palatino Linotype"/>
                <a:cs typeface="Palatino Linotype"/>
              </a:rPr>
              <a:t>7:</a:t>
            </a:r>
            <a:r>
              <a:rPr dirty="0" sz="1200" spc="-10" b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thừc(x)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f(0)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=2;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f(1)=9;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=19;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=95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III-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CÁC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TOÁN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VỀ</a:t>
            </a:r>
            <a:r>
              <a:rPr dirty="0" sz="1200" spc="-1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TRONG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CÁC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6FC0"/>
                </a:solidFill>
                <a:latin typeface="Palatino Linotype"/>
                <a:cs typeface="Palatino Linotype"/>
              </a:rPr>
              <a:t>ĐỀ</a:t>
            </a:r>
            <a:r>
              <a:rPr dirty="0" sz="1200" spc="-20" b="1">
                <a:solidFill>
                  <a:srgbClr val="006FC0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6FC0"/>
                </a:solidFill>
                <a:latin typeface="Palatino Linotype"/>
                <a:cs typeface="Palatino Linotype"/>
              </a:rPr>
              <a:t>THI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baseline="2314" sz="1800" spc="7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1.</a:t>
            </a:r>
            <a:r>
              <a:rPr dirty="0" baseline="2314" sz="1800" spc="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Cho</a:t>
            </a:r>
            <a:r>
              <a:rPr dirty="0" baseline="2314" sz="1800" spc="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đa</a:t>
            </a:r>
            <a:r>
              <a:rPr dirty="0" baseline="2314" sz="1800" spc="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thức</a:t>
            </a:r>
            <a:r>
              <a:rPr dirty="0" baseline="2314" sz="1800" spc="352">
                <a:latin typeface="Palatino Linotype"/>
                <a:cs typeface="Palatino Linotype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P</a:t>
            </a:r>
            <a:r>
              <a:rPr dirty="0" baseline="2314" sz="1800">
                <a:latin typeface="Times New Roman"/>
                <a:cs typeface="Times New Roman"/>
              </a:rPr>
              <a:t>(</a:t>
            </a:r>
            <a:r>
              <a:rPr dirty="0" baseline="2314" sz="1800" i="1">
                <a:latin typeface="Times New Roman"/>
                <a:cs typeface="Times New Roman"/>
              </a:rPr>
              <a:t>x</a:t>
            </a:r>
            <a:r>
              <a:rPr dirty="0" baseline="2314" sz="1800">
                <a:latin typeface="Times New Roman"/>
                <a:cs typeface="Times New Roman"/>
              </a:rPr>
              <a:t>)</a:t>
            </a:r>
            <a:r>
              <a:rPr dirty="0" baseline="2314" sz="1800" spc="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-44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ax</a:t>
            </a:r>
            <a:r>
              <a:rPr dirty="0" baseline="47619" sz="1050">
                <a:latin typeface="Times New Roman"/>
                <a:cs typeface="Times New Roman"/>
              </a:rPr>
              <a:t>2</a:t>
            </a:r>
            <a:r>
              <a:rPr dirty="0" baseline="47619" sz="1050" spc="33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57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bx</a:t>
            </a:r>
            <a:r>
              <a:rPr dirty="0" baseline="2314" sz="1800" spc="-89" i="1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27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c</a:t>
            </a:r>
            <a:r>
              <a:rPr dirty="0" baseline="2314" sz="1800" spc="600" i="1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Symbol"/>
                <a:cs typeface="Symbol"/>
              </a:rPr>
              <a:t></a:t>
            </a:r>
            <a:r>
              <a:rPr dirty="0" baseline="4629" sz="1800" spc="-30" i="1">
                <a:latin typeface="Times New Roman"/>
                <a:cs typeface="Times New Roman"/>
              </a:rPr>
              <a:t>a</a:t>
            </a:r>
            <a:r>
              <a:rPr dirty="0" baseline="4629" sz="1800" spc="-157" i="1">
                <a:latin typeface="Times New Roman"/>
                <a:cs typeface="Times New Roman"/>
              </a:rPr>
              <a:t> </a:t>
            </a:r>
            <a:r>
              <a:rPr dirty="0" baseline="4629" sz="1800" spc="179">
                <a:latin typeface="Symbol"/>
                <a:cs typeface="Symbol"/>
              </a:rPr>
              <a:t></a:t>
            </a:r>
            <a:r>
              <a:rPr dirty="0" baseline="4629" sz="1800" spc="-179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*</a:t>
            </a:r>
            <a:r>
              <a:rPr dirty="0" sz="1600">
                <a:latin typeface="Symbol"/>
                <a:cs typeface="Symbol"/>
              </a:rPr>
              <a:t>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thỏa</a:t>
            </a:r>
            <a:r>
              <a:rPr dirty="0" baseline="2314" sz="1800" spc="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mãn</a:t>
            </a:r>
            <a:r>
              <a:rPr dirty="0" baseline="2314" sz="1800" spc="359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600" spc="-65">
                <a:latin typeface="Symbol"/>
                <a:cs typeface="Symbol"/>
              </a:rPr>
              <a:t></a:t>
            </a:r>
            <a:r>
              <a:rPr dirty="0" baseline="4629" sz="1800" spc="-97">
                <a:latin typeface="Times New Roman"/>
                <a:cs typeface="Times New Roman"/>
              </a:rPr>
              <a:t>9</a:t>
            </a:r>
            <a:r>
              <a:rPr dirty="0" sz="1600" spc="-65">
                <a:latin typeface="Symbol"/>
                <a:cs typeface="Symbol"/>
              </a:rPr>
              <a:t></a:t>
            </a:r>
            <a:r>
              <a:rPr dirty="0" sz="1600" spc="-18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6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600" spc="-60">
                <a:latin typeface="Symbol"/>
                <a:cs typeface="Symbol"/>
              </a:rPr>
              <a:t></a:t>
            </a:r>
            <a:r>
              <a:rPr dirty="0" baseline="4629" sz="1800" spc="-89">
                <a:latin typeface="Times New Roman"/>
                <a:cs typeface="Times New Roman"/>
              </a:rPr>
              <a:t>6</a:t>
            </a:r>
            <a:r>
              <a:rPr dirty="0" sz="1600" spc="-60">
                <a:latin typeface="Symbol"/>
                <a:cs typeface="Symbol"/>
              </a:rPr>
              <a:t>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7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2019.</a:t>
            </a:r>
            <a:endParaRPr baseline="4629"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baseline="2314" sz="1800">
                <a:latin typeface="Palatino Linotype"/>
                <a:cs typeface="Palatino Linotype"/>
              </a:rPr>
              <a:t>Chứng</a:t>
            </a:r>
            <a:r>
              <a:rPr dirty="0" baseline="2314" sz="1800" spc="-60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minh</a:t>
            </a:r>
            <a:r>
              <a:rPr dirty="0" baseline="2314" sz="1800" spc="315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600" spc="-65">
                <a:latin typeface="Symbol"/>
                <a:cs typeface="Symbol"/>
              </a:rPr>
              <a:t></a:t>
            </a:r>
            <a:r>
              <a:rPr dirty="0" baseline="4629" sz="1800" spc="-97">
                <a:latin typeface="Times New Roman"/>
                <a:cs typeface="Times New Roman"/>
              </a:rPr>
              <a:t>10</a:t>
            </a:r>
            <a:r>
              <a:rPr dirty="0" sz="1600" spc="-65">
                <a:latin typeface="Symbol"/>
                <a:cs typeface="Symbol"/>
              </a:rPr>
              <a:t></a:t>
            </a:r>
            <a:r>
              <a:rPr dirty="0" sz="1600" spc="-19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8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600">
                <a:latin typeface="Symbol"/>
                <a:cs typeface="Symbol"/>
              </a:rPr>
              <a:t></a:t>
            </a:r>
            <a:r>
              <a:rPr dirty="0" baseline="4629" sz="1800">
                <a:latin typeface="Times New Roman"/>
                <a:cs typeface="Times New Roman"/>
              </a:rPr>
              <a:t>7</a:t>
            </a:r>
            <a:r>
              <a:rPr dirty="0" sz="1600">
                <a:latin typeface="Symbol"/>
                <a:cs typeface="Symbol"/>
              </a:rPr>
              <a:t>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là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một</a:t>
            </a:r>
            <a:r>
              <a:rPr dirty="0" baseline="2314" sz="1800" spc="-22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số</a:t>
            </a:r>
            <a:r>
              <a:rPr dirty="0" baseline="2314" sz="1800" spc="-30">
                <a:latin typeface="Palatino Linotype"/>
                <a:cs typeface="Palatino Linotype"/>
              </a:rPr>
              <a:t> </a:t>
            </a:r>
            <a:r>
              <a:rPr dirty="0" baseline="2314" sz="1800" spc="-37">
                <a:latin typeface="Palatino Linotype"/>
                <a:cs typeface="Palatino Linotype"/>
              </a:rPr>
              <a:t>lẻ.</a:t>
            </a:r>
            <a:endParaRPr baseline="2314" sz="1800">
              <a:latin typeface="Palatino Linotype"/>
              <a:cs typeface="Palatino Linotype"/>
            </a:endParaRPr>
          </a:p>
          <a:p>
            <a:pPr algn="just" marL="38100" marR="30480" indent="3096895">
              <a:lnSpc>
                <a:spcPct val="119600"/>
              </a:lnSpc>
              <a:spcBef>
                <a:spcPts val="575"/>
              </a:spcBef>
            </a:pPr>
            <a:r>
              <a:rPr dirty="0" sz="1200" spc="-5" i="1">
                <a:latin typeface="Palatino Linotype"/>
                <a:cs typeface="Palatino Linotype"/>
              </a:rPr>
              <a:t>(Trích</a:t>
            </a:r>
            <a:r>
              <a:rPr dirty="0" sz="1200" i="1">
                <a:latin typeface="Palatino Linotype"/>
                <a:cs typeface="Palatino Linotype"/>
              </a:rPr>
              <a:t> đề </a:t>
            </a:r>
            <a:r>
              <a:rPr dirty="0" sz="1200" spc="-5" i="1">
                <a:latin typeface="Palatino Linotype"/>
                <a:cs typeface="Palatino Linotype"/>
              </a:rPr>
              <a:t>ch</a:t>
            </a:r>
            <a:r>
              <a:rPr dirty="0" sz="1200" spc="5" i="1">
                <a:latin typeface="Palatino Linotype"/>
                <a:cs typeface="Palatino Linotype"/>
              </a:rPr>
              <a:t>u</a:t>
            </a:r>
            <a:r>
              <a:rPr dirty="0" sz="1200" spc="-5" i="1">
                <a:latin typeface="Palatino Linotype"/>
                <a:cs typeface="Palatino Linotype"/>
              </a:rPr>
              <a:t>yê</a:t>
            </a:r>
            <a:r>
              <a:rPr dirty="0" sz="1200" i="1">
                <a:latin typeface="Palatino Linotype"/>
                <a:cs typeface="Palatino Linotype"/>
              </a:rPr>
              <a:t>n </a:t>
            </a:r>
            <a:r>
              <a:rPr dirty="0" sz="1200" spc="-10" i="1">
                <a:latin typeface="Palatino Linotype"/>
                <a:cs typeface="Palatino Linotype"/>
              </a:rPr>
              <a:t>Phan Bộ</a:t>
            </a:r>
            <a:r>
              <a:rPr dirty="0" sz="1200" spc="-5" i="1">
                <a:latin typeface="Palatino Linotype"/>
                <a:cs typeface="Palatino Linotype"/>
              </a:rPr>
              <a:t> Châu</a:t>
            </a:r>
            <a:r>
              <a:rPr dirty="0" sz="1200" i="1">
                <a:latin typeface="Palatino Linotype"/>
                <a:cs typeface="Palatino Linotype"/>
              </a:rPr>
              <a:t> </a:t>
            </a:r>
            <a:r>
              <a:rPr dirty="0" sz="1200" spc="-10" i="1">
                <a:latin typeface="Palatino Linotype"/>
                <a:cs typeface="Palatino Linotype"/>
              </a:rPr>
              <a:t>năm</a:t>
            </a:r>
            <a:r>
              <a:rPr dirty="0" sz="1200" i="1">
                <a:latin typeface="Palatino Linotype"/>
                <a:cs typeface="Palatino Linotype"/>
              </a:rPr>
              <a:t> </a:t>
            </a:r>
            <a:r>
              <a:rPr dirty="0" sz="1200" spc="-5" i="1">
                <a:latin typeface="Palatino Linotype"/>
                <a:cs typeface="Palatino Linotype"/>
              </a:rPr>
              <a:t>2019-</a:t>
            </a:r>
            <a:r>
              <a:rPr dirty="0" sz="1200" spc="-10" i="1">
                <a:latin typeface="Palatino Linotype"/>
                <a:cs typeface="Palatino Linotype"/>
              </a:rPr>
              <a:t>2020)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baseline="2314" sz="1800" spc="-15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baseline="2314" sz="1800" spc="-7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2314" sz="1800" b="1">
                <a:solidFill>
                  <a:srgbClr val="00AFEF"/>
                </a:solidFill>
                <a:latin typeface="Palatino Linotype"/>
                <a:cs typeface="Palatino Linotype"/>
              </a:rPr>
              <a:t>2.  </a:t>
            </a:r>
            <a:r>
              <a:rPr dirty="0" baseline="2314" sz="1800" spc="-7">
                <a:latin typeface="Palatino Linotype"/>
                <a:cs typeface="Palatino Linotype"/>
              </a:rPr>
              <a:t>Xác </a:t>
            </a:r>
            <a:r>
              <a:rPr dirty="0" baseline="2314" sz="1800" spc="-15">
                <a:latin typeface="Palatino Linotype"/>
                <a:cs typeface="Palatino Linotype"/>
              </a:rPr>
              <a:t>định</a:t>
            </a:r>
            <a:r>
              <a:rPr dirty="0" baseline="2314" sz="1800" spc="-7">
                <a:latin typeface="Palatino Linotype"/>
                <a:cs typeface="Palatino Linotype"/>
              </a:rPr>
              <a:t> các </a:t>
            </a:r>
            <a:r>
              <a:rPr dirty="0" baseline="2314" sz="1800" spc="-15">
                <a:latin typeface="Palatino Linotype"/>
                <a:cs typeface="Palatino Linotype"/>
              </a:rPr>
              <a:t>hệ</a:t>
            </a:r>
            <a:r>
              <a:rPr dirty="0" baseline="2314" sz="1800" spc="22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số</a:t>
            </a:r>
            <a:r>
              <a:rPr dirty="0" baseline="2314" sz="1800">
                <a:latin typeface="Palatino Linotype"/>
                <a:cs typeface="Palatino Linotype"/>
              </a:rPr>
              <a:t> </a:t>
            </a:r>
            <a:r>
              <a:rPr dirty="0" baseline="2314" sz="1800" spc="-15" i="1">
                <a:latin typeface="Palatino Linotype"/>
                <a:cs typeface="Palatino Linotype"/>
              </a:rPr>
              <a:t>a</a:t>
            </a:r>
            <a:r>
              <a:rPr dirty="0" baseline="2314" sz="1800" spc="-7" i="1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và </a:t>
            </a:r>
            <a:r>
              <a:rPr dirty="0" baseline="2314" sz="1800" i="1">
                <a:latin typeface="Palatino Linotype"/>
                <a:cs typeface="Palatino Linotype"/>
              </a:rPr>
              <a:t>b</a:t>
            </a:r>
            <a:r>
              <a:rPr dirty="0" baseline="2314" sz="1800" spc="-7" i="1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để</a:t>
            </a:r>
            <a:r>
              <a:rPr dirty="0" baseline="2314" sz="1800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đa</a:t>
            </a:r>
            <a:r>
              <a:rPr dirty="0" baseline="2314" sz="1800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thức</a:t>
            </a:r>
            <a:r>
              <a:rPr dirty="0" baseline="2314" sz="1800" spc="262">
                <a:latin typeface="Palatino Linotype"/>
                <a:cs typeface="Palatino Linotype"/>
              </a:rPr>
              <a:t> </a:t>
            </a:r>
            <a:r>
              <a:rPr dirty="0" baseline="6410" sz="1950" spc="-22">
                <a:latin typeface="Palatino Linotype"/>
                <a:cs typeface="Palatino Linotype"/>
              </a:rPr>
              <a:t>P</a:t>
            </a:r>
            <a:r>
              <a:rPr dirty="0" sz="1950" spc="-15">
                <a:latin typeface="Symbol"/>
                <a:cs typeface="Symbol"/>
              </a:rPr>
              <a:t></a:t>
            </a:r>
            <a:r>
              <a:rPr dirty="0" baseline="6410" sz="1950" spc="-22">
                <a:latin typeface="Palatino Linotype"/>
                <a:cs typeface="Palatino Linotype"/>
              </a:rPr>
              <a:t>x</a:t>
            </a:r>
            <a:r>
              <a:rPr dirty="0" sz="1950" spc="-15">
                <a:latin typeface="Symbol"/>
                <a:cs typeface="Symbol"/>
              </a:rPr>
              <a:t></a:t>
            </a:r>
            <a:r>
              <a:rPr dirty="0" sz="1950" spc="-215">
                <a:latin typeface="Times New Roman"/>
                <a:cs typeface="Times New Roman"/>
              </a:rPr>
              <a:t> </a:t>
            </a:r>
            <a:r>
              <a:rPr dirty="0" baseline="6410" sz="1950" spc="60">
                <a:latin typeface="Symbol"/>
                <a:cs typeface="Symbol"/>
              </a:rPr>
              <a:t></a:t>
            </a:r>
            <a:r>
              <a:rPr dirty="0" baseline="6410" sz="1950" spc="-75">
                <a:latin typeface="Times New Roman"/>
                <a:cs typeface="Times New Roman"/>
              </a:rPr>
              <a:t> </a:t>
            </a:r>
            <a:r>
              <a:rPr dirty="0" baseline="6410" sz="1950" spc="60">
                <a:latin typeface="Palatino Linotype"/>
                <a:cs typeface="Palatino Linotype"/>
              </a:rPr>
              <a:t>x</a:t>
            </a:r>
            <a:r>
              <a:rPr dirty="0" baseline="55555" sz="1125" spc="60">
                <a:latin typeface="Palatino Linotype"/>
                <a:cs typeface="Palatino Linotype"/>
              </a:rPr>
              <a:t>4</a:t>
            </a:r>
            <a:r>
              <a:rPr dirty="0" baseline="55555" sz="1125" spc="240">
                <a:latin typeface="Palatino Linotype"/>
                <a:cs typeface="Palatino Linotype"/>
              </a:rPr>
              <a:t> </a:t>
            </a:r>
            <a:r>
              <a:rPr dirty="0" baseline="6410" sz="1950" spc="60">
                <a:latin typeface="Symbol"/>
                <a:cs typeface="Symbol"/>
              </a:rPr>
              <a:t></a:t>
            </a:r>
            <a:r>
              <a:rPr dirty="0" baseline="6410" sz="1950" spc="-202">
                <a:latin typeface="Times New Roman"/>
                <a:cs typeface="Times New Roman"/>
              </a:rPr>
              <a:t> </a:t>
            </a:r>
            <a:r>
              <a:rPr dirty="0" baseline="6410" sz="1950" spc="60">
                <a:latin typeface="Palatino Linotype"/>
                <a:cs typeface="Palatino Linotype"/>
              </a:rPr>
              <a:t>2x</a:t>
            </a:r>
            <a:r>
              <a:rPr dirty="0" baseline="55555" sz="1125" spc="60">
                <a:latin typeface="Palatino Linotype"/>
                <a:cs typeface="Palatino Linotype"/>
              </a:rPr>
              <a:t>3</a:t>
            </a:r>
            <a:r>
              <a:rPr dirty="0" baseline="55555" sz="1125" spc="217">
                <a:latin typeface="Palatino Linotype"/>
                <a:cs typeface="Palatino Linotype"/>
              </a:rPr>
              <a:t> </a:t>
            </a:r>
            <a:r>
              <a:rPr dirty="0" baseline="6410" sz="1950" spc="60">
                <a:latin typeface="Symbol"/>
                <a:cs typeface="Symbol"/>
              </a:rPr>
              <a:t></a:t>
            </a:r>
            <a:r>
              <a:rPr dirty="0" baseline="6410" sz="1950" spc="-172">
                <a:latin typeface="Times New Roman"/>
                <a:cs typeface="Times New Roman"/>
              </a:rPr>
              <a:t> </a:t>
            </a:r>
            <a:r>
              <a:rPr dirty="0" baseline="6410" sz="1950" spc="52">
                <a:latin typeface="Palatino Linotype"/>
                <a:cs typeface="Palatino Linotype"/>
              </a:rPr>
              <a:t>3x</a:t>
            </a:r>
            <a:r>
              <a:rPr dirty="0" baseline="55555" sz="1125" spc="52">
                <a:latin typeface="Palatino Linotype"/>
                <a:cs typeface="Palatino Linotype"/>
              </a:rPr>
              <a:t>2</a:t>
            </a:r>
            <a:r>
              <a:rPr dirty="0" baseline="55555" sz="1125" spc="240">
                <a:latin typeface="Palatino Linotype"/>
                <a:cs typeface="Palatino Linotype"/>
              </a:rPr>
              <a:t> </a:t>
            </a:r>
            <a:r>
              <a:rPr dirty="0" baseline="6410" sz="1950" spc="127">
                <a:latin typeface="Symbol"/>
                <a:cs typeface="Symbol"/>
              </a:rPr>
              <a:t></a:t>
            </a:r>
            <a:r>
              <a:rPr dirty="0" baseline="6410" sz="1950" spc="127">
                <a:latin typeface="Palatino Linotype"/>
                <a:cs typeface="Palatino Linotype"/>
              </a:rPr>
              <a:t>ax</a:t>
            </a:r>
            <a:r>
              <a:rPr dirty="0" baseline="6410" sz="1950" spc="-187">
                <a:latin typeface="Palatino Linotype"/>
                <a:cs typeface="Palatino Linotype"/>
              </a:rPr>
              <a:t> </a:t>
            </a:r>
            <a:r>
              <a:rPr dirty="0" baseline="6410" sz="1950" spc="60">
                <a:latin typeface="Symbol"/>
                <a:cs typeface="Symbol"/>
              </a:rPr>
              <a:t></a:t>
            </a:r>
            <a:r>
              <a:rPr dirty="0" baseline="6410" sz="1950" spc="-142">
                <a:latin typeface="Times New Roman"/>
                <a:cs typeface="Times New Roman"/>
              </a:rPr>
              <a:t> </a:t>
            </a:r>
            <a:r>
              <a:rPr dirty="0" baseline="6410" sz="1950" spc="52">
                <a:latin typeface="Palatino Linotype"/>
                <a:cs typeface="Palatino Linotype"/>
              </a:rPr>
              <a:t>b</a:t>
            </a:r>
            <a:r>
              <a:rPr dirty="0" baseline="6410" sz="1950" spc="315">
                <a:latin typeface="Palatino Linotype"/>
                <a:cs typeface="Palatino Linotype"/>
              </a:rPr>
              <a:t> </a:t>
            </a:r>
            <a:r>
              <a:rPr dirty="0" baseline="2314" sz="1800" spc="-7">
                <a:latin typeface="Palatino Linotype"/>
                <a:cs typeface="Palatino Linotype"/>
              </a:rPr>
              <a:t>là</a:t>
            </a:r>
            <a:r>
              <a:rPr dirty="0" baseline="2314" sz="1800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bình</a:t>
            </a:r>
            <a:r>
              <a:rPr dirty="0" baseline="2314" sz="1800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phương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của</a:t>
            </a:r>
            <a:r>
              <a:rPr dirty="0" sz="1200">
                <a:latin typeface="Palatino Linotype"/>
                <a:cs typeface="Palatino Linotype"/>
              </a:rPr>
              <a:t> </a:t>
            </a:r>
            <a:r>
              <a:rPr dirty="0" sz="1200" spc="-5">
                <a:latin typeface="Palatino Linotype"/>
                <a:cs typeface="Palatino Linotype"/>
              </a:rPr>
              <a:t>một</a:t>
            </a:r>
            <a:r>
              <a:rPr dirty="0" sz="120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đa</a:t>
            </a:r>
            <a:r>
              <a:rPr dirty="0" sz="120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thức.</a:t>
            </a:r>
            <a:endParaRPr sz="1200">
              <a:latin typeface="Palatino Linotype"/>
              <a:cs typeface="Palatino Linotype"/>
            </a:endParaRPr>
          </a:p>
          <a:p>
            <a:pPr marL="2502535">
              <a:lnSpc>
                <a:spcPct val="100000"/>
              </a:lnSpc>
              <a:spcBef>
                <a:spcPts val="540"/>
              </a:spcBef>
            </a:pPr>
            <a:r>
              <a:rPr dirty="0" sz="1200" i="1">
                <a:latin typeface="Palatino Linotype"/>
                <a:cs typeface="Palatino Linotype"/>
              </a:rPr>
              <a:t>(Trích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đề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thi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HSG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lớp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9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tỉnh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Quảng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Bình</a:t>
            </a:r>
            <a:r>
              <a:rPr dirty="0" sz="1200" spc="27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năm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spc="-10" i="1">
                <a:latin typeface="Palatino Linotype"/>
                <a:cs typeface="Palatino Linotype"/>
              </a:rPr>
              <a:t>2018-2019)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470141" y="8333993"/>
            <a:ext cx="383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Biết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693787" y="8451552"/>
            <a:ext cx="1041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81227" y="8235383"/>
            <a:ext cx="567944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9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3.</a:t>
            </a:r>
            <a:r>
              <a:rPr dirty="0" sz="1200" spc="14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3174" sz="2625">
                <a:latin typeface="Symbol"/>
                <a:cs typeface="Symbol"/>
              </a:rPr>
              <a:t></a:t>
            </a:r>
            <a:r>
              <a:rPr dirty="0" baseline="-3174" sz="2625" spc="24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3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3174" sz="2625">
                <a:latin typeface="Symbol"/>
                <a:cs typeface="Symbol"/>
              </a:rPr>
              <a:t></a:t>
            </a:r>
            <a:r>
              <a:rPr dirty="0" baseline="-3174" sz="2625" spc="232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thoả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300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P</a:t>
            </a:r>
            <a:r>
              <a:rPr dirty="0" baseline="-3174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3174" sz="2625" spc="-44">
                <a:latin typeface="Symbol"/>
                <a:cs typeface="Symbol"/>
              </a:rPr>
              <a:t></a:t>
            </a:r>
            <a:r>
              <a:rPr dirty="0" baseline="-3174" sz="262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u="sng" baseline="34722" sz="1800" spc="-33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baseline="34722" sz="1800" spc="-150">
                <a:latin typeface="Palatino Linotype"/>
                <a:cs typeface="Palatino Linotype"/>
              </a:rPr>
              <a:t> </a:t>
            </a:r>
            <a:r>
              <a:rPr dirty="0" baseline="-4273" sz="29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Q</a:t>
            </a:r>
            <a:r>
              <a:rPr dirty="0" baseline="-3174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baseline="-3174" sz="2625" spc="-89">
                <a:latin typeface="Symbol"/>
                <a:cs typeface="Symbol"/>
              </a:rPr>
              <a:t></a:t>
            </a:r>
            <a:r>
              <a:rPr dirty="0" baseline="-3174" sz="2625" spc="-39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Q</a:t>
            </a:r>
            <a:r>
              <a:rPr dirty="0" baseline="-3174" sz="2625" spc="-15">
                <a:latin typeface="Symbol"/>
                <a:cs typeface="Symbol"/>
              </a:rPr>
              <a:t></a:t>
            </a:r>
            <a:r>
              <a:rPr dirty="0" sz="1200" spc="-10">
                <a:latin typeface="Palatino Linotype"/>
                <a:cs typeface="Palatino Linotype"/>
              </a:rPr>
              <a:t>1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-65">
                <a:latin typeface="Palatino Linotype"/>
                <a:cs typeface="Palatino Linotype"/>
              </a:rPr>
              <a:t>x</a:t>
            </a:r>
            <a:r>
              <a:rPr dirty="0" baseline="-3174" sz="2625" spc="-97">
                <a:latin typeface="Symbol"/>
                <a:cs typeface="Symbol"/>
              </a:rPr>
              <a:t></a:t>
            </a:r>
            <a:r>
              <a:rPr dirty="0" baseline="-4273" sz="2925" spc="-97">
                <a:latin typeface="Symbol"/>
                <a:cs typeface="Symbol"/>
              </a:rPr>
              <a:t></a:t>
            </a:r>
            <a:r>
              <a:rPr dirty="0" baseline="-4273" sz="2925" spc="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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sz="1200" spc="-25">
                <a:latin typeface="Symbol"/>
                <a:cs typeface="Symbol"/>
              </a:rPr>
              <a:t></a:t>
            </a:r>
            <a:endParaRPr sz="1200">
              <a:latin typeface="Symbol"/>
              <a:cs typeface="Symbo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9483" y="8321788"/>
            <a:ext cx="144235" cy="262713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706627" y="8608582"/>
            <a:ext cx="6146165" cy="6438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-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3174" sz="2625">
                <a:latin typeface="Symbol"/>
                <a:cs typeface="Symbol"/>
              </a:rPr>
              <a:t></a:t>
            </a:r>
            <a:r>
              <a:rPr dirty="0" baseline="-3174" sz="2625" spc="22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âm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3174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0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baseline="-3174" sz="262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166" sz="3000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3P</a:t>
            </a:r>
            <a:r>
              <a:rPr dirty="0" baseline="-3086" sz="2700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3</a:t>
            </a:r>
            <a:r>
              <a:rPr dirty="0" baseline="-3086" sz="2700" spc="-37">
                <a:latin typeface="Symbol"/>
                <a:cs typeface="Symbol"/>
              </a:rPr>
              <a:t></a:t>
            </a:r>
            <a:r>
              <a:rPr dirty="0" baseline="-3086" sz="2700" spc="-41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P</a:t>
            </a:r>
            <a:r>
              <a:rPr dirty="0" baseline="-3086" sz="2700" spc="-15">
                <a:latin typeface="Symbol"/>
                <a:cs typeface="Symbol"/>
              </a:rPr>
              <a:t></a:t>
            </a:r>
            <a:r>
              <a:rPr dirty="0" sz="1200" spc="-10">
                <a:latin typeface="Palatino Linotype"/>
                <a:cs typeface="Palatino Linotype"/>
              </a:rPr>
              <a:t>2</a:t>
            </a:r>
            <a:r>
              <a:rPr dirty="0" baseline="-3086" sz="2700" spc="-15">
                <a:latin typeface="Symbol"/>
                <a:cs typeface="Symbol"/>
              </a:rPr>
              <a:t></a:t>
            </a:r>
            <a:r>
              <a:rPr dirty="0" baseline="-4166" sz="3000" spc="-15">
                <a:latin typeface="Symbol"/>
                <a:cs typeface="Symbol"/>
              </a:rPr>
              <a:t></a:t>
            </a:r>
            <a:r>
              <a:rPr dirty="0" sz="1200" spc="-1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2578100">
              <a:lnSpc>
                <a:spcPct val="100000"/>
              </a:lnSpc>
              <a:spcBef>
                <a:spcPts val="1020"/>
              </a:spcBef>
            </a:pPr>
            <a:r>
              <a:rPr dirty="0" sz="1200" i="1">
                <a:latin typeface="Palatino Linotype"/>
                <a:cs typeface="Palatino Linotype"/>
              </a:rPr>
              <a:t>(Trích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đề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thi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HSG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lớp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9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tỉnh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Nam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Định</a:t>
            </a:r>
            <a:r>
              <a:rPr dirty="0" sz="1200" spc="28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năm</a:t>
            </a:r>
            <a:r>
              <a:rPr dirty="0" sz="1200" spc="-10" i="1">
                <a:latin typeface="Palatino Linotype"/>
                <a:cs typeface="Palatino Linotype"/>
              </a:rPr>
              <a:t> 2018-2019)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030946" y="8233620"/>
            <a:ext cx="114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Palatino Linotype"/>
                <a:cs typeface="Palatino Linotype"/>
              </a:rPr>
              <a:t>n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81227" y="8403548"/>
            <a:ext cx="6035675" cy="113411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785"/>
              </a:spcBef>
            </a:pP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 i="1">
                <a:latin typeface="Palatino Linotype"/>
                <a:cs typeface="Palatino Linotype"/>
              </a:rPr>
              <a:t>f(2002)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15.</a:t>
            </a:r>
            <a:r>
              <a:rPr dirty="0" sz="1200" spc="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thức: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4</a:t>
            </a:r>
            <a:r>
              <a:rPr dirty="0" baseline="47008" sz="975" spc="25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47008" sz="975">
                <a:latin typeface="Palatino Linotype"/>
                <a:cs typeface="Palatino Linotype"/>
              </a:rPr>
              <a:t>3</a:t>
            </a:r>
            <a:r>
              <a:rPr dirty="0" baseline="47008" sz="975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</a:t>
            </a:r>
            <a:r>
              <a:rPr dirty="0" sz="1200" spc="2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185">
                <a:latin typeface="Palatino Linotype"/>
                <a:cs typeface="Palatino Linotype"/>
              </a:rPr>
              <a:t> </a:t>
            </a:r>
            <a:r>
              <a:rPr dirty="0" sz="1200" spc="-60">
                <a:latin typeface="Palatino Linotype"/>
                <a:cs typeface="Palatino Linotype"/>
              </a:rPr>
              <a:t>P</a:t>
            </a:r>
            <a:r>
              <a:rPr dirty="0" baseline="-4761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1</a:t>
            </a:r>
            <a:r>
              <a:rPr dirty="0" baseline="-4761" sz="2625" spc="-89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3,P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11,P</a:t>
            </a:r>
            <a:r>
              <a:rPr dirty="0" baseline="-4761" sz="2625" spc="-15">
                <a:latin typeface="Symbol"/>
                <a:cs typeface="Symbol"/>
              </a:rPr>
              <a:t></a:t>
            </a:r>
            <a:r>
              <a:rPr dirty="0" sz="1200" spc="-10">
                <a:latin typeface="Palatino Linotype"/>
                <a:cs typeface="Palatino Linotype"/>
              </a:rPr>
              <a:t>5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27.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1365"/>
              </a:spcBef>
            </a:pP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 </a:t>
            </a:r>
            <a:r>
              <a:rPr dirty="0" sz="1200" spc="-10">
                <a:latin typeface="Palatino Linotype"/>
                <a:cs typeface="Palatino Linotype"/>
              </a:rPr>
              <a:t>của: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3174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baseline="-3174" sz="2625" spc="-39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7.P</a:t>
            </a:r>
            <a:r>
              <a:rPr dirty="0" baseline="-3174" sz="2625" spc="-15">
                <a:latin typeface="Symbol"/>
                <a:cs typeface="Symbol"/>
              </a:rPr>
              <a:t></a:t>
            </a:r>
            <a:r>
              <a:rPr dirty="0" sz="1200" spc="-10">
                <a:latin typeface="Palatino Linotype"/>
                <a:cs typeface="Palatino Linotype"/>
              </a:rPr>
              <a:t>6</a:t>
            </a:r>
            <a:r>
              <a:rPr dirty="0" baseline="-3174" sz="2625" spc="-15">
                <a:latin typeface="Symbol"/>
                <a:cs typeface="Symbol"/>
              </a:rPr>
              <a:t></a:t>
            </a:r>
            <a:r>
              <a:rPr dirty="0" sz="1200" spc="-1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5027" y="659947"/>
            <a:ext cx="6351270" cy="7677784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14300" marR="107950">
              <a:lnSpc>
                <a:spcPct val="102699"/>
              </a:lnSpc>
              <a:spcBef>
                <a:spcPts val="5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6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4.</a:t>
            </a:r>
            <a:r>
              <a:rPr dirty="0" sz="1200" spc="6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35">
                <a:latin typeface="Palatino Linotype"/>
                <a:cs typeface="Palatino Linotype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P</a:t>
            </a:r>
            <a:r>
              <a:rPr dirty="0" baseline="-3174" sz="2625" spc="-15">
                <a:latin typeface="Symbol"/>
                <a:cs typeface="Symbol"/>
              </a:rPr>
              <a:t></a:t>
            </a:r>
            <a:r>
              <a:rPr dirty="0" sz="1150" spc="-10">
                <a:latin typeface="Palatino Linotype"/>
                <a:cs typeface="Palatino Linotype"/>
              </a:rPr>
              <a:t>x</a:t>
            </a:r>
            <a:r>
              <a:rPr dirty="0" baseline="-3174" sz="2625" spc="-15">
                <a:latin typeface="Symbol"/>
                <a:cs typeface="Symbol"/>
              </a:rPr>
              <a:t></a:t>
            </a:r>
            <a:r>
              <a:rPr dirty="0" baseline="-3174" sz="2625" spc="-27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50">
                <a:latin typeface="Palatino Linotype"/>
                <a:cs typeface="Palatino Linotype"/>
              </a:rPr>
              <a:t>x</a:t>
            </a:r>
            <a:r>
              <a:rPr dirty="0" baseline="47008" sz="975" spc="75">
                <a:latin typeface="Palatino Linotype"/>
                <a:cs typeface="Palatino Linotype"/>
              </a:rPr>
              <a:t>3</a:t>
            </a:r>
            <a:r>
              <a:rPr dirty="0" baseline="47008" sz="975" spc="232">
                <a:latin typeface="Palatino Linotype"/>
                <a:cs typeface="Palatino Linotype"/>
              </a:rPr>
              <a:t> </a:t>
            </a:r>
            <a:r>
              <a:rPr dirty="0" sz="1150" spc="80">
                <a:latin typeface="Symbol"/>
                <a:cs typeface="Symbol"/>
              </a:rPr>
              <a:t></a:t>
            </a:r>
            <a:r>
              <a:rPr dirty="0" sz="1150" spc="80">
                <a:latin typeface="Palatino Linotype"/>
                <a:cs typeface="Palatino Linotype"/>
              </a:rPr>
              <a:t>ax</a:t>
            </a:r>
            <a:r>
              <a:rPr dirty="0" baseline="47008" sz="975" spc="120">
                <a:latin typeface="Palatino Linotype"/>
                <a:cs typeface="Palatino Linotype"/>
              </a:rPr>
              <a:t>2</a:t>
            </a:r>
            <a:r>
              <a:rPr dirty="0" baseline="47008" sz="975" spc="247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bx</a:t>
            </a:r>
            <a:r>
              <a:rPr dirty="0" sz="1150" spc="-100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c;</a:t>
            </a:r>
            <a:r>
              <a:rPr dirty="0" sz="1150" spc="90">
                <a:latin typeface="Palatino Linotype"/>
                <a:cs typeface="Palatino Linotype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Q</a:t>
            </a:r>
            <a:r>
              <a:rPr dirty="0" baseline="-3174" sz="2625" spc="-15">
                <a:latin typeface="Symbol"/>
                <a:cs typeface="Symbol"/>
              </a:rPr>
              <a:t></a:t>
            </a:r>
            <a:r>
              <a:rPr dirty="0" sz="1150" spc="-10">
                <a:latin typeface="Palatino Linotype"/>
                <a:cs typeface="Palatino Linotype"/>
              </a:rPr>
              <a:t>x</a:t>
            </a:r>
            <a:r>
              <a:rPr dirty="0" baseline="-3174" sz="2625" spc="-15">
                <a:latin typeface="Symbol"/>
                <a:cs typeface="Symbol"/>
              </a:rPr>
              <a:t></a:t>
            </a:r>
            <a:r>
              <a:rPr dirty="0" baseline="-3174" sz="2625" spc="-284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Palatino Linotype"/>
                <a:cs typeface="Palatino Linotype"/>
              </a:rPr>
              <a:t>x</a:t>
            </a:r>
            <a:r>
              <a:rPr dirty="0" baseline="47008" sz="975" spc="82">
                <a:latin typeface="Palatino Linotype"/>
                <a:cs typeface="Palatino Linotype"/>
              </a:rPr>
              <a:t>2</a:t>
            </a:r>
            <a:r>
              <a:rPr dirty="0" baseline="47008" sz="975" spc="247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90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2016x</a:t>
            </a:r>
            <a:r>
              <a:rPr dirty="0" sz="1150" spc="-95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8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2017</a:t>
            </a:r>
            <a:r>
              <a:rPr dirty="0" sz="1150" spc="30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6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điều </a:t>
            </a:r>
            <a:r>
              <a:rPr dirty="0" baseline="2314" sz="1800">
                <a:latin typeface="Palatino Linotype"/>
                <a:cs typeface="Palatino Linotype"/>
              </a:rPr>
              <a:t>kiện</a:t>
            </a:r>
            <a:r>
              <a:rPr dirty="0" baseline="2314" sz="1800" spc="262">
                <a:latin typeface="Palatino Linotype"/>
                <a:cs typeface="Palatino Linotype"/>
              </a:rPr>
              <a:t> </a:t>
            </a:r>
            <a:r>
              <a:rPr dirty="0" baseline="7246" sz="1725" spc="-30">
                <a:latin typeface="Palatino Linotype"/>
                <a:cs typeface="Palatino Linotype"/>
              </a:rPr>
              <a:t>P</a:t>
            </a:r>
            <a:r>
              <a:rPr dirty="0" baseline="1587" sz="2625" spc="-30">
                <a:latin typeface="Symbol"/>
                <a:cs typeface="Symbol"/>
              </a:rPr>
              <a:t></a:t>
            </a:r>
            <a:r>
              <a:rPr dirty="0" baseline="7246" sz="1725" spc="-30">
                <a:latin typeface="Palatino Linotype"/>
                <a:cs typeface="Palatino Linotype"/>
              </a:rPr>
              <a:t>x</a:t>
            </a:r>
            <a:r>
              <a:rPr dirty="0" baseline="1587" sz="2625" spc="-30">
                <a:latin typeface="Symbol"/>
                <a:cs typeface="Symbol"/>
              </a:rPr>
              <a:t></a:t>
            </a:r>
            <a:r>
              <a:rPr dirty="0" baseline="1587" sz="2625" spc="-284">
                <a:latin typeface="Times New Roman"/>
                <a:cs typeface="Times New Roman"/>
              </a:rPr>
              <a:t> </a:t>
            </a:r>
            <a:r>
              <a:rPr dirty="0" baseline="7246" sz="1725">
                <a:latin typeface="Symbol"/>
                <a:cs typeface="Symbol"/>
              </a:rPr>
              <a:t></a:t>
            </a:r>
            <a:r>
              <a:rPr dirty="0" baseline="7246" sz="1725" spc="-67">
                <a:latin typeface="Times New Roman"/>
                <a:cs typeface="Times New Roman"/>
              </a:rPr>
              <a:t> </a:t>
            </a:r>
            <a:r>
              <a:rPr dirty="0" baseline="7246" sz="1725">
                <a:latin typeface="Palatino Linotype"/>
                <a:cs typeface="Palatino Linotype"/>
              </a:rPr>
              <a:t>0</a:t>
            </a:r>
            <a:r>
              <a:rPr dirty="0" baseline="7246" sz="1725" spc="292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có</a:t>
            </a:r>
            <a:r>
              <a:rPr dirty="0" baseline="2314" sz="1800" spc="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ba nghiệm</a:t>
            </a:r>
            <a:r>
              <a:rPr dirty="0" baseline="2314" sz="1800" spc="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thực phân biệt và</a:t>
            </a:r>
            <a:r>
              <a:rPr dirty="0" baseline="2314" sz="1800" spc="277">
                <a:latin typeface="Palatino Linotype"/>
                <a:cs typeface="Palatino Linotype"/>
              </a:rPr>
              <a:t> </a:t>
            </a:r>
            <a:r>
              <a:rPr dirty="0" baseline="9661" sz="1725" spc="-60">
                <a:latin typeface="Palatino Linotype"/>
                <a:cs typeface="Palatino Linotype"/>
              </a:rPr>
              <a:t>P</a:t>
            </a:r>
            <a:r>
              <a:rPr dirty="0" sz="1950" spc="-40">
                <a:latin typeface="Symbol"/>
                <a:cs typeface="Symbol"/>
              </a:rPr>
              <a:t></a:t>
            </a:r>
            <a:r>
              <a:rPr dirty="0" baseline="9661" sz="1725" spc="-60">
                <a:latin typeface="Palatino Linotype"/>
                <a:cs typeface="Palatino Linotype"/>
              </a:rPr>
              <a:t>Q</a:t>
            </a:r>
            <a:r>
              <a:rPr dirty="0" baseline="1587" sz="2625" spc="-60">
                <a:latin typeface="Symbol"/>
                <a:cs typeface="Symbol"/>
              </a:rPr>
              <a:t></a:t>
            </a:r>
            <a:r>
              <a:rPr dirty="0" baseline="9661" sz="1725" spc="-60">
                <a:latin typeface="Palatino Linotype"/>
                <a:cs typeface="Palatino Linotype"/>
              </a:rPr>
              <a:t>x</a:t>
            </a:r>
            <a:r>
              <a:rPr dirty="0" baseline="1587" sz="2625" spc="-60">
                <a:latin typeface="Symbol"/>
                <a:cs typeface="Symbol"/>
              </a:rPr>
              <a:t></a:t>
            </a:r>
            <a:r>
              <a:rPr dirty="0" sz="1950" spc="-40">
                <a:latin typeface="Symbol"/>
                <a:cs typeface="Symbol"/>
              </a:rPr>
              <a:t></a:t>
            </a:r>
            <a:r>
              <a:rPr dirty="0" sz="1950" spc="-240">
                <a:latin typeface="Times New Roman"/>
                <a:cs typeface="Times New Roman"/>
              </a:rPr>
              <a:t> </a:t>
            </a:r>
            <a:r>
              <a:rPr dirty="0" baseline="9661" sz="1725" spc="75">
                <a:latin typeface="Symbol"/>
                <a:cs typeface="Symbol"/>
              </a:rPr>
              <a:t></a:t>
            </a:r>
            <a:r>
              <a:rPr dirty="0" baseline="9661" sz="1725" spc="-67">
                <a:latin typeface="Times New Roman"/>
                <a:cs typeface="Times New Roman"/>
              </a:rPr>
              <a:t> </a:t>
            </a:r>
            <a:r>
              <a:rPr dirty="0" baseline="9661" sz="1725">
                <a:latin typeface="Palatino Linotype"/>
                <a:cs typeface="Palatino Linotype"/>
              </a:rPr>
              <a:t>0</a:t>
            </a:r>
            <a:r>
              <a:rPr dirty="0" baseline="9661" sz="1725" spc="300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vô</a:t>
            </a:r>
            <a:r>
              <a:rPr dirty="0" baseline="2314" sz="1800" spc="7">
                <a:latin typeface="Palatino Linotype"/>
                <a:cs typeface="Palatino Linotype"/>
              </a:rPr>
              <a:t> </a:t>
            </a:r>
            <a:r>
              <a:rPr dirty="0" baseline="2314" sz="1800" spc="-15">
                <a:latin typeface="Palatino Linotype"/>
                <a:cs typeface="Palatino Linotype"/>
              </a:rPr>
              <a:t>nghiệm.</a:t>
            </a:r>
            <a:endParaRPr baseline="2314" sz="1800">
              <a:latin typeface="Palatino Linotype"/>
              <a:cs typeface="Palatino Linotype"/>
            </a:endParaRPr>
          </a:p>
          <a:p>
            <a:pPr marL="685800">
              <a:lnSpc>
                <a:spcPct val="100000"/>
              </a:lnSpc>
              <a:spcBef>
                <a:spcPts val="175"/>
              </a:spcBef>
            </a:pPr>
            <a:r>
              <a:rPr dirty="0" sz="1200">
                <a:latin typeface="Palatino Linotype"/>
                <a:cs typeface="Palatino Linotype"/>
              </a:rPr>
              <a:t>Chứng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minh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200">
                <a:latin typeface="Palatino Linotype"/>
                <a:cs typeface="Palatino Linotype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P</a:t>
            </a:r>
            <a:r>
              <a:rPr dirty="0" baseline="-3174" sz="2625">
                <a:latin typeface="Symbol"/>
                <a:cs typeface="Symbol"/>
              </a:rPr>
              <a:t></a:t>
            </a:r>
            <a:r>
              <a:rPr dirty="0" sz="1150">
                <a:latin typeface="Palatino Linotype"/>
                <a:cs typeface="Palatino Linotype"/>
              </a:rPr>
              <a:t>2017</a:t>
            </a:r>
            <a:r>
              <a:rPr dirty="0" baseline="-3174" sz="2625">
                <a:latin typeface="Symbol"/>
                <a:cs typeface="Symbol"/>
              </a:rPr>
              <a:t></a:t>
            </a:r>
            <a:r>
              <a:rPr dirty="0" baseline="-3174" sz="2625" spc="-254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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1008</a:t>
            </a:r>
            <a:r>
              <a:rPr dirty="0" baseline="47008" sz="975">
                <a:latin typeface="Palatino Linotype"/>
                <a:cs typeface="Palatino Linotype"/>
              </a:rPr>
              <a:t>6</a:t>
            </a:r>
            <a:r>
              <a:rPr dirty="0" sz="1150">
                <a:latin typeface="Palatino Linotype"/>
                <a:cs typeface="Palatino Linotype"/>
              </a:rPr>
              <a:t>.</a:t>
            </a:r>
            <a:r>
              <a:rPr dirty="0" sz="11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(đề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22)</a:t>
            </a:r>
            <a:endParaRPr sz="1200">
              <a:latin typeface="Palatino Linotype"/>
              <a:cs typeface="Palatino Linotype"/>
            </a:endParaRPr>
          </a:p>
          <a:p>
            <a:pPr marL="114300" marR="107950" indent="2647315">
              <a:lnSpc>
                <a:spcPct val="135900"/>
              </a:lnSpc>
              <a:spcBef>
                <a:spcPts val="200"/>
              </a:spcBef>
            </a:pPr>
            <a:r>
              <a:rPr dirty="0" sz="1200" i="1">
                <a:latin typeface="Palatino Linotype"/>
                <a:cs typeface="Palatino Linotype"/>
              </a:rPr>
              <a:t>(Trích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đề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thi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HSG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lớp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9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tỉnh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Bắc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Ninh</a:t>
            </a:r>
            <a:r>
              <a:rPr dirty="0" sz="1200" spc="27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năm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spc="-10" i="1">
                <a:latin typeface="Palatino Linotype"/>
                <a:cs typeface="Palatino Linotype"/>
              </a:rPr>
              <a:t>2018-2019)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5.</a:t>
            </a:r>
            <a:r>
              <a:rPr dirty="0" sz="1200" spc="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3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>
                <a:latin typeface="Times New Roman"/>
                <a:cs typeface="Times New Roman"/>
              </a:rPr>
              <a:t>)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0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bx</a:t>
            </a:r>
            <a:r>
              <a:rPr dirty="0" sz="1200" spc="-9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24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>
                <a:latin typeface="Times New Roman"/>
                <a:cs typeface="Times New Roman"/>
              </a:rPr>
              <a:t>)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3,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>
                <a:latin typeface="Times New Roman"/>
                <a:cs typeface="Times New Roman"/>
              </a:rPr>
              <a:t>)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và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>
                <a:latin typeface="Times New Roman"/>
                <a:cs typeface="Times New Roman"/>
              </a:rPr>
              <a:t>)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 x – 1 dư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5. Tìm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 b, </a:t>
            </a:r>
            <a:r>
              <a:rPr dirty="0" sz="1200" spc="-25">
                <a:latin typeface="Palatino Linotype"/>
                <a:cs typeface="Palatino Linotype"/>
              </a:rPr>
              <a:t>c.</a:t>
            </a:r>
            <a:endParaRPr sz="1200">
              <a:latin typeface="Palatino Linotype"/>
              <a:cs typeface="Palatino Linotype"/>
            </a:endParaRPr>
          </a:p>
          <a:p>
            <a:pPr algn="just" marL="114300" marR="106680" indent="2842895">
              <a:lnSpc>
                <a:spcPct val="134900"/>
              </a:lnSpc>
              <a:spcBef>
                <a:spcPts val="1070"/>
              </a:spcBef>
            </a:pPr>
            <a:r>
              <a:rPr dirty="0" sz="1200" spc="-5" i="1">
                <a:latin typeface="Palatino Linotype"/>
                <a:cs typeface="Palatino Linotype"/>
              </a:rPr>
              <a:t>(Trích</a:t>
            </a:r>
            <a:r>
              <a:rPr dirty="0" sz="1200" i="1">
                <a:latin typeface="Palatino Linotype"/>
                <a:cs typeface="Palatino Linotype"/>
              </a:rPr>
              <a:t> đề </a:t>
            </a:r>
            <a:r>
              <a:rPr dirty="0" sz="1200" spc="-10" i="1">
                <a:latin typeface="Palatino Linotype"/>
                <a:cs typeface="Palatino Linotype"/>
              </a:rPr>
              <a:t>vào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10 C</a:t>
            </a:r>
            <a:r>
              <a:rPr dirty="0" sz="1200" spc="-5" i="1">
                <a:latin typeface="Palatino Linotype"/>
                <a:cs typeface="Palatino Linotype"/>
              </a:rPr>
              <a:t>h</a:t>
            </a:r>
            <a:r>
              <a:rPr dirty="0" sz="1200" i="1">
                <a:latin typeface="Palatino Linotype"/>
                <a:cs typeface="Palatino Linotype"/>
              </a:rPr>
              <a:t>u</a:t>
            </a:r>
            <a:r>
              <a:rPr dirty="0" sz="1200" spc="-5" i="1">
                <a:latin typeface="Palatino Linotype"/>
                <a:cs typeface="Palatino Linotype"/>
              </a:rPr>
              <a:t>yê</a:t>
            </a:r>
            <a:r>
              <a:rPr dirty="0" sz="1200" i="1">
                <a:latin typeface="Palatino Linotype"/>
                <a:cs typeface="Palatino Linotype"/>
              </a:rPr>
              <a:t>n</a:t>
            </a:r>
            <a:r>
              <a:rPr dirty="0" sz="1200" spc="-10" i="1">
                <a:latin typeface="Palatino Linotype"/>
                <a:cs typeface="Palatino Linotype"/>
              </a:rPr>
              <a:t> Nam</a:t>
            </a:r>
            <a:r>
              <a:rPr dirty="0" sz="1200" i="1">
                <a:latin typeface="Palatino Linotype"/>
                <a:cs typeface="Palatino Linotype"/>
              </a:rPr>
              <a:t> </a:t>
            </a:r>
            <a:r>
              <a:rPr dirty="0" sz="1200" spc="-5" i="1">
                <a:latin typeface="Palatino Linotype"/>
                <a:cs typeface="Palatino Linotype"/>
              </a:rPr>
              <a:t>Định</a:t>
            </a:r>
            <a:r>
              <a:rPr dirty="0" sz="1200" i="1">
                <a:latin typeface="Palatino Linotype"/>
                <a:cs typeface="Palatino Linotype"/>
              </a:rPr>
              <a:t> </a:t>
            </a:r>
            <a:r>
              <a:rPr dirty="0" sz="1200" spc="-10" i="1">
                <a:latin typeface="Palatino Linotype"/>
                <a:cs typeface="Palatino Linotype"/>
              </a:rPr>
              <a:t>năm</a:t>
            </a:r>
            <a:r>
              <a:rPr dirty="0" sz="1200" i="1">
                <a:latin typeface="Palatino Linotype"/>
                <a:cs typeface="Palatino Linotype"/>
              </a:rPr>
              <a:t> </a:t>
            </a:r>
            <a:r>
              <a:rPr dirty="0" sz="1200" spc="-5" i="1">
                <a:latin typeface="Palatino Linotype"/>
                <a:cs typeface="Palatino Linotype"/>
              </a:rPr>
              <a:t>2015-</a:t>
            </a:r>
            <a:r>
              <a:rPr dirty="0" sz="1200" spc="-10" i="1">
                <a:latin typeface="Palatino Linotype"/>
                <a:cs typeface="Palatino Linotype"/>
              </a:rPr>
              <a:t>2016)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1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6.</a:t>
            </a:r>
            <a:r>
              <a:rPr dirty="0" sz="1200" spc="1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15">
                <a:latin typeface="Palatino Linotype"/>
                <a:cs typeface="Palatino Linotype"/>
              </a:rPr>
              <a:t>Tìm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các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số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thực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 spc="-5">
                <a:latin typeface="Palatino Linotype"/>
                <a:cs typeface="Palatino Linotype"/>
              </a:rPr>
              <a:t>sao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5">
                <a:latin typeface="Palatino Linotype"/>
                <a:cs typeface="Palatino Linotype"/>
              </a:rPr>
              <a:t>cho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đa</a:t>
            </a:r>
            <a:r>
              <a:rPr dirty="0" sz="1200" spc="12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thức</a:t>
            </a:r>
            <a:r>
              <a:rPr dirty="0" sz="1200" spc="290">
                <a:latin typeface="Palatino Linotype"/>
                <a:cs typeface="Palatino Linotype"/>
              </a:rPr>
              <a:t> </a:t>
            </a:r>
            <a:r>
              <a:rPr dirty="0" sz="1250" spc="35">
                <a:latin typeface="Cambria"/>
                <a:cs typeface="Cambria"/>
              </a:rPr>
              <a:t>4x</a:t>
            </a:r>
            <a:r>
              <a:rPr dirty="0" baseline="44444" sz="1125" spc="52">
                <a:latin typeface="Cambria"/>
                <a:cs typeface="Cambria"/>
              </a:rPr>
              <a:t>4</a:t>
            </a:r>
            <a:r>
              <a:rPr dirty="0" baseline="44444" sz="1125" spc="359">
                <a:latin typeface="Cambria"/>
                <a:cs typeface="Cambria"/>
              </a:rPr>
              <a:t> </a:t>
            </a:r>
            <a:r>
              <a:rPr dirty="0" sz="1250" spc="-10">
                <a:latin typeface="Symbol"/>
                <a:cs typeface="Symbol"/>
              </a:rPr>
              <a:t></a:t>
            </a:r>
            <a:r>
              <a:rPr dirty="0" sz="1250" spc="-110">
                <a:latin typeface="Times New Roman"/>
                <a:cs typeface="Times New Roman"/>
              </a:rPr>
              <a:t> </a:t>
            </a:r>
            <a:r>
              <a:rPr dirty="0" sz="1250" spc="-5">
                <a:latin typeface="Cambria"/>
                <a:cs typeface="Cambria"/>
              </a:rPr>
              <a:t>11x</a:t>
            </a:r>
            <a:r>
              <a:rPr dirty="0" baseline="44444" sz="1125" spc="-7">
                <a:latin typeface="Cambria"/>
                <a:cs typeface="Cambria"/>
              </a:rPr>
              <a:t>3</a:t>
            </a:r>
            <a:r>
              <a:rPr dirty="0" baseline="44444" sz="1125" spc="315">
                <a:latin typeface="Cambria"/>
                <a:cs typeface="Cambria"/>
              </a:rPr>
              <a:t> </a:t>
            </a:r>
            <a:r>
              <a:rPr dirty="0" sz="1250" spc="-10">
                <a:latin typeface="Symbol"/>
                <a:cs typeface="Symbol"/>
              </a:rPr>
              <a:t></a:t>
            </a:r>
            <a:r>
              <a:rPr dirty="0" sz="1250" spc="-95">
                <a:latin typeface="Times New Roman"/>
                <a:cs typeface="Times New Roman"/>
              </a:rPr>
              <a:t> </a:t>
            </a:r>
            <a:r>
              <a:rPr dirty="0" sz="1250" spc="5">
                <a:latin typeface="Cambria"/>
                <a:cs typeface="Cambria"/>
              </a:rPr>
              <a:t>2ax</a:t>
            </a:r>
            <a:r>
              <a:rPr dirty="0" baseline="44444" sz="1125" spc="7">
                <a:latin typeface="Cambria"/>
                <a:cs typeface="Cambria"/>
              </a:rPr>
              <a:t>2</a:t>
            </a:r>
            <a:r>
              <a:rPr dirty="0" baseline="44444" sz="1125" spc="127">
                <a:latin typeface="Cambria"/>
                <a:cs typeface="Cambria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5bx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15">
                <a:latin typeface="Palatino Linotype"/>
                <a:cs typeface="Palatino Linotype"/>
              </a:rPr>
              <a:t>chia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5">
                <a:latin typeface="Palatino Linotype"/>
                <a:cs typeface="Palatino Linotype"/>
              </a:rPr>
              <a:t>hết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5">
                <a:latin typeface="Palatino Linotype"/>
                <a:cs typeface="Palatino Linotype"/>
              </a:rPr>
              <a:t>cho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thức</a:t>
            </a:r>
            <a:r>
              <a:rPr dirty="0" sz="1200" spc="-5">
                <a:latin typeface="Palatino Linotype"/>
                <a:cs typeface="Palatino Linotype"/>
              </a:rPr>
              <a:t> x</a:t>
            </a:r>
            <a:r>
              <a:rPr dirty="0" baseline="27777" sz="1050" spc="-7">
                <a:latin typeface="Palatino Linotype"/>
                <a:cs typeface="Palatino Linotype"/>
              </a:rPr>
              <a:t>2</a:t>
            </a:r>
            <a:r>
              <a:rPr dirty="0" baseline="27777" sz="1050" spc="18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2x</a:t>
            </a:r>
            <a:r>
              <a:rPr dirty="0" sz="1200">
                <a:latin typeface="Palatino Linotype"/>
                <a:cs typeface="Palatino Linotype"/>
              </a:rPr>
              <a:t> – 3 .</a:t>
            </a:r>
            <a:endParaRPr sz="1200">
              <a:latin typeface="Palatino Linotype"/>
              <a:cs typeface="Palatino Linotype"/>
            </a:endParaRPr>
          </a:p>
          <a:p>
            <a:pPr algn="just" marL="2620010">
              <a:lnSpc>
                <a:spcPct val="100000"/>
              </a:lnSpc>
              <a:spcBef>
                <a:spcPts val="825"/>
              </a:spcBef>
            </a:pPr>
            <a:r>
              <a:rPr dirty="0" sz="1200" i="1">
                <a:latin typeface="Palatino Linotype"/>
                <a:cs typeface="Palatino Linotype"/>
              </a:rPr>
              <a:t>(Thi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học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sinh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giỏi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lớp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9,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TP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Hà</a:t>
            </a:r>
            <a:r>
              <a:rPr dirty="0" sz="1200" spc="-2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Nội,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năm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học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2012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–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spc="-10" i="1">
                <a:latin typeface="Palatino Linotype"/>
                <a:cs typeface="Palatino Linotype"/>
              </a:rPr>
              <a:t>2013)</a:t>
            </a:r>
            <a:endParaRPr sz="1200">
              <a:latin typeface="Palatino Linotype"/>
              <a:cs typeface="Palatino Linotype"/>
            </a:endParaRPr>
          </a:p>
          <a:p>
            <a:pPr marL="723900" marR="1250315" indent="-610235">
              <a:lnSpc>
                <a:spcPct val="130800"/>
              </a:lnSpc>
              <a:spcBef>
                <a:spcPts val="36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7.</a:t>
            </a:r>
            <a:r>
              <a:rPr dirty="0" sz="1200" spc="135" b="1">
                <a:solidFill>
                  <a:srgbClr val="00AFEF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Tìm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đa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thức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f(x)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biết:</a:t>
            </a:r>
            <a:r>
              <a:rPr dirty="0" sz="1200" spc="13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f(x)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chia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x+3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dư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1;</a:t>
            </a:r>
            <a:r>
              <a:rPr dirty="0" sz="1200" spc="135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f(x)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chia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 –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dư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8; </a:t>
            </a:r>
            <a:r>
              <a:rPr dirty="0" sz="1200">
                <a:latin typeface="Times New Roman"/>
                <a:cs typeface="Times New Roman"/>
              </a:rPr>
              <a:t>f(x)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chia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(x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3)(x –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4)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thì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được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3x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và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còn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dư.</a:t>
            </a:r>
            <a:endParaRPr sz="12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32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8.</a:t>
            </a:r>
            <a:r>
              <a:rPr dirty="0" sz="1200" spc="130" b="1">
                <a:solidFill>
                  <a:srgbClr val="00AFEF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2),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và</a:t>
            </a:r>
            <a:endParaRPr sz="1200">
              <a:latin typeface="Palatino Linotype"/>
              <a:cs typeface="Palatino Linotype"/>
            </a:endParaRPr>
          </a:p>
          <a:p>
            <a:pPr marL="6858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latin typeface="Palatino Linotype"/>
                <a:cs typeface="Palatino Linotype"/>
              </a:rPr>
              <a:t>P(-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-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18.</a:t>
            </a:r>
            <a:endParaRPr sz="1200">
              <a:latin typeface="Palatino Linotype"/>
              <a:cs typeface="Palatino Linotype"/>
            </a:endParaRPr>
          </a:p>
          <a:p>
            <a:pPr marL="114300">
              <a:lnSpc>
                <a:spcPct val="100000"/>
              </a:lnSpc>
              <a:spcBef>
                <a:spcPts val="53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5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9.</a:t>
            </a:r>
            <a:r>
              <a:rPr dirty="0" sz="1200" spc="130" b="1">
                <a:solidFill>
                  <a:srgbClr val="00AFEF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Chứng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minh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 spc="50">
                <a:latin typeface="Cambria"/>
                <a:cs typeface="Cambria"/>
              </a:rPr>
              <a:t>f</a:t>
            </a:r>
            <a:r>
              <a:rPr dirty="0" sz="1200" spc="-40">
                <a:latin typeface="Cambria"/>
                <a:cs typeface="Cambria"/>
              </a:rPr>
              <a:t> </a:t>
            </a:r>
            <a:r>
              <a:rPr dirty="0" baseline="-4273" sz="2925" spc="-120">
                <a:latin typeface="Symbol"/>
                <a:cs typeface="Symbol"/>
              </a:rPr>
              <a:t></a:t>
            </a:r>
            <a:r>
              <a:rPr dirty="0" sz="1200" spc="-80">
                <a:latin typeface="Cambria"/>
                <a:cs typeface="Cambria"/>
              </a:rPr>
              <a:t>x</a:t>
            </a:r>
            <a:r>
              <a:rPr dirty="0" baseline="-4273" sz="2925" spc="-120">
                <a:latin typeface="Symbol"/>
                <a:cs typeface="Symbol"/>
              </a:rPr>
              <a:t></a:t>
            </a:r>
            <a:r>
              <a:rPr dirty="0" baseline="-4273" sz="2925" spc="-19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baseline="-4273" sz="2925">
                <a:latin typeface="Symbol"/>
                <a:cs typeface="Symbol"/>
              </a:rPr>
              <a:t></a:t>
            </a:r>
            <a:r>
              <a:rPr dirty="0" sz="1200">
                <a:latin typeface="Cambria"/>
                <a:cs typeface="Cambria"/>
              </a:rPr>
              <a:t>x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Cambria"/>
                <a:cs typeface="Cambria"/>
              </a:rPr>
              <a:t>3</a:t>
            </a:r>
            <a:r>
              <a:rPr dirty="0" baseline="-4273" sz="2925" spc="-37">
                <a:latin typeface="Symbol"/>
                <a:cs typeface="Symbol"/>
              </a:rPr>
              <a:t></a:t>
            </a:r>
            <a:r>
              <a:rPr dirty="0" baseline="71428" sz="1050" spc="-37">
                <a:latin typeface="Cambria"/>
                <a:cs typeface="Cambria"/>
              </a:rPr>
              <a:t>200</a:t>
            </a:r>
            <a:r>
              <a:rPr dirty="0" baseline="71428" sz="1050" spc="34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baseline="-4273" sz="2925">
                <a:latin typeface="Symbol"/>
                <a:cs typeface="Symbol"/>
              </a:rPr>
              <a:t></a:t>
            </a:r>
            <a:r>
              <a:rPr dirty="0" sz="1200">
                <a:latin typeface="Cambria"/>
                <a:cs typeface="Cambria"/>
              </a:rPr>
              <a:t>x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Cambria"/>
                <a:cs typeface="Cambria"/>
              </a:rPr>
              <a:t>2</a:t>
            </a:r>
            <a:r>
              <a:rPr dirty="0" baseline="-4273" sz="2925" spc="-44">
                <a:latin typeface="Symbol"/>
                <a:cs typeface="Symbol"/>
              </a:rPr>
              <a:t></a:t>
            </a:r>
            <a:r>
              <a:rPr dirty="0" baseline="71428" sz="1050" spc="-44">
                <a:latin typeface="Cambria"/>
                <a:cs typeface="Cambria"/>
              </a:rPr>
              <a:t>100</a:t>
            </a:r>
            <a:r>
              <a:rPr dirty="0" baseline="71428" sz="1050" spc="337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1</a:t>
            </a:r>
            <a:r>
              <a:rPr dirty="0" sz="1200" spc="-100">
                <a:latin typeface="Cambria"/>
                <a:cs typeface="Cambria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thức</a:t>
            </a:r>
            <a:endParaRPr sz="1200">
              <a:latin typeface="Palatino Linotype"/>
              <a:cs typeface="Palatino Linotype"/>
            </a:endParaRPr>
          </a:p>
          <a:p>
            <a:pPr marL="137795">
              <a:lnSpc>
                <a:spcPct val="100000"/>
              </a:lnSpc>
              <a:spcBef>
                <a:spcPts val="80"/>
              </a:spcBef>
            </a:pPr>
            <a:r>
              <a:rPr dirty="0" sz="1150">
                <a:latin typeface="Cambria"/>
                <a:cs typeface="Cambria"/>
              </a:rPr>
              <a:t>g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baseline="-4629" sz="2700">
                <a:latin typeface="Symbol"/>
                <a:cs typeface="Symbol"/>
              </a:rPr>
              <a:t></a:t>
            </a:r>
            <a:r>
              <a:rPr dirty="0" baseline="-4629" sz="2700" spc="-97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120">
                <a:latin typeface="Times New Roman"/>
                <a:cs typeface="Times New Roman"/>
              </a:rPr>
              <a:t> </a:t>
            </a:r>
            <a:r>
              <a:rPr dirty="0" sz="1150" spc="85">
                <a:latin typeface="Cambria"/>
                <a:cs typeface="Cambria"/>
              </a:rPr>
              <a:t>x</a:t>
            </a:r>
            <a:r>
              <a:rPr dirty="0" baseline="42735" sz="975" spc="127">
                <a:latin typeface="Cambria"/>
                <a:cs typeface="Cambria"/>
              </a:rPr>
              <a:t>2</a:t>
            </a:r>
            <a:r>
              <a:rPr dirty="0" baseline="42735" sz="975" spc="39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80">
                <a:latin typeface="Cambria"/>
                <a:cs typeface="Cambria"/>
              </a:rPr>
              <a:t>5x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Cambria"/>
                <a:cs typeface="Cambria"/>
              </a:rPr>
              <a:t>6</a:t>
            </a:r>
            <a:endParaRPr sz="1150">
              <a:latin typeface="Cambria"/>
              <a:cs typeface="Cambria"/>
            </a:endParaRPr>
          </a:p>
          <a:p>
            <a:pPr marL="571500" marR="275590" indent="-457834">
              <a:lnSpc>
                <a:spcPct val="127400"/>
              </a:lnSpc>
              <a:spcBef>
                <a:spcPts val="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10.</a:t>
            </a:r>
            <a:r>
              <a:rPr dirty="0" sz="1200" spc="130" b="1">
                <a:solidFill>
                  <a:srgbClr val="00AFEF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5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 spc="85">
                <a:latin typeface="Symbol"/>
                <a:cs typeface="Symbol"/>
              </a:rPr>
              <a:t></a:t>
            </a:r>
            <a:r>
              <a:rPr dirty="0" sz="1200" spc="85">
                <a:latin typeface="Palatino Linotype"/>
                <a:cs typeface="Palatino Linotype"/>
              </a:rPr>
              <a:t>c</a:t>
            </a:r>
            <a:r>
              <a:rPr dirty="0" sz="1200" spc="23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.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3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 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3,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3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x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5.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c.</a:t>
            </a:r>
            <a:endParaRPr sz="1200">
              <a:latin typeface="Palatino Linotype"/>
              <a:cs typeface="Palatino Linotype"/>
            </a:endParaRPr>
          </a:p>
          <a:p>
            <a:pPr marL="114300">
              <a:lnSpc>
                <a:spcPct val="100000"/>
              </a:lnSpc>
              <a:spcBef>
                <a:spcPts val="137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11.</a:t>
            </a:r>
            <a:r>
              <a:rPr dirty="0" sz="1200" spc="30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 đa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 spc="80">
                <a:latin typeface="Symbol"/>
                <a:cs typeface="Symbol"/>
              </a:rPr>
              <a:t></a:t>
            </a:r>
            <a:r>
              <a:rPr dirty="0" sz="1200" spc="80">
                <a:latin typeface="Palatino Linotype"/>
                <a:cs typeface="Palatino Linotype"/>
              </a:rPr>
              <a:t>a</a:t>
            </a:r>
            <a:r>
              <a:rPr dirty="0" sz="1200" spc="23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. </a:t>
            </a:r>
            <a:r>
              <a:rPr dirty="0" sz="1200">
                <a:latin typeface="Palatino Linotype"/>
                <a:cs typeface="Palatino Linotype"/>
              </a:rPr>
              <a:t>Xác định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a </a:t>
            </a:r>
            <a:r>
              <a:rPr dirty="0" sz="1200">
                <a:latin typeface="Palatino Linotype"/>
                <a:cs typeface="Palatino Linotype"/>
              </a:rPr>
              <a:t>để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5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 cho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 – </a:t>
            </a:r>
            <a:r>
              <a:rPr dirty="0" sz="1200" spc="-25">
                <a:latin typeface="Palatino Linotype"/>
                <a:cs typeface="Palatino Linotype"/>
              </a:rPr>
              <a:t>2).</a:t>
            </a:r>
            <a:endParaRPr sz="1200">
              <a:latin typeface="Palatino Linotype"/>
              <a:cs typeface="Palatino Linotype"/>
            </a:endParaRPr>
          </a:p>
          <a:p>
            <a:pPr marL="571500" marR="834390" indent="-457834">
              <a:lnSpc>
                <a:spcPts val="3360"/>
              </a:lnSpc>
              <a:spcBef>
                <a:spcPts val="43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12</a:t>
            </a:r>
            <a:r>
              <a:rPr dirty="0" sz="1200">
                <a:solidFill>
                  <a:srgbClr val="00AFEF"/>
                </a:solidFill>
                <a:latin typeface="Palatino Linotype"/>
                <a:cs typeface="Palatino Linotype"/>
              </a:rPr>
              <a:t>.</a:t>
            </a:r>
            <a:r>
              <a:rPr dirty="0" sz="1200" spc="10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60">
                <a:latin typeface="Palatino Linotype"/>
                <a:cs typeface="Palatino Linotype"/>
              </a:rPr>
              <a:t> </a:t>
            </a:r>
            <a:r>
              <a:rPr dirty="0" baseline="-3174" sz="2625" spc="-127">
                <a:latin typeface="Symbol"/>
                <a:cs typeface="Symbol"/>
              </a:rPr>
              <a:t></a:t>
            </a:r>
            <a:r>
              <a:rPr dirty="0" sz="1200" spc="-85">
                <a:latin typeface="Palatino Linotype"/>
                <a:cs typeface="Palatino Linotype"/>
              </a:rPr>
              <a:t>a</a:t>
            </a:r>
            <a:r>
              <a:rPr dirty="0" sz="1200" spc="-6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Palatino Linotype"/>
                <a:cs typeface="Palatino Linotype"/>
              </a:rPr>
              <a:t>1.</a:t>
            </a:r>
            <a:r>
              <a:rPr dirty="0" sz="1200" spc="1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5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cho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2).</a:t>
            </a:r>
            <a:endParaRPr sz="1200">
              <a:latin typeface="Palatino Linotype"/>
              <a:cs typeface="Palatino Linotype"/>
            </a:endParaRPr>
          </a:p>
          <a:p>
            <a:pPr marL="571500" marR="229870" indent="-457834">
              <a:lnSpc>
                <a:spcPts val="2560"/>
              </a:lnSpc>
              <a:spcBef>
                <a:spcPts val="30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13.</a:t>
            </a:r>
            <a:r>
              <a:rPr dirty="0" sz="1200" spc="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 bậc 3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dạng: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sz="1200">
                <a:latin typeface="Palatino Linotype"/>
                <a:cs typeface="Palatino Linotype"/>
              </a:rPr>
              <a:t>=x</a:t>
            </a:r>
            <a:r>
              <a:rPr dirty="0" baseline="47008" sz="975">
                <a:latin typeface="Palatino Linotype"/>
                <a:cs typeface="Palatino Linotype"/>
              </a:rPr>
              <a:t>3</a:t>
            </a:r>
            <a:r>
              <a:rPr dirty="0" baseline="47008" sz="975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2) và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cho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2x.</a:t>
            </a:r>
            <a:endParaRPr sz="1200">
              <a:latin typeface="Palatino Linotype"/>
              <a:cs typeface="Palatino Linotype"/>
            </a:endParaRPr>
          </a:p>
          <a:p>
            <a:pPr marL="114300">
              <a:lnSpc>
                <a:spcPct val="100000"/>
              </a:lnSpc>
              <a:spcBef>
                <a:spcPts val="136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14.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điều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kiện: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3174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n</a:t>
            </a:r>
            <a:r>
              <a:rPr dirty="0" baseline="-3174" sz="2625" spc="-112">
                <a:latin typeface="Symbol"/>
                <a:cs typeface="Symbol"/>
              </a:rPr>
              <a:t></a:t>
            </a:r>
            <a:r>
              <a:rPr dirty="0" baseline="-3174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u="sng" baseline="34722" sz="1800" spc="-247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baseline="34722" sz="1800" spc="427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1;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2;</a:t>
            </a:r>
            <a:r>
              <a:rPr dirty="0" sz="1200" spc="-10">
                <a:latin typeface="Palatino Linotype"/>
                <a:cs typeface="Palatino Linotype"/>
              </a:rPr>
              <a:t> 3;....;2001.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170305" y="636904"/>
            <a:ext cx="6226810" cy="614045"/>
            <a:chOff x="1170305" y="636904"/>
            <a:chExt cx="6226810" cy="614045"/>
          </a:xfrm>
        </p:grpSpPr>
        <p:sp>
          <p:nvSpPr>
            <p:cNvPr id="7" name="object 7" descr=""/>
            <p:cNvSpPr/>
            <p:nvPr/>
          </p:nvSpPr>
          <p:spPr>
            <a:xfrm>
              <a:off x="1170305" y="640079"/>
              <a:ext cx="6226810" cy="0"/>
            </a:xfrm>
            <a:custGeom>
              <a:avLst/>
              <a:gdLst/>
              <a:ahLst/>
              <a:cxnLst/>
              <a:rect l="l" t="t" r="r" b="b"/>
              <a:pathLst>
                <a:path w="6226809" h="0">
                  <a:moveTo>
                    <a:pt x="0" y="0"/>
                  </a:moveTo>
                  <a:lnTo>
                    <a:pt x="6226810" y="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6880" y="758832"/>
              <a:ext cx="190237" cy="18129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6469" y="758832"/>
              <a:ext cx="190250" cy="18129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13198" y="1069802"/>
              <a:ext cx="190250" cy="18099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3100" y="1069802"/>
              <a:ext cx="190237" cy="18099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934758" y="1038190"/>
              <a:ext cx="766445" cy="0"/>
            </a:xfrm>
            <a:custGeom>
              <a:avLst/>
              <a:gdLst/>
              <a:ahLst/>
              <a:cxnLst/>
              <a:rect l="l" t="t" r="r" b="b"/>
              <a:pathLst>
                <a:path w="766445" h="0">
                  <a:moveTo>
                    <a:pt x="0" y="0"/>
                  </a:moveTo>
                  <a:lnTo>
                    <a:pt x="766181" y="0"/>
                  </a:lnTo>
                </a:path>
              </a:pathLst>
            </a:custGeom>
            <a:ln w="7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3139" y="914161"/>
              <a:ext cx="190237" cy="181291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06627" y="911097"/>
            <a:ext cx="41770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16.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sao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cho: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892237" y="608433"/>
            <a:ext cx="855344" cy="69659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50800" marR="43180" indent="635">
              <a:lnSpc>
                <a:spcPts val="2450"/>
              </a:lnSpc>
              <a:spcBef>
                <a:spcPts val="500"/>
              </a:spcBef>
            </a:pPr>
            <a:r>
              <a:rPr dirty="0" sz="1200" b="0">
                <a:solidFill>
                  <a:srgbClr val="000000"/>
                </a:solidFill>
                <a:latin typeface="Palatino Linotype"/>
                <a:cs typeface="Palatino Linotype"/>
              </a:rPr>
              <a:t>h</a:t>
            </a:r>
            <a:r>
              <a:rPr dirty="0" baseline="-5910" sz="3525" b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dirty="0" baseline="-5910" sz="3525" spc="292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b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dirty="0" sz="1200" spc="-40" b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dirty="0" sz="1200" b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dirty="0" sz="1200" spc="140" b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dirty="0" sz="1200" b="0">
                <a:solidFill>
                  <a:srgbClr val="000000"/>
                </a:solidFill>
                <a:latin typeface="Palatino Linotype"/>
                <a:cs typeface="Palatino Linotype"/>
              </a:rPr>
              <a:t>7</a:t>
            </a:r>
            <a:r>
              <a:rPr dirty="0" sz="1200" spc="-90" b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dirty="0" baseline="-5910" sz="3525" spc="-667" b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r>
              <a:rPr dirty="0" baseline="-5910" sz="35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b="0">
                <a:solidFill>
                  <a:srgbClr val="000000"/>
                </a:solidFill>
                <a:latin typeface="Palatino Linotype"/>
                <a:cs typeface="Palatino Linotype"/>
              </a:rPr>
              <a:t>g</a:t>
            </a:r>
            <a:r>
              <a:rPr dirty="0" baseline="-5910" sz="3525" b="0">
                <a:solidFill>
                  <a:srgbClr val="000000"/>
                </a:solidFill>
                <a:latin typeface="Symbol"/>
                <a:cs typeface="Symbol"/>
              </a:rPr>
              <a:t></a:t>
            </a:r>
            <a:r>
              <a:rPr dirty="0" baseline="-5910" sz="3525" spc="307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b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dirty="0" sz="1200" spc="-35" b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dirty="0" sz="1200" b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dirty="0" sz="1200" spc="145" b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dirty="0" sz="1200" b="0">
                <a:solidFill>
                  <a:srgbClr val="000000"/>
                </a:solidFill>
                <a:latin typeface="Palatino Linotype"/>
                <a:cs typeface="Palatino Linotype"/>
              </a:rPr>
              <a:t>7</a:t>
            </a:r>
            <a:r>
              <a:rPr dirty="0" sz="1200" spc="-95" b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dirty="0" baseline="-5910" sz="3525" spc="-667" b="0">
                <a:solidFill>
                  <a:srgbClr val="000000"/>
                </a:solidFill>
                <a:latin typeface="Symbol"/>
                <a:cs typeface="Symbol"/>
              </a:rPr>
              <a:t></a:t>
            </a:r>
            <a:endParaRPr baseline="-5910" sz="3525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28720" y="911192"/>
            <a:ext cx="4394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950" algn="l"/>
              </a:tabLst>
            </a:pP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29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2034862" y="1748934"/>
            <a:ext cx="728980" cy="0"/>
          </a:xfrm>
          <a:custGeom>
            <a:avLst/>
            <a:gdLst/>
            <a:ahLst/>
            <a:cxnLst/>
            <a:rect l="l" t="t" r="r" b="b"/>
            <a:pathLst>
              <a:path w="728980" h="0">
                <a:moveTo>
                  <a:pt x="0" y="0"/>
                </a:moveTo>
                <a:lnTo>
                  <a:pt x="728967" y="0"/>
                </a:lnTo>
              </a:path>
            </a:pathLst>
          </a:custGeom>
          <a:ln w="75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06627" y="1547718"/>
            <a:ext cx="1304925" cy="298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17.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baseline="-3086" sz="2700" spc="-135">
                <a:latin typeface="Symbol"/>
                <a:cs typeface="Symbol"/>
              </a:rPr>
              <a:t></a:t>
            </a:r>
            <a:r>
              <a:rPr dirty="0" sz="1200" spc="-90">
                <a:latin typeface="Palatino Linotype"/>
                <a:cs typeface="Palatino Linotype"/>
              </a:rPr>
              <a:t>x</a:t>
            </a:r>
            <a:r>
              <a:rPr dirty="0" baseline="-3086" sz="2700" spc="-135">
                <a:latin typeface="Symbol"/>
                <a:cs typeface="Symbol"/>
              </a:rPr>
              <a:t></a:t>
            </a:r>
            <a:r>
              <a:rPr dirty="0" baseline="-3086" sz="2700" spc="-3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290911" y="1455429"/>
            <a:ext cx="20574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5462" sz="1800" spc="-37">
                <a:latin typeface="Palatino Linotype"/>
                <a:cs typeface="Palatino Linotype"/>
              </a:rPr>
              <a:t>x</a:t>
            </a:r>
            <a:r>
              <a:rPr dirty="0" sz="700" spc="-25">
                <a:latin typeface="Palatino Linotype"/>
                <a:cs typeface="Palatino Linotype"/>
              </a:rPr>
              <a:t>3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998893" y="1745323"/>
            <a:ext cx="78105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3x</a:t>
            </a:r>
            <a:r>
              <a:rPr dirty="0" baseline="43650" sz="1050" spc="-37">
                <a:latin typeface="Palatino Linotype"/>
                <a:cs typeface="Palatino Linotype"/>
              </a:rPr>
              <a:t>2</a:t>
            </a:r>
            <a:endParaRPr baseline="43650" sz="105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787523" y="1622805"/>
            <a:ext cx="2390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Hãy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giá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trị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biểu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sau: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618305" y="2110659"/>
            <a:ext cx="120269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04215" algn="l"/>
              </a:tabLst>
            </a:pP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u="sng" sz="1200" spc="19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sz="1200" spc="16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u="sng" sz="1200" spc="19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</a:t>
            </a:r>
            <a:r>
              <a:rPr dirty="0" u="sng" sz="1200" spc="17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40299" y="2110659"/>
            <a:ext cx="120269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04215" algn="l"/>
              </a:tabLst>
            </a:pP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9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2010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u="sng" sz="1200" spc="-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2011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247671" y="2207476"/>
            <a:ext cx="48196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endParaRPr baseline="-16203" sz="1800">
              <a:latin typeface="Symbol"/>
              <a:cs typeface="Symbo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018152" y="2207476"/>
            <a:ext cx="4032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17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endParaRPr baseline="-16203" sz="1800">
              <a:latin typeface="Symbol"/>
              <a:cs typeface="Symbo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710036" y="2207476"/>
            <a:ext cx="64135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15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...</a:t>
            </a:r>
            <a:r>
              <a:rPr dirty="0" sz="1200" spc="-15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endParaRPr baseline="-16203" sz="1800">
              <a:latin typeface="Symbol"/>
              <a:cs typeface="Symbo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640146" y="2207476"/>
            <a:ext cx="4032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16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endParaRPr baseline="-16203" sz="1800">
              <a:latin typeface="Symbol"/>
              <a:cs typeface="Symbo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357430" y="2251476"/>
            <a:ext cx="857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latin typeface="Symbol"/>
                <a:cs typeface="Symbol"/>
              </a:rPr>
              <a:t>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592905" y="2327346"/>
            <a:ext cx="125349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729615" algn="l"/>
              </a:tabLst>
            </a:pP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2012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r>
              <a:rPr dirty="0" baseline="-11574" sz="1800">
                <a:latin typeface="Times New Roman"/>
                <a:cs typeface="Times New Roman"/>
              </a:rPr>
              <a:t>	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2012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endParaRPr baseline="-11574" sz="1800">
              <a:latin typeface="Symbol"/>
              <a:cs typeface="Symbo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214899" y="2327346"/>
            <a:ext cx="125349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729615" algn="l"/>
              </a:tabLst>
            </a:pP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2012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r>
              <a:rPr dirty="0" baseline="-11574" sz="1800">
                <a:latin typeface="Times New Roman"/>
                <a:cs typeface="Times New Roman"/>
              </a:rPr>
              <a:t>	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6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2012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endParaRPr baseline="-11574" sz="1800">
              <a:latin typeface="Symbol"/>
              <a:cs typeface="Symbo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06627" y="2723133"/>
            <a:ext cx="2372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18.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mãn: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255599" y="3154547"/>
            <a:ext cx="20637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5462" sz="1800" spc="-37">
                <a:latin typeface="Palatino Linotype"/>
                <a:cs typeface="Palatino Linotype"/>
              </a:rPr>
              <a:t>x</a:t>
            </a:r>
            <a:r>
              <a:rPr dirty="0" sz="700" spc="-25">
                <a:latin typeface="Palatino Linotype"/>
                <a:cs typeface="Palatino Linotype"/>
              </a:rPr>
              <a:t>2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858492" y="3002198"/>
            <a:ext cx="6007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5450" algn="l"/>
              </a:tabLst>
            </a:pP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u="sng" sz="1200" spc="-204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 spc="-6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1</a:t>
            </a:r>
            <a:r>
              <a:rPr dirty="0" u="sng" sz="1200" spc="5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159994" y="3025274"/>
            <a:ext cx="4714240" cy="2984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909955" algn="l"/>
                <a:tab pos="1308735" algn="l"/>
              </a:tabLst>
            </a:pPr>
            <a:r>
              <a:rPr dirty="0" sz="1200" spc="-60">
                <a:latin typeface="Palatino Linotype"/>
                <a:cs typeface="Palatino Linotype"/>
              </a:rPr>
              <a:t>P</a:t>
            </a:r>
            <a:r>
              <a:rPr dirty="0" baseline="-4761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1</a:t>
            </a:r>
            <a:r>
              <a:rPr dirty="0" baseline="-4761" sz="2625" spc="-89">
                <a:latin typeface="Symbol"/>
                <a:cs typeface="Symbol"/>
              </a:rPr>
              <a:t></a:t>
            </a:r>
            <a:r>
              <a:rPr dirty="0" baseline="-4761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1;</a:t>
            </a:r>
            <a:r>
              <a:rPr dirty="0" sz="1200" spc="-145">
                <a:latin typeface="Palatino Linotype"/>
                <a:cs typeface="Palatino Linotype"/>
              </a:rPr>
              <a:t> </a:t>
            </a:r>
            <a:r>
              <a:rPr dirty="0" sz="1200" spc="45">
                <a:latin typeface="Palatino Linotype"/>
                <a:cs typeface="Palatino Linotype"/>
              </a:rPr>
              <a:t>P</a:t>
            </a:r>
            <a:r>
              <a:rPr dirty="0" baseline="-16203" sz="1800" spc="67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6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>
                <a:latin typeface="Symbol"/>
                <a:cs typeface="Symbol"/>
              </a:rPr>
              <a:t>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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0;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7777" sz="1050">
                <a:latin typeface="Palatino Linotype"/>
                <a:cs typeface="Palatino Linotype"/>
              </a:rPr>
              <a:t>1</a:t>
            </a:r>
            <a:r>
              <a:rPr dirty="0" baseline="-27777" sz="1050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7777" sz="1050">
                <a:latin typeface="Palatino Linotype"/>
                <a:cs typeface="Palatino Linotype"/>
              </a:rPr>
              <a:t>2</a:t>
            </a:r>
            <a:r>
              <a:rPr dirty="0" baseline="-27777" sz="1050" spc="89">
                <a:latin typeface="Palatino Linotype"/>
                <a:cs typeface="Palatino Linotype"/>
              </a:rPr>
              <a:t> </a:t>
            </a:r>
            <a:r>
              <a:rPr dirty="0" baseline="-4761" sz="2625" spc="-292">
                <a:latin typeface="Symbol"/>
                <a:cs typeface="Symbol"/>
              </a:rPr>
              <a:t></a:t>
            </a:r>
            <a:r>
              <a:rPr dirty="0" baseline="-4761" sz="2625" spc="-23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7777" sz="1050">
                <a:latin typeface="Palatino Linotype"/>
                <a:cs typeface="Palatino Linotype"/>
              </a:rPr>
              <a:t>1</a:t>
            </a:r>
            <a:r>
              <a:rPr dirty="0" baseline="-27777" sz="1050" spc="7">
                <a:latin typeface="Palatino Linotype"/>
                <a:cs typeface="Palatino Linotype"/>
              </a:rPr>
              <a:t> </a:t>
            </a:r>
            <a:r>
              <a:rPr dirty="0" baseline="-4761" sz="2625" spc="-292">
                <a:latin typeface="Symbol"/>
                <a:cs typeface="Symbol"/>
              </a:rPr>
              <a:t></a:t>
            </a:r>
            <a:r>
              <a:rPr dirty="0" baseline="-4761" sz="2625" spc="-359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7777" sz="1050">
                <a:latin typeface="Palatino Linotype"/>
                <a:cs typeface="Palatino Linotype"/>
              </a:rPr>
              <a:t>2</a:t>
            </a:r>
            <a:r>
              <a:rPr dirty="0" baseline="-27777" sz="1050" spc="89">
                <a:latin typeface="Palatino Linotype"/>
                <a:cs typeface="Palatino Linotype"/>
              </a:rPr>
              <a:t> 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>
                <a:latin typeface="Symbol"/>
                <a:cs typeface="Symbol"/>
              </a:rPr>
              <a:t>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7777" sz="1050">
                <a:latin typeface="Palatino Linotype"/>
                <a:cs typeface="Palatino Linotype"/>
              </a:rPr>
              <a:t>1</a:t>
            </a:r>
            <a:r>
              <a:rPr dirty="0" baseline="-27777" sz="1050" spc="-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-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7777" sz="1050">
                <a:latin typeface="Palatino Linotype"/>
                <a:cs typeface="Palatino Linotype"/>
              </a:rPr>
              <a:t>2</a:t>
            </a:r>
            <a:r>
              <a:rPr dirty="0" baseline="-27777" sz="1050" spc="195">
                <a:latin typeface="Palatino Linotype"/>
                <a:cs typeface="Palatino Linotype"/>
              </a:rPr>
              <a:t> </a:t>
            </a:r>
            <a:r>
              <a:rPr dirty="0" sz="1200" spc="25">
                <a:latin typeface="Symbol"/>
                <a:cs typeface="Symbol"/>
              </a:rPr>
              <a:t></a:t>
            </a:r>
            <a:r>
              <a:rPr dirty="0" sz="1200" spc="25">
                <a:latin typeface="Palatino Linotype"/>
                <a:cs typeface="Palatino Linotype"/>
              </a:rPr>
              <a:t>R.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833092" y="3248627"/>
            <a:ext cx="3352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x</a:t>
            </a:r>
            <a:r>
              <a:rPr dirty="0" baseline="11574" sz="1800" spc="-112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648367" y="3626079"/>
            <a:ext cx="2800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1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5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138732" y="3723627"/>
            <a:ext cx="81534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 spc="60">
                <a:latin typeface="Palatino Linotype"/>
                <a:cs typeface="Palatino Linotype"/>
              </a:rPr>
              <a:t>P</a:t>
            </a:r>
            <a:r>
              <a:rPr dirty="0" baseline="-16203" sz="1800" spc="89">
                <a:latin typeface="Symbol"/>
                <a:cs typeface="Symbol"/>
              </a:rPr>
              <a:t></a:t>
            </a:r>
            <a:r>
              <a:rPr dirty="0" baseline="-16203" sz="1800" spc="-120">
                <a:latin typeface="Times New Roman"/>
                <a:cs typeface="Times New Roman"/>
              </a:rPr>
              <a:t> </a:t>
            </a:r>
            <a:r>
              <a:rPr dirty="0" baseline="-43981" sz="1800">
                <a:latin typeface="Palatino Linotype"/>
                <a:cs typeface="Palatino Linotype"/>
              </a:rPr>
              <a:t>7</a:t>
            </a:r>
            <a:r>
              <a:rPr dirty="0" baseline="-43981" sz="1800" spc="-60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</a:t>
            </a:r>
            <a:endParaRPr baseline="-16203" sz="1800">
              <a:latin typeface="Symbol"/>
              <a:cs typeface="Symbo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81227" y="3784982"/>
            <a:ext cx="4632325" cy="69469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979805">
              <a:lnSpc>
                <a:spcPct val="100000"/>
              </a:lnSpc>
              <a:spcBef>
                <a:spcPts val="795"/>
              </a:spcBef>
              <a:tabLst>
                <a:tab pos="1176020" algn="l"/>
              </a:tabLst>
            </a:pPr>
            <a:r>
              <a:rPr dirty="0" sz="1200" spc="-50">
                <a:latin typeface="Symbol"/>
                <a:cs typeface="Symbol"/>
              </a:rPr>
              <a:t>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103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Bài</a:t>
            </a:r>
            <a:r>
              <a:rPr dirty="0" sz="1200" spc="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19.</a:t>
            </a:r>
            <a:r>
              <a:rPr dirty="0" sz="1200" spc="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04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2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3</a:t>
            </a:r>
            <a:r>
              <a:rPr dirty="0" baseline="43650" sz="1050" spc="24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204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Q</a:t>
            </a:r>
            <a:r>
              <a:rPr dirty="0" baseline="-3174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3174" sz="2625" spc="-44">
                <a:latin typeface="Symbol"/>
                <a:cs typeface="Symbol"/>
              </a:rPr>
              <a:t></a:t>
            </a:r>
            <a:r>
              <a:rPr dirty="0" baseline="-3174" sz="2625" spc="-25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81</a:t>
            </a:r>
            <a:r>
              <a:rPr dirty="0" baseline="47008" sz="975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49</a:t>
            </a:r>
            <a:r>
              <a:rPr dirty="0" baseline="47008" sz="975" spc="27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25</a:t>
            </a:r>
            <a:r>
              <a:rPr dirty="0" baseline="47008" sz="975" spc="25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9</a:t>
            </a:r>
            <a:r>
              <a:rPr dirty="0" baseline="47008" sz="975" spc="27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43618" y="5058059"/>
            <a:ext cx="401626" cy="261300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668527" y="4593008"/>
            <a:ext cx="6146800" cy="185737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671830" indent="-163830">
              <a:lnSpc>
                <a:spcPct val="100000"/>
              </a:lnSpc>
              <a:spcBef>
                <a:spcPts val="800"/>
              </a:spcBef>
              <a:buAutoNum type="alphaLcParenR"/>
              <a:tabLst>
                <a:tab pos="671830" algn="l"/>
              </a:tabLst>
            </a:pP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20">
                <a:latin typeface="Palatino Linotype"/>
                <a:cs typeface="Palatino Linotype"/>
              </a:rPr>
              <a:t> P(x)</a:t>
            </a:r>
            <a:endParaRPr sz="1200">
              <a:latin typeface="Palatino Linotype"/>
              <a:cs typeface="Palatino Linotype"/>
            </a:endParaRPr>
          </a:p>
          <a:p>
            <a:pPr marL="679450" indent="-171450">
              <a:lnSpc>
                <a:spcPct val="100000"/>
              </a:lnSpc>
              <a:spcBef>
                <a:spcPts val="1045"/>
              </a:spcBef>
              <a:buAutoNum type="alphaLcParenR"/>
              <a:tabLst>
                <a:tab pos="679450" algn="l"/>
              </a:tabLst>
            </a:pPr>
            <a:r>
              <a:rPr dirty="0" sz="1200">
                <a:latin typeface="Palatino Linotype"/>
                <a:cs typeface="Palatino Linotype"/>
              </a:rPr>
              <a:t>Tìm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-7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P</a:t>
            </a:r>
            <a:r>
              <a:rPr dirty="0" baseline="-4761" sz="2625" spc="-30">
                <a:latin typeface="Symbol"/>
                <a:cs typeface="Symbol"/>
              </a:rPr>
              <a:t></a:t>
            </a:r>
            <a:r>
              <a:rPr dirty="0" sz="1200" spc="-20">
                <a:latin typeface="Palatino Linotype"/>
                <a:cs typeface="Palatino Linotype"/>
              </a:rPr>
              <a:t>x</a:t>
            </a:r>
            <a:r>
              <a:rPr dirty="0" baseline="-4761" sz="2625" spc="-30">
                <a:latin typeface="Symbol"/>
                <a:cs typeface="Symbol"/>
              </a:rPr>
              <a:t></a:t>
            </a:r>
            <a:endParaRPr baseline="-4761" sz="2625">
              <a:latin typeface="Symbol"/>
              <a:cs typeface="Symbol"/>
            </a:endParaRPr>
          </a:p>
          <a:p>
            <a:pPr marL="500380" marR="43180" indent="-450215">
              <a:lnSpc>
                <a:spcPct val="148000"/>
              </a:lnSpc>
              <a:spcBef>
                <a:spcPts val="36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20.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 đa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P</a:t>
            </a:r>
            <a:r>
              <a:rPr dirty="0" baseline="-4761" sz="2625" spc="-30">
                <a:latin typeface="Symbol"/>
                <a:cs typeface="Symbol"/>
              </a:rPr>
              <a:t></a:t>
            </a:r>
            <a:r>
              <a:rPr dirty="0" sz="1200" spc="-20">
                <a:latin typeface="Palatino Linotype"/>
                <a:cs typeface="Palatino Linotype"/>
              </a:rPr>
              <a:t>x</a:t>
            </a:r>
            <a:r>
              <a:rPr dirty="0" baseline="-4761" sz="2625" spc="-30">
                <a:latin typeface="Symbol"/>
                <a:cs typeface="Symbol"/>
              </a:rPr>
              <a:t></a:t>
            </a:r>
            <a:r>
              <a:rPr dirty="0" baseline="-4761" sz="2625" spc="-28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0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2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 mãn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điều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kiện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 nguyên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 bất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kì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P(x)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chính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phương.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Chứng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minh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chẵn.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99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21.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hàm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35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10" i="1">
                <a:latin typeface="Times New Roman"/>
                <a:cs typeface="Times New Roman"/>
              </a:rPr>
              <a:t> </a:t>
            </a:r>
            <a:r>
              <a:rPr dirty="0" baseline="-3003" sz="2775">
                <a:latin typeface="Symbol"/>
                <a:cs typeface="Symbol"/>
              </a:rPr>
              <a:t>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-3003" sz="2775">
                <a:latin typeface="Symbol"/>
                <a:cs typeface="Symbol"/>
              </a:rPr>
              <a:t></a:t>
            </a:r>
            <a:r>
              <a:rPr dirty="0" baseline="-3003" sz="2775" spc="49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mọi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thuộc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biết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rằng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mọi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đều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350930" y="6639349"/>
            <a:ext cx="3244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Symbol"/>
                <a:cs typeface="Symbol"/>
              </a:rPr>
              <a:t>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baseline="-27777" sz="1800">
                <a:latin typeface="Times New Roman"/>
                <a:cs typeface="Times New Roman"/>
              </a:rPr>
              <a:t>3</a:t>
            </a:r>
            <a:r>
              <a:rPr dirty="0" baseline="-27777" sz="1800" spc="-209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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30881" y="6510564"/>
            <a:ext cx="207835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50" i="1">
                <a:latin typeface="Times New Roman"/>
                <a:cs typeface="Times New Roman"/>
              </a:rPr>
              <a:t> </a:t>
            </a:r>
            <a:r>
              <a:rPr dirty="0" baseline="-4629" sz="2700" spc="-89">
                <a:latin typeface="Symbol"/>
                <a:cs typeface="Symbol"/>
              </a:rPr>
              <a:t></a:t>
            </a:r>
            <a:r>
              <a:rPr dirty="0" sz="1200" spc="-60" i="1">
                <a:latin typeface="Times New Roman"/>
                <a:cs typeface="Times New Roman"/>
              </a:rPr>
              <a:t>x</a:t>
            </a:r>
            <a:r>
              <a:rPr dirty="0" baseline="-4629" sz="2700" spc="-89">
                <a:latin typeface="Symbol"/>
                <a:cs typeface="Symbol"/>
              </a:rPr>
              <a:t></a:t>
            </a:r>
            <a:r>
              <a:rPr dirty="0" baseline="-4629" sz="2700" spc="-32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 spc="-13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55" i="1">
                <a:latin typeface="Times New Roman"/>
                <a:cs typeface="Times New Roman"/>
              </a:rPr>
              <a:t> </a:t>
            </a:r>
            <a:r>
              <a:rPr dirty="0" baseline="34722" sz="1800">
                <a:latin typeface="Symbol"/>
                <a:cs typeface="Symbol"/>
              </a:rPr>
              <a:t></a:t>
            </a:r>
            <a:r>
              <a:rPr dirty="0" baseline="34722" sz="1800" spc="-135">
                <a:latin typeface="Times New Roman"/>
                <a:cs typeface="Times New Roman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4722" sz="1800" spc="-165">
                <a:latin typeface="Times New Roman"/>
                <a:cs typeface="Times New Roman"/>
              </a:rPr>
              <a:t> </a:t>
            </a:r>
            <a:r>
              <a:rPr dirty="0" baseline="34722" sz="1800">
                <a:latin typeface="Symbol"/>
                <a:cs typeface="Symbol"/>
              </a:rPr>
              <a:t></a:t>
            </a:r>
            <a:r>
              <a:rPr dirty="0" baseline="34722" sz="18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6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44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60" i="1">
                <a:latin typeface="Times New Roman"/>
                <a:cs typeface="Times New Roman"/>
              </a:rPr>
              <a:t> </a:t>
            </a:r>
            <a:r>
              <a:rPr dirty="0" baseline="-4504" sz="2775" spc="-37">
                <a:latin typeface="Symbol"/>
                <a:cs typeface="Symbol"/>
              </a:rPr>
              <a:t></a:t>
            </a:r>
            <a:r>
              <a:rPr dirty="0" sz="1200" spc="-25">
                <a:latin typeface="Times New Roman"/>
                <a:cs typeface="Times New Roman"/>
              </a:rPr>
              <a:t>2</a:t>
            </a:r>
            <a:r>
              <a:rPr dirty="0" baseline="-4504" sz="2775" spc="-37">
                <a:latin typeface="Symbol"/>
                <a:cs typeface="Symbol"/>
              </a:rPr>
              <a:t></a:t>
            </a:r>
            <a:endParaRPr baseline="-4504" sz="2775">
              <a:latin typeface="Symbol"/>
              <a:cs typeface="Symbo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81227" y="6746331"/>
            <a:ext cx="6114415" cy="1279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07390">
              <a:lnSpc>
                <a:spcPts val="1395"/>
              </a:lnSpc>
              <a:spcBef>
                <a:spcPts val="105"/>
              </a:spcBef>
              <a:tabLst>
                <a:tab pos="895985" algn="l"/>
              </a:tabLst>
            </a:pPr>
            <a:r>
              <a:rPr dirty="0" sz="1200" spc="-50">
                <a:latin typeface="Symbol"/>
                <a:cs typeface="Symbol"/>
              </a:rPr>
              <a:t>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  <a:p>
            <a:pPr marL="38100">
              <a:lnSpc>
                <a:spcPts val="1714"/>
              </a:lnSpc>
            </a:pPr>
            <a:r>
              <a:rPr dirty="0" baseline="4629" sz="18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baseline="4629" sz="1800" spc="-7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4629" sz="1800" b="1">
                <a:solidFill>
                  <a:srgbClr val="00AFEF"/>
                </a:solidFill>
                <a:latin typeface="Palatino Linotype"/>
                <a:cs typeface="Palatino Linotype"/>
              </a:rPr>
              <a:t>22. </a:t>
            </a:r>
            <a:r>
              <a:rPr dirty="0" baseline="4629" sz="1800">
                <a:latin typeface="Palatino Linotype"/>
                <a:cs typeface="Palatino Linotype"/>
              </a:rPr>
              <a:t>CMR đa</a:t>
            </a:r>
            <a:r>
              <a:rPr dirty="0" baseline="4629" sz="1800" spc="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thức</a:t>
            </a:r>
            <a:r>
              <a:rPr dirty="0" baseline="4629" sz="1800" spc="-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P(x) có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ít nhất hai</a:t>
            </a:r>
            <a:r>
              <a:rPr dirty="0" baseline="4629" sz="1800" spc="-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nghiệm, biết :</a:t>
            </a:r>
            <a:r>
              <a:rPr dirty="0" baseline="4629" sz="1800" spc="217">
                <a:latin typeface="Palatino Linotype"/>
                <a:cs typeface="Palatino Linotype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4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4629" sz="1800" spc="-15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217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6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21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7" i="1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50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x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14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35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4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4629" sz="1800" spc="-157" i="1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Symbol"/>
                <a:cs typeface="Symbol"/>
              </a:rPr>
              <a:t></a:t>
            </a:r>
            <a:r>
              <a:rPr dirty="0" baseline="4629" sz="1800" spc="-37">
                <a:latin typeface="Times New Roman"/>
                <a:cs typeface="Times New Roman"/>
              </a:rPr>
              <a:t>1</a:t>
            </a:r>
            <a:r>
              <a:rPr dirty="0" sz="1550" spc="-25">
                <a:latin typeface="Symbol"/>
                <a:cs typeface="Symbol"/>
              </a:rPr>
              <a:t></a:t>
            </a:r>
            <a:r>
              <a:rPr dirty="0" sz="1550" spc="-22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5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4629" sz="1800" spc="-15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87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4</a:t>
            </a:r>
            <a:r>
              <a:rPr dirty="0" sz="1550" spc="-25">
                <a:latin typeface="Symbol"/>
                <a:cs typeface="Symbol"/>
              </a:rPr>
              <a:t></a:t>
            </a:r>
            <a:endParaRPr sz="1550">
              <a:latin typeface="Symbol"/>
              <a:cs typeface="Symbol"/>
            </a:endParaRPr>
          </a:p>
          <a:p>
            <a:pPr marL="38100" marR="30480">
              <a:lnSpc>
                <a:spcPts val="2340"/>
              </a:lnSpc>
              <a:spcBef>
                <a:spcPts val="3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23.</a:t>
            </a:r>
            <a:r>
              <a:rPr dirty="0" sz="1200" spc="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420">
                <a:latin typeface="Palatino Linotype"/>
                <a:cs typeface="Palatino Linotype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f</a:t>
            </a:r>
            <a:r>
              <a:rPr dirty="0" sz="1150" spc="50" i="1">
                <a:latin typeface="Times New Roman"/>
                <a:cs typeface="Times New Roman"/>
              </a:rPr>
              <a:t> </a:t>
            </a:r>
            <a:r>
              <a:rPr dirty="0" baseline="-4629" sz="2700" spc="-67">
                <a:latin typeface="Symbol"/>
                <a:cs typeface="Symbol"/>
              </a:rPr>
              <a:t></a:t>
            </a:r>
            <a:r>
              <a:rPr dirty="0" sz="1150" spc="-45" i="1">
                <a:latin typeface="Times New Roman"/>
                <a:cs typeface="Times New Roman"/>
              </a:rPr>
              <a:t>x</a:t>
            </a:r>
            <a:r>
              <a:rPr dirty="0" baseline="-4629" sz="2700" spc="-67">
                <a:latin typeface="Symbol"/>
                <a:cs typeface="Symbol"/>
              </a:rPr>
              <a:t></a:t>
            </a:r>
            <a:r>
              <a:rPr dirty="0" baseline="-4629" sz="2700" spc="-24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a</a:t>
            </a:r>
            <a:r>
              <a:rPr dirty="0" sz="1150">
                <a:latin typeface="Times New Roman"/>
                <a:cs typeface="Times New Roman"/>
              </a:rPr>
              <a:t>.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179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80">
                <a:latin typeface="Times New Roman"/>
                <a:cs typeface="Times New Roman"/>
              </a:rPr>
              <a:t>4</a:t>
            </a:r>
            <a:r>
              <a:rPr dirty="0" sz="1150" spc="80" i="1">
                <a:latin typeface="Times New Roman"/>
                <a:cs typeface="Times New Roman"/>
              </a:rPr>
              <a:t>x</a:t>
            </a:r>
            <a:r>
              <a:rPr dirty="0" sz="1150" spc="-120" i="1">
                <a:latin typeface="Times New Roman"/>
                <a:cs typeface="Times New Roman"/>
              </a:rPr>
              <a:t> </a:t>
            </a:r>
            <a:r>
              <a:rPr dirty="0" baseline="-5555" sz="3000">
                <a:latin typeface="Symbol"/>
                <a:cs typeface="Symbol"/>
              </a:rPr>
              <a:t>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32">
                <a:latin typeface="Times New Roman"/>
                <a:cs typeface="Times New Roman"/>
              </a:rPr>
              <a:t> </a:t>
            </a:r>
            <a:r>
              <a:rPr dirty="0" sz="1150" spc="-30">
                <a:latin typeface="Symbol"/>
                <a:cs typeface="Symbol"/>
              </a:rPr>
              <a:t></a:t>
            </a:r>
            <a:r>
              <a:rPr dirty="0" sz="1150" spc="-30">
                <a:latin typeface="Times New Roman"/>
                <a:cs typeface="Times New Roman"/>
              </a:rPr>
              <a:t>1</a:t>
            </a:r>
            <a:r>
              <a:rPr dirty="0" baseline="-5555" sz="3000" spc="-44">
                <a:latin typeface="Symbol"/>
                <a:cs typeface="Symbol"/>
              </a:rPr>
              <a:t></a:t>
            </a:r>
            <a:r>
              <a:rPr dirty="0" baseline="-5555" sz="3000" spc="-457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9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Times New Roman"/>
                <a:cs typeface="Times New Roman"/>
              </a:rPr>
              <a:t>8</a:t>
            </a:r>
            <a:r>
              <a:rPr dirty="0" sz="1150" spc="110">
                <a:latin typeface="Times New Roman"/>
                <a:cs typeface="Times New Roman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220">
                <a:latin typeface="Palatino Linotype"/>
                <a:cs typeface="Palatino Linotype"/>
              </a:rPr>
              <a:t> </a:t>
            </a:r>
            <a:r>
              <a:rPr dirty="0" baseline="2314" sz="1800" spc="-37" i="1">
                <a:latin typeface="Times New Roman"/>
                <a:cs typeface="Times New Roman"/>
              </a:rPr>
              <a:t>g</a:t>
            </a:r>
            <a:r>
              <a:rPr dirty="0" baseline="-3003" sz="2775" spc="-37">
                <a:latin typeface="Symbol"/>
                <a:cs typeface="Symbol"/>
              </a:rPr>
              <a:t></a:t>
            </a:r>
            <a:r>
              <a:rPr dirty="0" baseline="2314" sz="1800" spc="-37" i="1">
                <a:latin typeface="Times New Roman"/>
                <a:cs typeface="Times New Roman"/>
              </a:rPr>
              <a:t>x</a:t>
            </a:r>
            <a:r>
              <a:rPr dirty="0" baseline="-3003" sz="2775" spc="-37">
                <a:latin typeface="Symbol"/>
                <a:cs typeface="Symbol"/>
              </a:rPr>
              <a:t></a:t>
            </a:r>
            <a:r>
              <a:rPr dirty="0" baseline="-3003" sz="2775" spc="-262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44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x</a:t>
            </a:r>
            <a:r>
              <a:rPr dirty="0" baseline="47619" sz="1050">
                <a:latin typeface="Times New Roman"/>
                <a:cs typeface="Times New Roman"/>
              </a:rPr>
              <a:t>3</a:t>
            </a:r>
            <a:r>
              <a:rPr dirty="0" baseline="47619" sz="1050" spc="172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04">
                <a:latin typeface="Times New Roman"/>
                <a:cs typeface="Times New Roman"/>
              </a:rPr>
              <a:t> </a:t>
            </a:r>
            <a:r>
              <a:rPr dirty="0" baseline="2314" sz="1800" spc="75">
                <a:latin typeface="Times New Roman"/>
                <a:cs typeface="Times New Roman"/>
              </a:rPr>
              <a:t>4</a:t>
            </a:r>
            <a:r>
              <a:rPr dirty="0" baseline="2314" sz="1800" spc="75" i="1">
                <a:latin typeface="Times New Roman"/>
                <a:cs typeface="Times New Roman"/>
              </a:rPr>
              <a:t>x</a:t>
            </a:r>
            <a:r>
              <a:rPr dirty="0" baseline="2314" sz="1800" spc="-209" i="1">
                <a:latin typeface="Times New Roman"/>
                <a:cs typeface="Times New Roman"/>
              </a:rPr>
              <a:t> </a:t>
            </a:r>
            <a:r>
              <a:rPr dirty="0" baseline="-3003" sz="2775" spc="-67">
                <a:latin typeface="Symbol"/>
                <a:cs typeface="Symbol"/>
              </a:rPr>
              <a:t></a:t>
            </a:r>
            <a:r>
              <a:rPr dirty="0" baseline="2314" sz="1800" spc="-67" i="1">
                <a:latin typeface="Times New Roman"/>
                <a:cs typeface="Times New Roman"/>
              </a:rPr>
              <a:t>bx</a:t>
            </a:r>
            <a:r>
              <a:rPr dirty="0" baseline="2314" sz="1800" spc="-75" i="1">
                <a:latin typeface="Times New Roman"/>
                <a:cs typeface="Times New Roman"/>
              </a:rPr>
              <a:t> </a:t>
            </a:r>
            <a:r>
              <a:rPr dirty="0" baseline="2314" sz="1800" spc="-67">
                <a:latin typeface="Symbol"/>
                <a:cs typeface="Symbol"/>
              </a:rPr>
              <a:t></a:t>
            </a:r>
            <a:r>
              <a:rPr dirty="0" baseline="2314" sz="1800" spc="-67">
                <a:latin typeface="Times New Roman"/>
                <a:cs typeface="Times New Roman"/>
              </a:rPr>
              <a:t>1</a:t>
            </a:r>
            <a:r>
              <a:rPr dirty="0" baseline="-3003" sz="2775" spc="-67">
                <a:latin typeface="Symbol"/>
                <a:cs typeface="Symbol"/>
              </a:rPr>
              <a:t></a:t>
            </a:r>
            <a:r>
              <a:rPr dirty="0" baseline="-3003" sz="2775" spc="-36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27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c</a:t>
            </a:r>
            <a:r>
              <a:rPr dirty="0" baseline="2314" sz="1800" spc="-120" i="1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</a:t>
            </a:r>
            <a:r>
              <a:rPr dirty="0" baseline="2314" sz="1800" spc="-16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3</a:t>
            </a:r>
            <a:r>
              <a:rPr dirty="0" baseline="2314" sz="1800" spc="-2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là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hằng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số, Xác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b, 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39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30" i="1">
                <a:latin typeface="Times New Roman"/>
                <a:cs typeface="Times New Roman"/>
              </a:rPr>
              <a:t> </a:t>
            </a:r>
            <a:r>
              <a:rPr dirty="0" baseline="-3003" sz="2775" spc="-97">
                <a:latin typeface="Symbol"/>
                <a:cs typeface="Symbol"/>
              </a:rPr>
              <a:t></a:t>
            </a:r>
            <a:r>
              <a:rPr dirty="0" sz="1200" spc="-65" i="1">
                <a:latin typeface="Times New Roman"/>
                <a:cs typeface="Times New Roman"/>
              </a:rPr>
              <a:t>x</a:t>
            </a:r>
            <a:r>
              <a:rPr dirty="0" baseline="-3003" sz="2775" spc="-97">
                <a:latin typeface="Symbol"/>
                <a:cs typeface="Symbol"/>
              </a:rPr>
              <a:t></a:t>
            </a:r>
            <a:r>
              <a:rPr dirty="0" baseline="-3003" sz="277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</a:t>
            </a:r>
            <a:r>
              <a:rPr dirty="0" sz="1200" spc="-190" i="1">
                <a:latin typeface="Times New Roman"/>
                <a:cs typeface="Times New Roman"/>
              </a:rPr>
              <a:t> </a:t>
            </a:r>
            <a:r>
              <a:rPr dirty="0" baseline="-3003" sz="2775" spc="-37">
                <a:latin typeface="Symbol"/>
                <a:cs typeface="Symbol"/>
              </a:rPr>
              <a:t></a:t>
            </a:r>
            <a:r>
              <a:rPr dirty="0" sz="1200" spc="-25" i="1">
                <a:latin typeface="Times New Roman"/>
                <a:cs typeface="Times New Roman"/>
              </a:rPr>
              <a:t>x</a:t>
            </a:r>
            <a:r>
              <a:rPr dirty="0" baseline="-3003" sz="2775" spc="-37">
                <a:latin typeface="Symbol"/>
                <a:cs typeface="Symbol"/>
              </a:rPr>
              <a:t></a:t>
            </a:r>
            <a:endParaRPr baseline="-3003" sz="2775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180"/>
              </a:spcBef>
            </a:pPr>
            <a:r>
              <a:rPr dirty="0" baseline="4629" sz="18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baseline="4629" sz="1800" spc="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4629" sz="1800" b="1">
                <a:solidFill>
                  <a:srgbClr val="00AFEF"/>
                </a:solidFill>
                <a:latin typeface="Palatino Linotype"/>
                <a:cs typeface="Palatino Linotype"/>
              </a:rPr>
              <a:t>24.</a:t>
            </a:r>
            <a:r>
              <a:rPr dirty="0" baseline="4629" sz="1800" spc="22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Cho</a:t>
            </a:r>
            <a:r>
              <a:rPr dirty="0" baseline="4629" sz="1800" spc="390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40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x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12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5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>
                <a:latin typeface="Times New Roman"/>
                <a:cs typeface="Times New Roman"/>
              </a:rPr>
              <a:t>.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51587" sz="1050">
                <a:latin typeface="Times New Roman"/>
                <a:cs typeface="Times New Roman"/>
              </a:rPr>
              <a:t>2</a:t>
            </a:r>
            <a:r>
              <a:rPr dirty="0" baseline="51587" sz="1050" spc="22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9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bx</a:t>
            </a:r>
            <a:r>
              <a:rPr dirty="0" baseline="4629" sz="1800" spc="-13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7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209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,</a:t>
            </a:r>
            <a:r>
              <a:rPr dirty="0" baseline="4629" sz="1800" spc="3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CMR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nếu:</a:t>
            </a:r>
            <a:r>
              <a:rPr dirty="0" baseline="4629" sz="1800" spc="24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5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4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3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7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6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2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30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0</a:t>
            </a:r>
            <a:r>
              <a:rPr dirty="0" baseline="4629" sz="1800" spc="21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thì</a:t>
            </a:r>
            <a:r>
              <a:rPr dirty="0" baseline="4629" sz="1800" spc="359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629" sz="1800">
                <a:latin typeface="Times New Roman"/>
                <a:cs typeface="Times New Roman"/>
              </a:rPr>
              <a:t>2</a:t>
            </a:r>
            <a:r>
              <a:rPr dirty="0" sz="1550">
                <a:latin typeface="Symbol"/>
                <a:cs typeface="Symbol"/>
              </a:rPr>
              <a:t></a:t>
            </a:r>
            <a:r>
              <a:rPr dirty="0" baseline="4629" sz="1800">
                <a:latin typeface="Times New Roman"/>
                <a:cs typeface="Times New Roman"/>
              </a:rPr>
              <a:t>.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550" spc="-55">
                <a:latin typeface="Symbol"/>
                <a:cs typeface="Symbol"/>
              </a:rPr>
              <a:t></a:t>
            </a:r>
            <a:r>
              <a:rPr dirty="0" baseline="4629" sz="1800" spc="-82">
                <a:latin typeface="Symbol"/>
                <a:cs typeface="Symbol"/>
              </a:rPr>
              <a:t></a:t>
            </a:r>
            <a:r>
              <a:rPr dirty="0" baseline="4629" sz="1800" spc="-82">
                <a:latin typeface="Times New Roman"/>
                <a:cs typeface="Times New Roman"/>
              </a:rPr>
              <a:t>1</a:t>
            </a:r>
            <a:r>
              <a:rPr dirty="0" sz="1550" spc="-55">
                <a:latin typeface="Symbol"/>
                <a:cs typeface="Symbol"/>
              </a:rPr>
              <a:t></a:t>
            </a:r>
            <a:r>
              <a:rPr dirty="0" sz="1550" spc="-14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</a:t>
            </a:r>
            <a:r>
              <a:rPr dirty="0" baseline="4629" sz="1800" spc="-82">
                <a:latin typeface="Times New Roman"/>
                <a:cs typeface="Times New Roman"/>
              </a:rPr>
              <a:t> </a:t>
            </a:r>
            <a:r>
              <a:rPr dirty="0" baseline="4629" sz="1800" spc="-75">
                <a:latin typeface="Times New Roman"/>
                <a:cs typeface="Times New Roman"/>
              </a:rPr>
              <a:t>0</a:t>
            </a:r>
            <a:endParaRPr baseline="4629" sz="180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06627" y="8212530"/>
            <a:ext cx="1374140" cy="67500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25.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hàm</a:t>
            </a:r>
            <a:r>
              <a:rPr dirty="0" sz="1200" spc="-25">
                <a:latin typeface="Palatino Linotype"/>
                <a:cs typeface="Palatino Linotype"/>
              </a:rPr>
              <a:t> số</a:t>
            </a:r>
            <a:endParaRPr sz="1200">
              <a:latin typeface="Palatino Linotype"/>
              <a:cs typeface="Palatino Linotype"/>
            </a:endParaRPr>
          </a:p>
          <a:p>
            <a:pPr marL="65405">
              <a:lnSpc>
                <a:spcPct val="100000"/>
              </a:lnSpc>
              <a:spcBef>
                <a:spcPts val="1045"/>
              </a:spcBef>
            </a:pPr>
            <a:r>
              <a:rPr dirty="0" baseline="2415" sz="1725" i="1">
                <a:latin typeface="Times New Roman"/>
                <a:cs typeface="Times New Roman"/>
              </a:rPr>
              <a:t>f</a:t>
            </a:r>
            <a:r>
              <a:rPr dirty="0" baseline="2415" sz="1725" spc="187" i="1">
                <a:latin typeface="Times New Roman"/>
                <a:cs typeface="Times New Roman"/>
              </a:rPr>
              <a:t> </a:t>
            </a:r>
            <a:r>
              <a:rPr dirty="0" sz="1500">
                <a:latin typeface="Symbol"/>
                <a:cs typeface="Symbol"/>
              </a:rPr>
              <a:t></a:t>
            </a:r>
            <a:r>
              <a:rPr dirty="0" baseline="2415" sz="1725" i="1">
                <a:latin typeface="Times New Roman"/>
                <a:cs typeface="Times New Roman"/>
              </a:rPr>
              <a:t>a</a:t>
            </a:r>
            <a:r>
              <a:rPr dirty="0" sz="1500">
                <a:latin typeface="Symbol"/>
                <a:cs typeface="Symbol"/>
              </a:rPr>
              <a:t></a:t>
            </a:r>
            <a:r>
              <a:rPr dirty="0" sz="1500" spc="-155">
                <a:latin typeface="Times New Roman"/>
                <a:cs typeface="Times New Roman"/>
              </a:rPr>
              <a:t> </a:t>
            </a:r>
            <a:r>
              <a:rPr dirty="0" baseline="2415" sz="1725" spc="89">
                <a:latin typeface="Symbol"/>
                <a:cs typeface="Symbol"/>
              </a:rPr>
              <a:t></a:t>
            </a:r>
            <a:r>
              <a:rPr dirty="0" baseline="2415" sz="1725" spc="270">
                <a:latin typeface="Times New Roman"/>
                <a:cs typeface="Times New Roman"/>
              </a:rPr>
              <a:t> </a:t>
            </a:r>
            <a:r>
              <a:rPr dirty="0" baseline="2415" sz="1725" i="1">
                <a:latin typeface="Times New Roman"/>
                <a:cs typeface="Times New Roman"/>
              </a:rPr>
              <a:t>f</a:t>
            </a:r>
            <a:r>
              <a:rPr dirty="0" baseline="2415" sz="1725" spc="195" i="1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Symbol"/>
                <a:cs typeface="Symbol"/>
              </a:rPr>
              <a:t></a:t>
            </a:r>
            <a:r>
              <a:rPr dirty="0" baseline="2415" sz="1725" spc="-15" i="1">
                <a:latin typeface="Times New Roman"/>
                <a:cs typeface="Times New Roman"/>
              </a:rPr>
              <a:t>b</a:t>
            </a:r>
            <a:r>
              <a:rPr dirty="0" sz="1500" spc="-10">
                <a:latin typeface="Symbol"/>
                <a:cs typeface="Symbol"/>
              </a:rPr>
              <a:t>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baseline="2415" sz="1725" spc="89">
                <a:latin typeface="Symbol"/>
                <a:cs typeface="Symbol"/>
              </a:rPr>
              <a:t></a:t>
            </a:r>
            <a:r>
              <a:rPr dirty="0" baseline="2415" sz="1725" spc="-187">
                <a:latin typeface="Times New Roman"/>
                <a:cs typeface="Times New Roman"/>
              </a:rPr>
              <a:t> </a:t>
            </a:r>
            <a:r>
              <a:rPr dirty="0" baseline="2415" sz="1725">
                <a:latin typeface="Times New Roman"/>
                <a:cs typeface="Times New Roman"/>
              </a:rPr>
              <a:t>1</a:t>
            </a:r>
            <a:endParaRPr baseline="2415" sz="1725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2618159" y="8442473"/>
            <a:ext cx="575310" cy="0"/>
          </a:xfrm>
          <a:custGeom>
            <a:avLst/>
            <a:gdLst/>
            <a:ahLst/>
            <a:cxnLst/>
            <a:rect l="l" t="t" r="r" b="b"/>
            <a:pathLst>
              <a:path w="575310" h="0">
                <a:moveTo>
                  <a:pt x="0" y="0"/>
                </a:moveTo>
                <a:lnTo>
                  <a:pt x="574708" y="0"/>
                </a:lnTo>
              </a:path>
            </a:pathLst>
          </a:custGeom>
          <a:ln w="75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2715054" y="8218333"/>
            <a:ext cx="35369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 spc="-20">
                <a:latin typeface="Times New Roman"/>
                <a:cs typeface="Times New Roman"/>
              </a:rPr>
              <a:t>100</a:t>
            </a:r>
            <a:r>
              <a:rPr dirty="0" baseline="43650" sz="1050" spc="-30" i="1">
                <a:latin typeface="Times New Roman"/>
                <a:cs typeface="Times New Roman"/>
              </a:rPr>
              <a:t>x</a:t>
            </a:r>
            <a:endParaRPr baseline="43650" sz="1050">
              <a:latin typeface="Times New Roman"/>
              <a:cs typeface="Times New Roman"/>
            </a:endParaRPr>
          </a:p>
        </p:txBody>
      </p:sp>
      <p:sp>
        <p:nvSpPr>
          <p:cNvPr id="51" name="object 5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52" name="object 5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47" name="object 47" descr=""/>
          <p:cNvSpPr txBox="1"/>
          <p:nvPr/>
        </p:nvSpPr>
        <p:spPr>
          <a:xfrm>
            <a:off x="2122502" y="8279236"/>
            <a:ext cx="4323080" cy="3644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ts val="1535"/>
              </a:lnSpc>
              <a:spcBef>
                <a:spcPts val="110"/>
              </a:spcBef>
              <a:tabLst>
                <a:tab pos="1106805" algn="l"/>
              </a:tabLst>
            </a:pPr>
            <a:r>
              <a:rPr dirty="0" baseline="4629" sz="1800" i="1">
                <a:latin typeface="Times New Roman"/>
                <a:cs typeface="Times New Roman"/>
              </a:rPr>
              <a:t>f</a:t>
            </a:r>
            <a:r>
              <a:rPr dirty="0" baseline="4629" sz="1800" spc="165" i="1">
                <a:latin typeface="Times New Roman"/>
                <a:cs typeface="Times New Roman"/>
              </a:rPr>
              <a:t> </a:t>
            </a:r>
            <a:r>
              <a:rPr dirty="0" sz="1550" spc="-114">
                <a:latin typeface="Symbol"/>
                <a:cs typeface="Symbol"/>
              </a:rPr>
              <a:t></a:t>
            </a:r>
            <a:r>
              <a:rPr dirty="0" sz="1550" spc="-235">
                <a:latin typeface="Times New Roman"/>
                <a:cs typeface="Times New Roman"/>
              </a:rPr>
              <a:t> </a:t>
            </a:r>
            <a:r>
              <a:rPr dirty="0" baseline="4629" sz="1800" spc="-30" i="1">
                <a:latin typeface="Times New Roman"/>
                <a:cs typeface="Times New Roman"/>
              </a:rPr>
              <a:t>x</a:t>
            </a:r>
            <a:r>
              <a:rPr dirty="0" sz="1550" spc="-20">
                <a:latin typeface="Symbol"/>
                <a:cs typeface="Symbol"/>
              </a:rPr>
              <a:t></a:t>
            </a:r>
            <a:r>
              <a:rPr dirty="0" sz="1550" spc="-95">
                <a:latin typeface="Times New Roman"/>
                <a:cs typeface="Times New Roman"/>
              </a:rPr>
              <a:t> </a:t>
            </a:r>
            <a:r>
              <a:rPr dirty="0" baseline="4629" sz="1800" spc="-75">
                <a:latin typeface="Symbol"/>
                <a:cs typeface="Symbol"/>
              </a:rPr>
              <a:t></a:t>
            </a:r>
            <a:r>
              <a:rPr dirty="0" baseline="4629" sz="1800">
                <a:latin typeface="Times New Roman"/>
                <a:cs typeface="Times New Roman"/>
              </a:rPr>
              <a:t>	</a:t>
            </a:r>
            <a:r>
              <a:rPr dirty="0" baseline="2314" sz="1800">
                <a:latin typeface="Palatino Linotype"/>
                <a:cs typeface="Palatino Linotype"/>
              </a:rPr>
              <a:t>,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CMR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: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nếu</a:t>
            </a:r>
            <a:r>
              <a:rPr dirty="0" baseline="2314" sz="1800" spc="-22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a,b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là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hai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số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thỏa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mãn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: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a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+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b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=</a:t>
            </a:r>
            <a:r>
              <a:rPr dirty="0" baseline="2314" sz="1800" spc="-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1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 spc="-37">
                <a:latin typeface="Palatino Linotype"/>
                <a:cs typeface="Palatino Linotype"/>
              </a:rPr>
              <a:t>thì</a:t>
            </a:r>
            <a:endParaRPr baseline="2314" sz="1800">
              <a:latin typeface="Palatino Linotype"/>
              <a:cs typeface="Palatino Linotype"/>
            </a:endParaRPr>
          </a:p>
          <a:p>
            <a:pPr marL="490220">
              <a:lnSpc>
                <a:spcPts val="1115"/>
              </a:lnSpc>
            </a:pP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x</a:t>
            </a:r>
            <a:r>
              <a:rPr dirty="0" baseline="43650" sz="1050" spc="322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7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06627" y="8995409"/>
            <a:ext cx="851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26.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Cho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598182" y="8957575"/>
            <a:ext cx="51943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4629" sz="1800" i="1">
                <a:latin typeface="Times New Roman"/>
                <a:cs typeface="Times New Roman"/>
              </a:rPr>
              <a:t>f</a:t>
            </a:r>
            <a:r>
              <a:rPr dirty="0" baseline="4629" sz="1800" spc="135" i="1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45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x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13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8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>
                <a:latin typeface="Times New Roman"/>
                <a:cs typeface="Times New Roman"/>
              </a:rPr>
              <a:t>.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51587" sz="1050">
                <a:latin typeface="Times New Roman"/>
                <a:cs typeface="Times New Roman"/>
              </a:rPr>
              <a:t>2</a:t>
            </a:r>
            <a:r>
              <a:rPr dirty="0" baseline="51587" sz="1050" spc="209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2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bx</a:t>
            </a:r>
            <a:r>
              <a:rPr dirty="0" baseline="4629" sz="1800" spc="-14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8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33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có</a:t>
            </a:r>
            <a:r>
              <a:rPr dirty="0" baseline="4629" sz="1800" spc="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tính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chất</a:t>
            </a:r>
            <a:r>
              <a:rPr dirty="0" baseline="4629" sz="1800" spc="7">
                <a:latin typeface="Palatino Linotype"/>
                <a:cs typeface="Palatino Linotype"/>
              </a:rPr>
              <a:t> </a:t>
            </a:r>
            <a:r>
              <a:rPr dirty="0" baseline="4629" sz="1800" spc="-15">
                <a:latin typeface="Palatino Linotype"/>
                <a:cs typeface="Palatino Linotype"/>
              </a:rPr>
              <a:t>f(1),f(4),f(9)</a:t>
            </a:r>
            <a:r>
              <a:rPr dirty="0" baseline="4629" sz="1800">
                <a:latin typeface="Palatino Linotype"/>
                <a:cs typeface="Palatino Linotype"/>
              </a:rPr>
              <a:t> là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các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số</a:t>
            </a:r>
            <a:r>
              <a:rPr dirty="0" baseline="4629" sz="1800" spc="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hữu tỉ,</a:t>
            </a:r>
            <a:r>
              <a:rPr dirty="0" baseline="4629" sz="1800" spc="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CMR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khi</a:t>
            </a:r>
            <a:r>
              <a:rPr dirty="0" baseline="4629" sz="1800" spc="-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đó</a:t>
            </a:r>
            <a:r>
              <a:rPr dirty="0" baseline="4629" sz="1800" spc="7">
                <a:latin typeface="Palatino Linotype"/>
                <a:cs typeface="Palatino Linotype"/>
              </a:rPr>
              <a:t> </a:t>
            </a:r>
            <a:r>
              <a:rPr dirty="0" baseline="4629" sz="1800" spc="-15">
                <a:latin typeface="Palatino Linotype"/>
                <a:cs typeface="Palatino Linotype"/>
              </a:rPr>
              <a:t>a,b,c</a:t>
            </a:r>
            <a:endParaRPr baseline="4629" sz="1800">
              <a:latin typeface="Palatino Linotype"/>
              <a:cs typeface="Palatino Linotype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06627" y="9243821"/>
            <a:ext cx="1030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hữu</a:t>
            </a:r>
            <a:r>
              <a:rPr dirty="0" sz="1200" spc="-25">
                <a:latin typeface="Palatino Linotype"/>
                <a:cs typeface="Palatino Linotype"/>
              </a:rPr>
              <a:t> tỉ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68527" y="712723"/>
            <a:ext cx="6168390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375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27.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tổng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sau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bỏ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dấu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ngoặc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:</a:t>
            </a:r>
            <a:endParaRPr sz="1200">
              <a:latin typeface="Palatino Linotype"/>
              <a:cs typeface="Palatino Linotype"/>
            </a:endParaRPr>
          </a:p>
          <a:p>
            <a:pPr marL="79375">
              <a:lnSpc>
                <a:spcPts val="2155"/>
              </a:lnSpc>
            </a:pPr>
            <a:r>
              <a:rPr dirty="0" sz="1150" spc="55" i="1">
                <a:latin typeface="Times New Roman"/>
                <a:cs typeface="Times New Roman"/>
              </a:rPr>
              <a:t>P</a:t>
            </a:r>
            <a:r>
              <a:rPr dirty="0" sz="1150" spc="-160" i="1">
                <a:latin typeface="Times New Roman"/>
                <a:cs typeface="Times New Roman"/>
              </a:rPr>
              <a:t> </a:t>
            </a:r>
            <a:r>
              <a:rPr dirty="0" baseline="-3584" sz="2325" spc="-172">
                <a:latin typeface="Symbol"/>
                <a:cs typeface="Symbol"/>
              </a:rPr>
              <a:t></a:t>
            </a:r>
            <a:r>
              <a:rPr dirty="0" baseline="-3584" sz="2325" spc="-34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-3584" sz="2325">
                <a:latin typeface="Symbol"/>
                <a:cs typeface="Symbol"/>
              </a:rPr>
              <a:t></a:t>
            </a:r>
            <a:r>
              <a:rPr dirty="0" baseline="-3584" sz="2325" spc="-165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baseline="-4504" sz="2775">
                <a:latin typeface="Symbol"/>
                <a:cs typeface="Symbol"/>
              </a:rPr>
              <a:t></a:t>
            </a:r>
            <a:r>
              <a:rPr dirty="0" sz="1150">
                <a:latin typeface="Times New Roman"/>
                <a:cs typeface="Times New Roman"/>
              </a:rPr>
              <a:t>8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47008" sz="975">
                <a:latin typeface="Times New Roman"/>
                <a:cs typeface="Times New Roman"/>
              </a:rPr>
              <a:t>2</a:t>
            </a:r>
            <a:r>
              <a:rPr dirty="0" baseline="47008" sz="975" spc="262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3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sz="1150" spc="-65" i="1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sz="1150">
                <a:latin typeface="Times New Roman"/>
                <a:cs typeface="Times New Roman"/>
              </a:rPr>
              <a:t>10</a:t>
            </a:r>
            <a:r>
              <a:rPr dirty="0" baseline="-4504" sz="2775">
                <a:latin typeface="Symbol"/>
                <a:cs typeface="Symbol"/>
              </a:rPr>
              <a:t></a:t>
            </a:r>
            <a:r>
              <a:rPr dirty="0" baseline="72649" sz="975">
                <a:latin typeface="Times New Roman"/>
                <a:cs typeface="Times New Roman"/>
              </a:rPr>
              <a:t>2008</a:t>
            </a:r>
            <a:r>
              <a:rPr dirty="0" baseline="72649" sz="975" spc="127">
                <a:latin typeface="Times New Roman"/>
                <a:cs typeface="Times New Roman"/>
              </a:rPr>
              <a:t> </a:t>
            </a:r>
            <a:r>
              <a:rPr dirty="0" baseline="-4504" sz="2775">
                <a:latin typeface="Symbol"/>
                <a:cs typeface="Symbol"/>
              </a:rPr>
              <a:t></a:t>
            </a:r>
            <a:r>
              <a:rPr dirty="0" sz="1150">
                <a:latin typeface="Times New Roman"/>
                <a:cs typeface="Times New Roman"/>
              </a:rPr>
              <a:t>8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47008" sz="975">
                <a:latin typeface="Times New Roman"/>
                <a:cs typeface="Times New Roman"/>
              </a:rPr>
              <a:t>2</a:t>
            </a:r>
            <a:r>
              <a:rPr dirty="0" baseline="47008" sz="975" spc="254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sz="1150" spc="-70" i="1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Symbol"/>
                <a:cs typeface="Symbol"/>
              </a:rPr>
              <a:t></a:t>
            </a:r>
            <a:r>
              <a:rPr dirty="0" sz="1150" spc="-10">
                <a:latin typeface="Times New Roman"/>
                <a:cs typeface="Times New Roman"/>
              </a:rPr>
              <a:t>10</a:t>
            </a:r>
            <a:r>
              <a:rPr dirty="0" baseline="-4504" sz="2775" spc="-15">
                <a:latin typeface="Symbol"/>
                <a:cs typeface="Symbol"/>
              </a:rPr>
              <a:t></a:t>
            </a:r>
            <a:r>
              <a:rPr dirty="0" baseline="72649" sz="975" spc="-15">
                <a:latin typeface="Times New Roman"/>
                <a:cs typeface="Times New Roman"/>
              </a:rPr>
              <a:t>2009</a:t>
            </a:r>
            <a:endParaRPr baseline="72649" sz="975">
              <a:latin typeface="Times New Roman"/>
              <a:cs typeface="Times New Roman"/>
            </a:endParaRPr>
          </a:p>
          <a:p>
            <a:pPr marL="50800" marR="43180">
              <a:lnSpc>
                <a:spcPct val="120900"/>
              </a:lnSpc>
              <a:spcBef>
                <a:spcPts val="229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28. </a:t>
            </a:r>
            <a:r>
              <a:rPr dirty="0" sz="1200">
                <a:latin typeface="Palatino Linotype"/>
                <a:cs typeface="Palatino Linotype"/>
              </a:rPr>
              <a:t>Cho đa thức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P</a:t>
            </a:r>
            <a:r>
              <a:rPr dirty="0" sz="1250">
                <a:latin typeface="Times New Roman"/>
                <a:cs typeface="Times New Roman"/>
              </a:rPr>
              <a:t>(</a:t>
            </a:r>
            <a:r>
              <a:rPr dirty="0" sz="1250" i="1">
                <a:latin typeface="Times New Roman"/>
                <a:cs typeface="Times New Roman"/>
              </a:rPr>
              <a:t>x</a:t>
            </a:r>
            <a:r>
              <a:rPr dirty="0" sz="1250">
                <a:latin typeface="Times New Roman"/>
                <a:cs typeface="Times New Roman"/>
              </a:rPr>
              <a:t>)</a:t>
            </a:r>
            <a:r>
              <a:rPr dirty="0" sz="1250" spc="-55">
                <a:latin typeface="Times New Roman"/>
                <a:cs typeface="Times New Roman"/>
              </a:rPr>
              <a:t> </a:t>
            </a:r>
            <a:r>
              <a:rPr dirty="0" sz="1250">
                <a:latin typeface="Symbol"/>
                <a:cs typeface="Symbol"/>
              </a:rPr>
              <a:t></a:t>
            </a:r>
            <a:r>
              <a:rPr dirty="0" sz="1250" spc="-65">
                <a:latin typeface="Times New Roman"/>
                <a:cs typeface="Times New Roman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a</a:t>
            </a:r>
            <a:r>
              <a:rPr dirty="0" sz="1250">
                <a:latin typeface="Times New Roman"/>
                <a:cs typeface="Times New Roman"/>
              </a:rPr>
              <a:t>.</a:t>
            </a:r>
            <a:r>
              <a:rPr dirty="0" sz="1250" i="1">
                <a:latin typeface="Times New Roman"/>
                <a:cs typeface="Times New Roman"/>
              </a:rPr>
              <a:t>x</a:t>
            </a:r>
            <a:r>
              <a:rPr dirty="0" baseline="47619" sz="1050">
                <a:latin typeface="Times New Roman"/>
                <a:cs typeface="Times New Roman"/>
              </a:rPr>
              <a:t>2</a:t>
            </a:r>
            <a:r>
              <a:rPr dirty="0" baseline="47619" sz="1050" spc="187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Symbol"/>
                <a:cs typeface="Symbol"/>
              </a:rPr>
              <a:t></a:t>
            </a:r>
            <a:r>
              <a:rPr dirty="0" sz="1250" spc="-160">
                <a:latin typeface="Times New Roman"/>
                <a:cs typeface="Times New Roman"/>
              </a:rPr>
              <a:t> </a:t>
            </a:r>
            <a:r>
              <a:rPr dirty="0" sz="1250" spc="-25" i="1">
                <a:latin typeface="Times New Roman"/>
                <a:cs typeface="Times New Roman"/>
              </a:rPr>
              <a:t>bx</a:t>
            </a:r>
            <a:r>
              <a:rPr dirty="0" sz="1250" spc="-125" i="1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Symbol"/>
                <a:cs typeface="Symbol"/>
              </a:rPr>
              <a:t></a:t>
            </a:r>
            <a:r>
              <a:rPr dirty="0" sz="1250" spc="-140">
                <a:latin typeface="Times New Roman"/>
                <a:cs typeface="Times New Roman"/>
              </a:rPr>
              <a:t> </a:t>
            </a:r>
            <a:r>
              <a:rPr dirty="0" sz="1250" i="1">
                <a:latin typeface="Times New Roman"/>
                <a:cs typeface="Times New Roman"/>
              </a:rPr>
              <a:t>c</a:t>
            </a:r>
            <a:r>
              <a:rPr dirty="0" sz="1250" spc="160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 biết </a:t>
            </a:r>
            <a:r>
              <a:rPr dirty="0" sz="1200" spc="-10">
                <a:latin typeface="Palatino Linotype"/>
                <a:cs typeface="Palatino Linotype"/>
              </a:rPr>
              <a:t>9a-b=-</a:t>
            </a:r>
            <a:r>
              <a:rPr dirty="0" sz="1200">
                <a:latin typeface="Palatino Linotype"/>
                <a:cs typeface="Palatino Linotype"/>
              </a:rPr>
              <a:t>3c, CMR : Trong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 số </a:t>
            </a:r>
            <a:r>
              <a:rPr dirty="0" sz="1200" spc="-20">
                <a:latin typeface="Palatino Linotype"/>
                <a:cs typeface="Palatino Linotype"/>
              </a:rPr>
              <a:t>P(-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; </a:t>
            </a:r>
            <a:r>
              <a:rPr dirty="0" sz="1200">
                <a:latin typeface="Palatino Linotype"/>
                <a:cs typeface="Palatino Linotype"/>
              </a:rPr>
              <a:t>P(2)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 ít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âm, ít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-10">
                <a:latin typeface="Palatino Linotype"/>
                <a:cs typeface="Palatino Linotype"/>
              </a:rPr>
              <a:t> dương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721360">
              <a:lnSpc>
                <a:spcPct val="100000"/>
              </a:lnSpc>
            </a:pPr>
            <a:r>
              <a:rPr dirty="0" sz="1400" spc="-55" b="1">
                <a:solidFill>
                  <a:srgbClr val="FF0000"/>
                </a:solidFill>
                <a:latin typeface="Palatino Linotype"/>
                <a:cs typeface="Palatino Linotype"/>
              </a:rPr>
              <a:t>HƢỚNG</a:t>
            </a:r>
            <a:r>
              <a:rPr dirty="0" sz="1400" spc="-20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b="1">
                <a:solidFill>
                  <a:srgbClr val="FF0000"/>
                </a:solidFill>
                <a:latin typeface="Palatino Linotype"/>
                <a:cs typeface="Palatino Linotype"/>
              </a:rPr>
              <a:t>DẪN</a:t>
            </a:r>
            <a:r>
              <a:rPr dirty="0" sz="1400" spc="-1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b="1">
                <a:solidFill>
                  <a:srgbClr val="FF0000"/>
                </a:solidFill>
                <a:latin typeface="Palatino Linotype"/>
                <a:cs typeface="Palatino Linotype"/>
              </a:rPr>
              <a:t>GIẢI</a:t>
            </a:r>
            <a:r>
              <a:rPr dirty="0" sz="1400" spc="-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b="1">
                <a:solidFill>
                  <a:srgbClr val="FF0000"/>
                </a:solidFill>
                <a:latin typeface="Palatino Linotype"/>
                <a:cs typeface="Palatino Linotype"/>
              </a:rPr>
              <a:t>CÁC</a:t>
            </a:r>
            <a:r>
              <a:rPr dirty="0" sz="1400" spc="-1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b="1">
                <a:solidFill>
                  <a:srgbClr val="FF0000"/>
                </a:solidFill>
                <a:latin typeface="Palatino Linotype"/>
                <a:cs typeface="Palatino Linotype"/>
              </a:rPr>
              <a:t>BÀI</a:t>
            </a:r>
            <a:r>
              <a:rPr dirty="0" sz="1400" spc="-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b="1">
                <a:solidFill>
                  <a:srgbClr val="FF0000"/>
                </a:solidFill>
                <a:latin typeface="Palatino Linotype"/>
                <a:cs typeface="Palatino Linotype"/>
              </a:rPr>
              <a:t>TẬP</a:t>
            </a:r>
            <a:r>
              <a:rPr dirty="0" sz="1400" spc="-30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b="1">
                <a:solidFill>
                  <a:srgbClr val="FF0000"/>
                </a:solidFill>
                <a:latin typeface="Palatino Linotype"/>
                <a:cs typeface="Palatino Linotype"/>
              </a:rPr>
              <a:t>TRONG</a:t>
            </a:r>
            <a:r>
              <a:rPr dirty="0" sz="1400" spc="-1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b="1">
                <a:solidFill>
                  <a:srgbClr val="FF0000"/>
                </a:solidFill>
                <a:latin typeface="Palatino Linotype"/>
                <a:cs typeface="Palatino Linotype"/>
              </a:rPr>
              <a:t>ĐỀ</a:t>
            </a:r>
            <a:r>
              <a:rPr dirty="0" sz="1400" spc="-10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400" spc="-25" b="1">
                <a:solidFill>
                  <a:srgbClr val="FF0000"/>
                </a:solidFill>
                <a:latin typeface="Palatino Linotype"/>
                <a:cs typeface="Palatino Linotype"/>
              </a:rPr>
              <a:t>THI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06627" y="2118105"/>
            <a:ext cx="5352415" cy="31013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  <a:p>
            <a:pPr marL="40640">
              <a:lnSpc>
                <a:spcPct val="100000"/>
              </a:lnSpc>
              <a:spcBef>
                <a:spcPts val="455"/>
              </a:spcBef>
            </a:pP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40" i="1">
                <a:latin typeface="Times New Roman"/>
                <a:cs typeface="Times New Roman"/>
              </a:rPr>
              <a:t> </a:t>
            </a:r>
            <a:r>
              <a:rPr dirty="0" sz="1550" spc="-45">
                <a:latin typeface="Symbol"/>
                <a:cs typeface="Symbol"/>
              </a:rPr>
              <a:t></a:t>
            </a:r>
            <a:r>
              <a:rPr dirty="0" baseline="4629" sz="1800" spc="-67">
                <a:latin typeface="Times New Roman"/>
                <a:cs typeface="Times New Roman"/>
              </a:rPr>
              <a:t>9</a:t>
            </a:r>
            <a:r>
              <a:rPr dirty="0" sz="1550" spc="-45">
                <a:latin typeface="Symbol"/>
                <a:cs typeface="Symbol"/>
              </a:rPr>
              <a:t></a:t>
            </a:r>
            <a:r>
              <a:rPr dirty="0" sz="1550" spc="-15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3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32" i="1">
                <a:latin typeface="Times New Roman"/>
                <a:cs typeface="Times New Roman"/>
              </a:rPr>
              <a:t> </a:t>
            </a:r>
            <a:r>
              <a:rPr dirty="0" sz="1550" spc="-40">
                <a:latin typeface="Symbol"/>
                <a:cs typeface="Symbol"/>
              </a:rPr>
              <a:t></a:t>
            </a:r>
            <a:r>
              <a:rPr dirty="0" baseline="4629" sz="1800" spc="-60">
                <a:latin typeface="Times New Roman"/>
                <a:cs typeface="Times New Roman"/>
              </a:rPr>
              <a:t>6</a:t>
            </a:r>
            <a:r>
              <a:rPr dirty="0" sz="1550" spc="-40">
                <a:latin typeface="Symbol"/>
                <a:cs typeface="Symbol"/>
              </a:rPr>
              <a:t></a:t>
            </a:r>
            <a:r>
              <a:rPr dirty="0" sz="1550" spc="-8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 spc="-30">
                <a:latin typeface="Times New Roman"/>
                <a:cs typeface="Times New Roman"/>
              </a:rPr>
              <a:t>2019</a:t>
            </a:r>
            <a:endParaRPr baseline="4629" sz="1800">
              <a:latin typeface="Times New Roman"/>
              <a:cs typeface="Times New Roman"/>
            </a:endParaRPr>
          </a:p>
          <a:p>
            <a:pPr marL="36195">
              <a:lnSpc>
                <a:spcPct val="100000"/>
              </a:lnSpc>
              <a:spcBef>
                <a:spcPts val="150"/>
              </a:spcBef>
            </a:pPr>
            <a:r>
              <a:rPr dirty="0" baseline="4629" sz="1800">
                <a:latin typeface="Symbol"/>
                <a:cs typeface="Symbol"/>
              </a:rPr>
              <a:t></a:t>
            </a:r>
            <a:r>
              <a:rPr dirty="0" baseline="4629" sz="1800" spc="-15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</a:t>
            </a:r>
            <a:r>
              <a:rPr dirty="0" baseline="4629" sz="1800" spc="-44">
                <a:latin typeface="Times New Roman"/>
                <a:cs typeface="Times New Roman"/>
              </a:rPr>
              <a:t>8</a:t>
            </a:r>
            <a:r>
              <a:rPr dirty="0" baseline="4629" sz="1800" spc="-44" i="1">
                <a:latin typeface="Times New Roman"/>
                <a:cs typeface="Times New Roman"/>
              </a:rPr>
              <a:t>ba</a:t>
            </a:r>
            <a:r>
              <a:rPr dirty="0" baseline="4629" sz="1800" spc="-60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27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9</a:t>
            </a:r>
            <a:r>
              <a:rPr dirty="0" baseline="4629" sz="1800" spc="-15" i="1">
                <a:latin typeface="Times New Roman"/>
                <a:cs typeface="Times New Roman"/>
              </a:rPr>
              <a:t>b</a:t>
            </a:r>
            <a:r>
              <a:rPr dirty="0" baseline="4629" sz="1800" spc="-89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 spc="-30" i="1">
                <a:latin typeface="Times New Roman"/>
                <a:cs typeface="Times New Roman"/>
              </a:rPr>
              <a:t>c</a:t>
            </a:r>
            <a:r>
              <a:rPr dirty="0" sz="1550" spc="-20">
                <a:latin typeface="Symbol"/>
                <a:cs typeface="Symbol"/>
              </a:rPr>
              <a:t></a:t>
            </a:r>
            <a:r>
              <a:rPr dirty="0" sz="1550" spc="-16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57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Symbol"/>
                <a:cs typeface="Symbol"/>
              </a:rPr>
              <a:t></a:t>
            </a:r>
            <a:r>
              <a:rPr dirty="0" baseline="4629" sz="1800" spc="-15">
                <a:latin typeface="Times New Roman"/>
                <a:cs typeface="Times New Roman"/>
              </a:rPr>
              <a:t>36</a:t>
            </a:r>
            <a:r>
              <a:rPr dirty="0" baseline="4629" sz="1800" spc="-15" i="1">
                <a:latin typeface="Times New Roman"/>
                <a:cs typeface="Times New Roman"/>
              </a:rPr>
              <a:t>a</a:t>
            </a:r>
            <a:r>
              <a:rPr dirty="0" baseline="4629" sz="1800" spc="-60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6</a:t>
            </a:r>
            <a:r>
              <a:rPr dirty="0" baseline="4629" sz="1800" spc="-15" i="1">
                <a:latin typeface="Times New Roman"/>
                <a:cs typeface="Times New Roman"/>
              </a:rPr>
              <a:t>b</a:t>
            </a:r>
            <a:r>
              <a:rPr dirty="0" baseline="4629" sz="1800" spc="-89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 spc="-30" i="1">
                <a:latin typeface="Times New Roman"/>
                <a:cs typeface="Times New Roman"/>
              </a:rPr>
              <a:t>c</a:t>
            </a:r>
            <a:r>
              <a:rPr dirty="0" sz="1550" spc="-20">
                <a:latin typeface="Symbol"/>
                <a:cs typeface="Symbol"/>
              </a:rPr>
              <a:t></a:t>
            </a:r>
            <a:r>
              <a:rPr dirty="0" sz="1550" spc="-9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 spc="-30">
                <a:latin typeface="Times New Roman"/>
                <a:cs typeface="Times New Roman"/>
              </a:rPr>
              <a:t>2019</a:t>
            </a:r>
            <a:endParaRPr baseline="4629" sz="1800">
              <a:latin typeface="Times New Roman"/>
              <a:cs typeface="Times New Roman"/>
            </a:endParaRPr>
          </a:p>
          <a:p>
            <a:pPr marL="36195">
              <a:lnSpc>
                <a:spcPct val="100000"/>
              </a:lnSpc>
              <a:spcBef>
                <a:spcPts val="150"/>
              </a:spcBef>
            </a:pPr>
            <a:r>
              <a:rPr dirty="0" baseline="4629" sz="1800">
                <a:latin typeface="Symbol"/>
                <a:cs typeface="Symbol"/>
              </a:rPr>
              <a:t></a:t>
            </a:r>
            <a:r>
              <a:rPr dirty="0" baseline="4629" sz="1800" spc="3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45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6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2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3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15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2019</a:t>
            </a:r>
            <a:r>
              <a:rPr dirty="0" baseline="4629" sz="1800" spc="-292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Symbol"/>
                <a:cs typeface="Symbol"/>
              </a:rPr>
              <a:t></a:t>
            </a:r>
            <a:r>
              <a:rPr dirty="0" baseline="4629" sz="1800" spc="-37">
                <a:latin typeface="Times New Roman"/>
                <a:cs typeface="Times New Roman"/>
              </a:rPr>
              <a:t>1</a:t>
            </a:r>
            <a:r>
              <a:rPr dirty="0" sz="1550" spc="-25">
                <a:latin typeface="Symbol"/>
                <a:cs typeface="Symbol"/>
              </a:rPr>
              <a:t></a:t>
            </a:r>
            <a:endParaRPr sz="15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latin typeface="Palatino Linotype"/>
                <a:cs typeface="Palatino Linotype"/>
              </a:rPr>
              <a:t>Lại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265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600" spc="-65">
                <a:latin typeface="Symbol"/>
                <a:cs typeface="Symbol"/>
              </a:rPr>
              <a:t></a:t>
            </a:r>
            <a:r>
              <a:rPr dirty="0" baseline="4629" sz="1800" spc="-97">
                <a:latin typeface="Times New Roman"/>
                <a:cs typeface="Times New Roman"/>
              </a:rPr>
              <a:t>10</a:t>
            </a:r>
            <a:r>
              <a:rPr dirty="0" sz="1600" spc="-65">
                <a:latin typeface="Symbol"/>
                <a:cs typeface="Symbol"/>
              </a:rPr>
              <a:t></a:t>
            </a:r>
            <a:r>
              <a:rPr dirty="0" sz="1600" spc="-18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6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600" spc="-45">
                <a:latin typeface="Symbol"/>
                <a:cs typeface="Symbol"/>
              </a:rPr>
              <a:t></a:t>
            </a:r>
            <a:r>
              <a:rPr dirty="0" baseline="4629" sz="1800" spc="-67">
                <a:latin typeface="Times New Roman"/>
                <a:cs typeface="Times New Roman"/>
              </a:rPr>
              <a:t>7</a:t>
            </a:r>
            <a:r>
              <a:rPr dirty="0" sz="1600" spc="-45">
                <a:latin typeface="Symbol"/>
                <a:cs typeface="Symbol"/>
              </a:rPr>
              <a:t></a:t>
            </a:r>
            <a:r>
              <a:rPr dirty="0" sz="1600" spc="-9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52">
                <a:latin typeface="Times New Roman"/>
                <a:cs typeface="Times New Roman"/>
              </a:rPr>
              <a:t> </a:t>
            </a:r>
            <a:r>
              <a:rPr dirty="0" sz="1600" spc="-35">
                <a:latin typeface="Symbol"/>
                <a:cs typeface="Symbol"/>
              </a:rPr>
              <a:t></a:t>
            </a:r>
            <a:r>
              <a:rPr dirty="0" baseline="4629" sz="1800" spc="-52">
                <a:latin typeface="Times New Roman"/>
                <a:cs typeface="Times New Roman"/>
              </a:rPr>
              <a:t>100</a:t>
            </a:r>
            <a:r>
              <a:rPr dirty="0" baseline="4629" sz="1800" spc="-52" i="1">
                <a:latin typeface="Times New Roman"/>
                <a:cs typeface="Times New Roman"/>
              </a:rPr>
              <a:t>a</a:t>
            </a:r>
            <a:r>
              <a:rPr dirty="0" baseline="4629" sz="1800" spc="-7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>
                <a:latin typeface="Times New Roman"/>
                <a:cs typeface="Times New Roman"/>
              </a:rPr>
              <a:t>10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04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12">
                <a:latin typeface="Times New Roman"/>
                <a:cs typeface="Times New Roman"/>
              </a:rPr>
              <a:t> </a:t>
            </a:r>
            <a:r>
              <a:rPr dirty="0" baseline="4629" sz="1800" spc="-44" i="1">
                <a:latin typeface="Times New Roman"/>
                <a:cs typeface="Times New Roman"/>
              </a:rPr>
              <a:t>c</a:t>
            </a:r>
            <a:r>
              <a:rPr dirty="0" sz="1600" spc="-30">
                <a:latin typeface="Symbol"/>
                <a:cs typeface="Symbol"/>
              </a:rPr>
              <a:t></a:t>
            </a:r>
            <a:r>
              <a:rPr dirty="0" sz="1600" spc="-18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72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Symbol"/>
                <a:cs typeface="Symbol"/>
              </a:rPr>
              <a:t></a:t>
            </a:r>
            <a:r>
              <a:rPr dirty="0" baseline="4629" sz="1800" spc="-15">
                <a:latin typeface="Times New Roman"/>
                <a:cs typeface="Times New Roman"/>
              </a:rPr>
              <a:t>29</a:t>
            </a:r>
            <a:r>
              <a:rPr dirty="0" baseline="4629" sz="1800" spc="-15" i="1">
                <a:latin typeface="Times New Roman"/>
                <a:cs typeface="Times New Roman"/>
              </a:rPr>
              <a:t>a</a:t>
            </a:r>
            <a:r>
              <a:rPr dirty="0" baseline="4629" sz="1800" spc="-6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1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7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89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27">
                <a:latin typeface="Times New Roman"/>
                <a:cs typeface="Times New Roman"/>
              </a:rPr>
              <a:t> </a:t>
            </a:r>
            <a:r>
              <a:rPr dirty="0" baseline="4629" sz="1800" spc="-37" i="1">
                <a:latin typeface="Times New Roman"/>
                <a:cs typeface="Times New Roman"/>
              </a:rPr>
              <a:t>c</a:t>
            </a:r>
            <a:r>
              <a:rPr dirty="0" sz="1600" spc="-25">
                <a:latin typeface="Symbol"/>
                <a:cs typeface="Symbol"/>
              </a:rPr>
              <a:t>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52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51</a:t>
            </a:r>
            <a:r>
              <a:rPr dirty="0" baseline="4629" sz="1800" spc="-37" i="1">
                <a:latin typeface="Times New Roman"/>
                <a:cs typeface="Times New Roman"/>
              </a:rPr>
              <a:t>a</a:t>
            </a:r>
            <a:r>
              <a:rPr dirty="0" baseline="4629" sz="1800" spc="-7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42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3</a:t>
            </a:r>
            <a:r>
              <a:rPr dirty="0" baseline="4629" sz="1800" spc="-37" i="1">
                <a:latin typeface="Times New Roman"/>
                <a:cs typeface="Times New Roman"/>
              </a:rPr>
              <a:t>b</a:t>
            </a:r>
            <a:endParaRPr baseline="4629"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250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600" spc="-70">
                <a:latin typeface="Symbol"/>
                <a:cs typeface="Symbol"/>
              </a:rPr>
              <a:t></a:t>
            </a:r>
            <a:r>
              <a:rPr dirty="0" baseline="4629" sz="1800" spc="-104">
                <a:latin typeface="Times New Roman"/>
                <a:cs typeface="Times New Roman"/>
              </a:rPr>
              <a:t>10</a:t>
            </a:r>
            <a:r>
              <a:rPr dirty="0" sz="1600" spc="-70">
                <a:latin typeface="Symbol"/>
                <a:cs typeface="Symbol"/>
              </a:rPr>
              <a:t></a:t>
            </a:r>
            <a:r>
              <a:rPr dirty="0" sz="1600" spc="-18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6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600" spc="-45">
                <a:latin typeface="Symbol"/>
                <a:cs typeface="Symbol"/>
              </a:rPr>
              <a:t></a:t>
            </a:r>
            <a:r>
              <a:rPr dirty="0" baseline="4629" sz="1800" spc="-67">
                <a:latin typeface="Times New Roman"/>
                <a:cs typeface="Times New Roman"/>
              </a:rPr>
              <a:t>7</a:t>
            </a:r>
            <a:r>
              <a:rPr dirty="0" sz="1600" spc="-45">
                <a:latin typeface="Symbol"/>
                <a:cs typeface="Symbol"/>
              </a:rPr>
              <a:t>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6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t</a:t>
            </a:r>
            <a:r>
              <a:rPr dirty="0" baseline="4629" sz="1800" spc="60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</a:t>
            </a:r>
            <a:r>
              <a:rPr dirty="0" baseline="4629" sz="1800" spc="-89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51</a:t>
            </a:r>
            <a:r>
              <a:rPr dirty="0" baseline="4629" sz="1800" spc="-37" i="1">
                <a:latin typeface="Times New Roman"/>
                <a:cs typeface="Times New Roman"/>
              </a:rPr>
              <a:t>a</a:t>
            </a:r>
            <a:r>
              <a:rPr dirty="0" baseline="4629" sz="1800" spc="-8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5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3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6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t</a:t>
            </a:r>
            <a:r>
              <a:rPr dirty="0" baseline="4629" sz="1800" spc="-165" i="1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Symbol"/>
                <a:cs typeface="Symbol"/>
              </a:rPr>
              <a:t></a:t>
            </a:r>
            <a:r>
              <a:rPr dirty="0" baseline="4629" sz="1800" spc="-37">
                <a:latin typeface="Times New Roman"/>
                <a:cs typeface="Times New Roman"/>
              </a:rPr>
              <a:t>2</a:t>
            </a:r>
            <a:r>
              <a:rPr dirty="0" sz="1600" spc="-25">
                <a:latin typeface="Symbol"/>
                <a:cs typeface="Symbol"/>
              </a:rPr>
              <a:t></a:t>
            </a:r>
            <a:endParaRPr sz="1600">
              <a:latin typeface="Symbol"/>
              <a:cs typeface="Symbol"/>
            </a:endParaRPr>
          </a:p>
          <a:p>
            <a:pPr marL="12700" marR="5080">
              <a:lnSpc>
                <a:spcPct val="134200"/>
              </a:lnSpc>
              <a:spcBef>
                <a:spcPts val="465"/>
              </a:spcBef>
            </a:pPr>
            <a:r>
              <a:rPr dirty="0" sz="1200">
                <a:latin typeface="Palatino Linotype"/>
                <a:cs typeface="Palatino Linotype"/>
              </a:rPr>
              <a:t>Trừ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vế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vế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 ta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6</a:t>
            </a:r>
            <a:r>
              <a:rPr dirty="0" sz="1150" i="1">
                <a:latin typeface="Times New Roman"/>
                <a:cs typeface="Times New Roman"/>
              </a:rPr>
              <a:t>a</a:t>
            </a:r>
            <a:r>
              <a:rPr dirty="0" sz="1150" spc="20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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t</a:t>
            </a:r>
            <a:r>
              <a:rPr dirty="0" sz="1150" spc="-5" i="1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Symbol"/>
                <a:cs typeface="Symbol"/>
              </a:rPr>
              <a:t>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2019</a:t>
            </a:r>
            <a:r>
              <a:rPr dirty="0" sz="1150" spc="-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6</a:t>
            </a:r>
            <a:r>
              <a:rPr dirty="0" sz="1150" i="1">
                <a:latin typeface="Times New Roman"/>
                <a:cs typeface="Times New Roman"/>
              </a:rPr>
              <a:t>a</a:t>
            </a:r>
            <a:r>
              <a:rPr dirty="0" sz="1150" spc="225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chẵn,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2019 lẻ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lẻ,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 </a:t>
            </a:r>
            <a:r>
              <a:rPr dirty="0" sz="1200">
                <a:latin typeface="Palatino Linotype"/>
                <a:cs typeface="Palatino Linotype"/>
              </a:rPr>
              <a:t>điều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phải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chứng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minh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2.</a:t>
            </a:r>
            <a:endParaRPr sz="1200">
              <a:latin typeface="Palatino Linotype"/>
              <a:cs typeface="Palatino Linotype"/>
            </a:endParaRPr>
          </a:p>
          <a:p>
            <a:pPr marL="317500">
              <a:lnSpc>
                <a:spcPct val="100000"/>
              </a:lnSpc>
              <a:spcBef>
                <a:spcPts val="459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P</a:t>
            </a:r>
            <a:r>
              <a:rPr dirty="0" sz="1200">
                <a:latin typeface="Palatino Linotype"/>
                <a:cs typeface="Palatino Linotype"/>
              </a:rPr>
              <a:t>(</a:t>
            </a:r>
            <a:r>
              <a:rPr dirty="0" sz="1200" i="1">
                <a:latin typeface="Palatino Linotype"/>
                <a:cs typeface="Palatino Linotype"/>
              </a:rPr>
              <a:t>x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bình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một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thì: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56512" y="7690865"/>
            <a:ext cx="1619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884" algn="l"/>
              </a:tabLst>
            </a:pPr>
            <a:r>
              <a:rPr dirty="0" sz="1200" spc="-25" b="1">
                <a:latin typeface="Palatino Linotype"/>
                <a:cs typeface="Palatino Linotype"/>
              </a:rPr>
              <a:t>1.</a:t>
            </a:r>
            <a:r>
              <a:rPr dirty="0" sz="1200" b="1">
                <a:latin typeface="Palatino Linotype"/>
                <a:cs typeface="Palatino Linotype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giả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thiết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33925" y="7690865"/>
            <a:ext cx="188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và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6512" y="8000197"/>
            <a:ext cx="201485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2314" sz="1800">
                <a:latin typeface="Palatino Linotype"/>
                <a:cs typeface="Palatino Linotype"/>
              </a:rPr>
              <a:t>Từ</a:t>
            </a:r>
            <a:r>
              <a:rPr dirty="0" baseline="2314" sz="1800" spc="127">
                <a:latin typeface="Palatino Linotype"/>
                <a:cs typeface="Palatino Linotype"/>
              </a:rPr>
              <a:t> </a:t>
            </a:r>
            <a:r>
              <a:rPr dirty="0" sz="1450" spc="-45">
                <a:latin typeface="Symbol"/>
                <a:cs typeface="Symbol"/>
              </a:rPr>
              <a:t></a:t>
            </a:r>
            <a:r>
              <a:rPr dirty="0" baseline="5050" sz="1650" spc="-67">
                <a:latin typeface="Times New Roman"/>
                <a:cs typeface="Times New Roman"/>
              </a:rPr>
              <a:t>1</a:t>
            </a:r>
            <a:r>
              <a:rPr dirty="0" sz="1450" spc="-45">
                <a:latin typeface="Symbol"/>
                <a:cs typeface="Symbol"/>
              </a:rPr>
              <a:t></a:t>
            </a:r>
            <a:r>
              <a:rPr dirty="0" sz="1450" spc="14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và</a:t>
            </a:r>
            <a:r>
              <a:rPr dirty="0" baseline="2314" sz="1800" spc="202">
                <a:latin typeface="Palatino Linotype"/>
                <a:cs typeface="Palatino Linotype"/>
              </a:rPr>
              <a:t> </a:t>
            </a:r>
            <a:r>
              <a:rPr dirty="0" sz="1450">
                <a:latin typeface="Symbol"/>
                <a:cs typeface="Symbol"/>
              </a:rPr>
              <a:t></a:t>
            </a:r>
            <a:r>
              <a:rPr dirty="0" baseline="5050" sz="1650">
                <a:latin typeface="Times New Roman"/>
                <a:cs typeface="Times New Roman"/>
              </a:rPr>
              <a:t>2</a:t>
            </a:r>
            <a:r>
              <a:rPr dirty="0" sz="1450">
                <a:latin typeface="Symbol"/>
                <a:cs typeface="Symbol"/>
              </a:rPr>
              <a:t></a:t>
            </a:r>
            <a:r>
              <a:rPr dirty="0" sz="1450" spc="39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suy</a:t>
            </a:r>
            <a:r>
              <a:rPr dirty="0" baseline="2314" sz="1800" spc="-30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ra</a:t>
            </a:r>
            <a:r>
              <a:rPr dirty="0" baseline="2314" sz="1800" spc="292">
                <a:latin typeface="Palatino Linotype"/>
                <a:cs typeface="Palatino Linotype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P</a:t>
            </a:r>
            <a:r>
              <a:rPr dirty="0" baseline="5050" sz="1650" spc="-270" i="1">
                <a:latin typeface="Times New Roman"/>
                <a:cs typeface="Times New Roman"/>
              </a:rPr>
              <a:t> </a:t>
            </a:r>
            <a:r>
              <a:rPr dirty="0" sz="1450" spc="-110">
                <a:latin typeface="Symbol"/>
                <a:cs typeface="Symbol"/>
              </a:rPr>
              <a:t></a:t>
            </a:r>
            <a:r>
              <a:rPr dirty="0" baseline="5050" sz="1650" spc="-165">
                <a:latin typeface="Times New Roman"/>
                <a:cs typeface="Times New Roman"/>
              </a:rPr>
              <a:t>1</a:t>
            </a:r>
            <a:r>
              <a:rPr dirty="0" sz="1450" spc="-110">
                <a:latin typeface="Symbol"/>
                <a:cs typeface="Symbol"/>
              </a:rPr>
              <a:t></a:t>
            </a:r>
            <a:r>
              <a:rPr dirty="0" sz="1450" spc="-140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104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0</a:t>
            </a:r>
            <a:r>
              <a:rPr dirty="0" baseline="5050" sz="1650" spc="-157">
                <a:latin typeface="Times New Roman"/>
                <a:cs typeface="Times New Roman"/>
              </a:rPr>
              <a:t> </a:t>
            </a:r>
            <a:r>
              <a:rPr dirty="0" baseline="2314" sz="1800" spc="-75">
                <a:latin typeface="Palatino Linotype"/>
                <a:cs typeface="Palatino Linotype"/>
              </a:rPr>
              <a:t>.</a:t>
            </a:r>
            <a:endParaRPr baseline="2314" sz="18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31112" y="8526804"/>
            <a:ext cx="5744210" cy="74231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1200" spc="-25">
                <a:latin typeface="Palatino Linotype"/>
                <a:cs typeface="Palatino Linotype"/>
              </a:rPr>
              <a:t>âm.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baseline="2314" sz="1800">
                <a:latin typeface="Palatino Linotype"/>
                <a:cs typeface="Palatino Linotype"/>
              </a:rPr>
              <a:t>Ta</a:t>
            </a:r>
            <a:r>
              <a:rPr dirty="0" baseline="2314" sz="1800" spc="18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có</a:t>
            </a:r>
            <a:r>
              <a:rPr dirty="0" baseline="2314" sz="1800" spc="540">
                <a:latin typeface="Palatino Linotype"/>
                <a:cs typeface="Palatino Linotype"/>
              </a:rPr>
              <a:t> </a:t>
            </a:r>
            <a:r>
              <a:rPr dirty="0" baseline="5050" sz="1650" spc="-82" i="1">
                <a:latin typeface="Times New Roman"/>
                <a:cs typeface="Times New Roman"/>
              </a:rPr>
              <a:t>P</a:t>
            </a:r>
            <a:r>
              <a:rPr dirty="0" sz="1450" spc="-55">
                <a:latin typeface="Symbol"/>
                <a:cs typeface="Symbol"/>
              </a:rPr>
              <a:t></a:t>
            </a:r>
            <a:r>
              <a:rPr dirty="0" baseline="5050" sz="1650" spc="-82">
                <a:latin typeface="Times New Roman"/>
                <a:cs typeface="Times New Roman"/>
              </a:rPr>
              <a:t>1</a:t>
            </a:r>
            <a:r>
              <a:rPr dirty="0" sz="1450" spc="-55">
                <a:latin typeface="Symbol"/>
                <a:cs typeface="Symbol"/>
              </a:rPr>
              <a:t></a:t>
            </a:r>
            <a:r>
              <a:rPr dirty="0" sz="1450" spc="-140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82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>
                <a:latin typeface="Times New Roman"/>
                <a:cs typeface="Times New Roman"/>
              </a:rPr>
              <a:t>0</a:t>
            </a:r>
            <a:r>
              <a:rPr dirty="0" baseline="-17094" sz="975" spc="225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</a:t>
            </a:r>
            <a:r>
              <a:rPr dirty="0" baseline="5050" sz="1650" spc="-112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>
                <a:latin typeface="Times New Roman"/>
                <a:cs typeface="Times New Roman"/>
              </a:rPr>
              <a:t>1</a:t>
            </a:r>
            <a:r>
              <a:rPr dirty="0" baseline="-17094" sz="975" spc="150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</a:t>
            </a:r>
            <a:r>
              <a:rPr dirty="0" baseline="5050" sz="1650" spc="-112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>
                <a:latin typeface="Times New Roman"/>
                <a:cs typeface="Times New Roman"/>
              </a:rPr>
              <a:t>2</a:t>
            </a:r>
            <a:r>
              <a:rPr dirty="0" baseline="-17094" sz="975" spc="217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</a:t>
            </a:r>
            <a:r>
              <a:rPr dirty="0" baseline="5050" sz="1650">
                <a:latin typeface="Times New Roman"/>
                <a:cs typeface="Times New Roman"/>
              </a:rPr>
              <a:t>...</a:t>
            </a:r>
            <a:r>
              <a:rPr dirty="0" baseline="5050" sz="1650" spc="-225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</a:t>
            </a:r>
            <a:r>
              <a:rPr dirty="0" baseline="5050" sz="1650" spc="-104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 i="1">
                <a:latin typeface="Times New Roman"/>
                <a:cs typeface="Times New Roman"/>
              </a:rPr>
              <a:t>n</a:t>
            </a:r>
            <a:r>
              <a:rPr dirty="0" baseline="-17094" sz="975" spc="284" i="1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104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0</a:t>
            </a:r>
            <a:r>
              <a:rPr dirty="0" baseline="5050" sz="1650" spc="51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vì</a:t>
            </a:r>
            <a:r>
              <a:rPr dirty="0" baseline="2314" sz="1800" spc="472">
                <a:latin typeface="Palatino Linotype"/>
                <a:cs typeface="Palatino Linotype"/>
              </a:rPr>
              <a:t> </a:t>
            </a:r>
            <a:r>
              <a:rPr dirty="0" baseline="5050" sz="1650" spc="-15" i="1">
                <a:latin typeface="Times New Roman"/>
                <a:cs typeface="Times New Roman"/>
              </a:rPr>
              <a:t>a</a:t>
            </a:r>
            <a:r>
              <a:rPr dirty="0" baseline="-17094" sz="975" spc="-15">
                <a:latin typeface="Times New Roman"/>
                <a:cs typeface="Times New Roman"/>
              </a:rPr>
              <a:t>0</a:t>
            </a:r>
            <a:r>
              <a:rPr dirty="0" baseline="-17094" sz="975" spc="-82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,</a:t>
            </a:r>
            <a:r>
              <a:rPr dirty="0" baseline="5050" sz="1650" spc="-254">
                <a:latin typeface="Times New Roman"/>
                <a:cs typeface="Times New Roman"/>
              </a:rPr>
              <a:t> </a:t>
            </a:r>
            <a:r>
              <a:rPr dirty="0" baseline="5050" sz="1650" spc="-15" i="1">
                <a:latin typeface="Times New Roman"/>
                <a:cs typeface="Times New Roman"/>
              </a:rPr>
              <a:t>a</a:t>
            </a:r>
            <a:r>
              <a:rPr dirty="0" baseline="-17094" sz="975" spc="-15">
                <a:latin typeface="Times New Roman"/>
                <a:cs typeface="Times New Roman"/>
              </a:rPr>
              <a:t>1</a:t>
            </a:r>
            <a:r>
              <a:rPr dirty="0" baseline="5050" sz="1650" spc="-15">
                <a:latin typeface="Times New Roman"/>
                <a:cs typeface="Times New Roman"/>
              </a:rPr>
              <a:t>,</a:t>
            </a:r>
            <a:r>
              <a:rPr dirty="0" baseline="5050" sz="1650" spc="-247">
                <a:latin typeface="Times New Roman"/>
                <a:cs typeface="Times New Roman"/>
              </a:rPr>
              <a:t> </a:t>
            </a:r>
            <a:r>
              <a:rPr dirty="0" baseline="5050" sz="1650" spc="-15" i="1">
                <a:latin typeface="Times New Roman"/>
                <a:cs typeface="Times New Roman"/>
              </a:rPr>
              <a:t>a</a:t>
            </a:r>
            <a:r>
              <a:rPr dirty="0" baseline="-17094" sz="975" spc="-15">
                <a:latin typeface="Times New Roman"/>
                <a:cs typeface="Times New Roman"/>
              </a:rPr>
              <a:t>2</a:t>
            </a:r>
            <a:r>
              <a:rPr dirty="0" baseline="-17094" sz="975" spc="-97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,...,</a:t>
            </a:r>
            <a:r>
              <a:rPr dirty="0" baseline="5050" sz="1650" spc="-247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 i="1">
                <a:latin typeface="Times New Roman"/>
                <a:cs typeface="Times New Roman"/>
              </a:rPr>
              <a:t>n</a:t>
            </a:r>
            <a:r>
              <a:rPr dirty="0" baseline="-17094" sz="975" spc="735" i="1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là</a:t>
            </a:r>
            <a:r>
              <a:rPr dirty="0" baseline="2314" sz="1800" spc="18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các</a:t>
            </a:r>
            <a:r>
              <a:rPr dirty="0" baseline="2314" sz="1800" spc="179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số</a:t>
            </a:r>
            <a:r>
              <a:rPr dirty="0" baseline="2314" sz="1800" spc="19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nguyên</a:t>
            </a:r>
            <a:r>
              <a:rPr dirty="0" baseline="2314" sz="1800" spc="18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không</a:t>
            </a:r>
            <a:r>
              <a:rPr dirty="0" baseline="2314" sz="1800" spc="19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âm</a:t>
            </a:r>
            <a:r>
              <a:rPr dirty="0" baseline="2314" sz="1800" spc="18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suy</a:t>
            </a:r>
            <a:r>
              <a:rPr dirty="0" baseline="2314" sz="1800" spc="195">
                <a:latin typeface="Palatino Linotype"/>
                <a:cs typeface="Palatino Linotype"/>
              </a:rPr>
              <a:t> </a:t>
            </a:r>
            <a:r>
              <a:rPr dirty="0" baseline="2314" sz="1800" spc="-37">
                <a:latin typeface="Palatino Linotype"/>
                <a:cs typeface="Palatino Linotype"/>
              </a:rPr>
              <a:t>ra</a:t>
            </a:r>
            <a:endParaRPr baseline="2314" sz="1800">
              <a:latin typeface="Palatino Linotype"/>
              <a:cs typeface="Palatino Linotype"/>
            </a:endParaRPr>
          </a:p>
          <a:p>
            <a:pPr marL="62230">
              <a:lnSpc>
                <a:spcPct val="100000"/>
              </a:lnSpc>
              <a:spcBef>
                <a:spcPts val="280"/>
              </a:spcBef>
              <a:tabLst>
                <a:tab pos="2895600" algn="l"/>
              </a:tabLst>
            </a:pP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>
                <a:latin typeface="Times New Roman"/>
                <a:cs typeface="Times New Roman"/>
              </a:rPr>
              <a:t>0</a:t>
            </a:r>
            <a:r>
              <a:rPr dirty="0" baseline="-17094" sz="975" spc="292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82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>
                <a:latin typeface="Times New Roman"/>
                <a:cs typeface="Times New Roman"/>
              </a:rPr>
              <a:t>1</a:t>
            </a:r>
            <a:r>
              <a:rPr dirty="0" baseline="-17094" sz="975" spc="217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254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>
                <a:latin typeface="Times New Roman"/>
                <a:cs typeface="Times New Roman"/>
              </a:rPr>
              <a:t>2</a:t>
            </a:r>
            <a:r>
              <a:rPr dirty="0" baseline="-17094" sz="975" spc="292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187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...</a:t>
            </a:r>
            <a:r>
              <a:rPr dirty="0" baseline="5050" sz="1650" spc="-150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82">
                <a:latin typeface="Times New Roman"/>
                <a:cs typeface="Times New Roman"/>
              </a:rPr>
              <a:t> </a:t>
            </a:r>
            <a:r>
              <a:rPr dirty="0" baseline="5050" sz="1650" i="1">
                <a:latin typeface="Times New Roman"/>
                <a:cs typeface="Times New Roman"/>
              </a:rPr>
              <a:t>a</a:t>
            </a:r>
            <a:r>
              <a:rPr dirty="0" baseline="-17094" sz="975" i="1">
                <a:latin typeface="Times New Roman"/>
                <a:cs typeface="Times New Roman"/>
              </a:rPr>
              <a:t>n</a:t>
            </a:r>
            <a:r>
              <a:rPr dirty="0" baseline="-17094" sz="975" spc="300" i="1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104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0</a:t>
            </a:r>
            <a:r>
              <a:rPr dirty="0" baseline="5050" sz="1650" spc="31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do</a:t>
            </a:r>
            <a:r>
              <a:rPr dirty="0" baseline="2314" sz="1800" spc="22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đó</a:t>
            </a:r>
            <a:r>
              <a:rPr dirty="0" baseline="2314" sz="1800" spc="375">
                <a:latin typeface="Palatino Linotype"/>
                <a:cs typeface="Palatino Linotype"/>
              </a:rPr>
              <a:t> </a:t>
            </a:r>
            <a:r>
              <a:rPr dirty="0" baseline="5050" sz="1650" spc="-15" i="1">
                <a:latin typeface="Times New Roman"/>
                <a:cs typeface="Times New Roman"/>
              </a:rPr>
              <a:t>P</a:t>
            </a:r>
            <a:r>
              <a:rPr dirty="0" sz="1450" spc="-10">
                <a:latin typeface="Symbol"/>
                <a:cs typeface="Symbol"/>
              </a:rPr>
              <a:t></a:t>
            </a:r>
            <a:r>
              <a:rPr dirty="0" sz="1450" spc="-229">
                <a:latin typeface="Times New Roman"/>
                <a:cs typeface="Times New Roman"/>
              </a:rPr>
              <a:t> </a:t>
            </a:r>
            <a:r>
              <a:rPr dirty="0" baseline="5050" sz="1650" spc="-37" i="1">
                <a:latin typeface="Times New Roman"/>
                <a:cs typeface="Times New Roman"/>
              </a:rPr>
              <a:t>x</a:t>
            </a:r>
            <a:r>
              <a:rPr dirty="0" sz="1450" spc="-25">
                <a:latin typeface="Symbol"/>
                <a:cs typeface="Symbol"/>
              </a:rPr>
              <a:t></a:t>
            </a:r>
            <a:r>
              <a:rPr dirty="0" sz="1450" spc="-140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97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0</a:t>
            </a:r>
            <a:r>
              <a:rPr dirty="0" baseline="5050" sz="1650" spc="562">
                <a:latin typeface="Times New Roman"/>
                <a:cs typeface="Times New Roman"/>
              </a:rPr>
              <a:t> </a:t>
            </a:r>
            <a:r>
              <a:rPr dirty="0" baseline="5050" sz="1650" spc="-15">
                <a:latin typeface="Symbol"/>
                <a:cs typeface="Symbol"/>
              </a:rPr>
              <a:t></a:t>
            </a:r>
            <a:r>
              <a:rPr dirty="0" baseline="5050" sz="1650" spc="-15" i="1">
                <a:latin typeface="Times New Roman"/>
                <a:cs typeface="Times New Roman"/>
              </a:rPr>
              <a:t>x</a:t>
            </a:r>
            <a:r>
              <a:rPr dirty="0" baseline="5050" sz="1650" spc="-240" i="1">
                <a:latin typeface="Times New Roman"/>
                <a:cs typeface="Times New Roman"/>
              </a:rPr>
              <a:t> </a:t>
            </a:r>
            <a:r>
              <a:rPr dirty="0" baseline="5050" sz="1650" spc="-75">
                <a:latin typeface="Symbol"/>
                <a:cs typeface="Symbol"/>
              </a:rPr>
              <a:t></a:t>
            </a:r>
            <a:r>
              <a:rPr dirty="0" baseline="5050" sz="1650">
                <a:latin typeface="Times New Roman"/>
                <a:cs typeface="Times New Roman"/>
              </a:rPr>
              <a:t>	</a:t>
            </a:r>
            <a:r>
              <a:rPr dirty="0" baseline="2314" sz="1800" spc="-75">
                <a:latin typeface="Palatino Linotype"/>
                <a:cs typeface="Palatino Linotype"/>
              </a:rPr>
              <a:t>.</a:t>
            </a:r>
            <a:endParaRPr baseline="2314" sz="1800">
              <a:latin typeface="Palatino Linotype"/>
              <a:cs typeface="Palatino Linotyp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84432" y="5276142"/>
            <a:ext cx="6540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0802" y="5265539"/>
            <a:ext cx="160891" cy="26160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422985" y="6304391"/>
            <a:ext cx="6985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22552" y="5037681"/>
            <a:ext cx="4090035" cy="124333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40"/>
              </a:spcBef>
            </a:pPr>
            <a:r>
              <a:rPr dirty="0" sz="1200" i="1">
                <a:latin typeface="Palatino Linotype"/>
                <a:cs typeface="Palatino Linotype"/>
              </a:rPr>
              <a:t>P</a:t>
            </a:r>
            <a:r>
              <a:rPr dirty="0" sz="1200">
                <a:latin typeface="Palatino Linotype"/>
                <a:cs typeface="Palatino Linotype"/>
              </a:rPr>
              <a:t>(</a:t>
            </a:r>
            <a:r>
              <a:rPr dirty="0" sz="1200" i="1">
                <a:latin typeface="Palatino Linotype"/>
                <a:cs typeface="Palatino Linotype"/>
              </a:rPr>
              <a:t>x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3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baseline="-4385" sz="2850">
                <a:latin typeface="Symbol"/>
                <a:cs typeface="Symbol"/>
              </a:rPr>
              <a:t>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09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spc="-20" i="1">
                <a:latin typeface="Times New Roman"/>
                <a:cs typeface="Times New Roman"/>
              </a:rPr>
              <a:t>cx</a:t>
            </a:r>
            <a:r>
              <a:rPr dirty="0" sz="1200" spc="-10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</a:t>
            </a:r>
            <a:r>
              <a:rPr dirty="0" sz="1200" spc="-120" i="1">
                <a:latin typeface="Times New Roman"/>
                <a:cs typeface="Times New Roman"/>
              </a:rPr>
              <a:t> </a:t>
            </a:r>
            <a:r>
              <a:rPr dirty="0" baseline="-4385" sz="2850" spc="-67">
                <a:latin typeface="Symbol"/>
                <a:cs typeface="Symbol"/>
              </a:rPr>
              <a:t></a:t>
            </a:r>
            <a:r>
              <a:rPr dirty="0" baseline="71428" sz="1050" spc="-67">
                <a:latin typeface="Times New Roman"/>
                <a:cs typeface="Times New Roman"/>
              </a:rPr>
              <a:t>2</a:t>
            </a:r>
            <a:r>
              <a:rPr dirty="0" baseline="71428" sz="1050" spc="42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254">
                <a:latin typeface="Palatino Linotype"/>
                <a:cs typeface="Palatino Linotype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x</a:t>
            </a:r>
            <a:r>
              <a:rPr dirty="0" baseline="51282" sz="975">
                <a:latin typeface="Times New Roman"/>
                <a:cs typeface="Times New Roman"/>
              </a:rPr>
              <a:t>4</a:t>
            </a:r>
            <a:r>
              <a:rPr dirty="0" baseline="51282" sz="975" spc="232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5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2</a:t>
            </a:r>
            <a:r>
              <a:rPr dirty="0" baseline="2314" sz="1800" i="1">
                <a:latin typeface="Times New Roman"/>
                <a:cs typeface="Times New Roman"/>
              </a:rPr>
              <a:t>cx</a:t>
            </a:r>
            <a:r>
              <a:rPr dirty="0" baseline="51282" sz="975">
                <a:latin typeface="Times New Roman"/>
                <a:cs typeface="Times New Roman"/>
              </a:rPr>
              <a:t>3</a:t>
            </a:r>
            <a:r>
              <a:rPr dirty="0" baseline="51282" sz="975" spc="19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209">
                <a:latin typeface="Times New Roman"/>
                <a:cs typeface="Times New Roman"/>
              </a:rPr>
              <a:t> </a:t>
            </a:r>
            <a:r>
              <a:rPr dirty="0" baseline="-3003" sz="2775">
                <a:latin typeface="Symbol"/>
                <a:cs typeface="Symbol"/>
              </a:rPr>
              <a:t></a:t>
            </a:r>
            <a:r>
              <a:rPr dirty="0" baseline="2314" sz="1800" i="1">
                <a:latin typeface="Times New Roman"/>
                <a:cs typeface="Times New Roman"/>
              </a:rPr>
              <a:t>c</a:t>
            </a:r>
            <a:r>
              <a:rPr dirty="0" baseline="51282" sz="975">
                <a:latin typeface="Times New Roman"/>
                <a:cs typeface="Times New Roman"/>
              </a:rPr>
              <a:t>2</a:t>
            </a:r>
            <a:r>
              <a:rPr dirty="0" baseline="51282" sz="975" spc="22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5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2</a:t>
            </a:r>
            <a:r>
              <a:rPr dirty="0" baseline="2314" sz="1800" i="1">
                <a:latin typeface="Times New Roman"/>
                <a:cs typeface="Times New Roman"/>
              </a:rPr>
              <a:t>d</a:t>
            </a:r>
            <a:r>
              <a:rPr dirty="0" baseline="2314" sz="1800" spc="-179" i="1">
                <a:latin typeface="Times New Roman"/>
                <a:cs typeface="Times New Roman"/>
              </a:rPr>
              <a:t> </a:t>
            </a:r>
            <a:r>
              <a:rPr dirty="0" baseline="-3003" sz="2775" spc="-322">
                <a:latin typeface="Symbol"/>
                <a:cs typeface="Symbol"/>
              </a:rPr>
              <a:t></a:t>
            </a:r>
            <a:r>
              <a:rPr dirty="0" baseline="-3003" sz="2775" spc="-419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x</a:t>
            </a:r>
            <a:r>
              <a:rPr dirty="0" baseline="51282" sz="975">
                <a:latin typeface="Times New Roman"/>
                <a:cs typeface="Times New Roman"/>
              </a:rPr>
              <a:t>2</a:t>
            </a:r>
            <a:r>
              <a:rPr dirty="0" baseline="51282" sz="975" spc="22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42">
                <a:latin typeface="Times New Roman"/>
                <a:cs typeface="Times New Roman"/>
              </a:rPr>
              <a:t> </a:t>
            </a:r>
            <a:r>
              <a:rPr dirty="0" baseline="2314" sz="1800" spc="-15">
                <a:latin typeface="Times New Roman"/>
                <a:cs typeface="Times New Roman"/>
              </a:rPr>
              <a:t>2</a:t>
            </a:r>
            <a:r>
              <a:rPr dirty="0" baseline="2314" sz="1800" spc="-15" i="1">
                <a:latin typeface="Times New Roman"/>
                <a:cs typeface="Times New Roman"/>
              </a:rPr>
              <a:t>cdx</a:t>
            </a:r>
            <a:r>
              <a:rPr dirty="0" baseline="2314" sz="1800" spc="-142" i="1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65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d</a:t>
            </a:r>
            <a:r>
              <a:rPr dirty="0" baseline="2314" sz="1800" spc="-232" i="1">
                <a:latin typeface="Times New Roman"/>
                <a:cs typeface="Times New Roman"/>
              </a:rPr>
              <a:t> </a:t>
            </a:r>
            <a:r>
              <a:rPr dirty="0" baseline="51282" sz="975">
                <a:latin typeface="Times New Roman"/>
                <a:cs typeface="Times New Roman"/>
              </a:rPr>
              <a:t>2</a:t>
            </a:r>
            <a:r>
              <a:rPr dirty="0" baseline="51282" sz="975" spc="-9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,</a:t>
            </a:r>
            <a:r>
              <a:rPr dirty="0" baseline="2314" sz="1800" spc="24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</a:t>
            </a:r>
            <a:r>
              <a:rPr dirty="0" baseline="2314" sz="1800" i="1">
                <a:latin typeface="Times New Roman"/>
                <a:cs typeface="Times New Roman"/>
              </a:rPr>
              <a:t>x</a:t>
            </a:r>
            <a:r>
              <a:rPr dirty="0" baseline="2314" sz="1800" spc="-225" i="1">
                <a:latin typeface="Times New Roman"/>
                <a:cs typeface="Times New Roman"/>
              </a:rPr>
              <a:t> </a:t>
            </a:r>
            <a:r>
              <a:rPr dirty="0" baseline="2314" sz="1800" spc="-75">
                <a:latin typeface="Symbol"/>
                <a:cs typeface="Symbol"/>
              </a:rPr>
              <a:t></a:t>
            </a:r>
            <a:endParaRPr baseline="2314" sz="18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760"/>
              </a:spcBef>
            </a:pPr>
            <a:r>
              <a:rPr dirty="0" sz="1200">
                <a:latin typeface="Palatino Linotype"/>
                <a:cs typeface="Palatino Linotype"/>
              </a:rPr>
              <a:t>Mà: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P</a:t>
            </a:r>
            <a:r>
              <a:rPr dirty="0" sz="1200">
                <a:latin typeface="Palatino Linotype"/>
                <a:cs typeface="Palatino Linotype"/>
              </a:rPr>
              <a:t>(</a:t>
            </a:r>
            <a:r>
              <a:rPr dirty="0" sz="1200" i="1">
                <a:latin typeface="Palatino Linotype"/>
                <a:cs typeface="Palatino Linotype"/>
              </a:rPr>
              <a:t>x</a:t>
            </a:r>
            <a:r>
              <a:rPr dirty="0" sz="1200">
                <a:latin typeface="Palatino Linotype"/>
                <a:cs typeface="Palatino Linotype"/>
              </a:rPr>
              <a:t>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245">
                <a:latin typeface="Palatino Linotype"/>
                <a:cs typeface="Palatino Linotype"/>
              </a:rPr>
              <a:t> </a:t>
            </a:r>
            <a:r>
              <a:rPr dirty="0" sz="1150" spc="55" i="1">
                <a:latin typeface="Times New Roman"/>
                <a:cs typeface="Times New Roman"/>
              </a:rPr>
              <a:t>x</a:t>
            </a:r>
            <a:r>
              <a:rPr dirty="0" baseline="47008" sz="975" spc="82">
                <a:latin typeface="Times New Roman"/>
                <a:cs typeface="Times New Roman"/>
              </a:rPr>
              <a:t>4</a:t>
            </a:r>
            <a:r>
              <a:rPr dirty="0" baseline="47008" sz="975" spc="209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Symbol"/>
                <a:cs typeface="Symbol"/>
              </a:rPr>
              <a:t></a:t>
            </a:r>
            <a:r>
              <a:rPr dirty="0" sz="1150" spc="-12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Times New Roman"/>
                <a:cs typeface="Times New Roman"/>
              </a:rPr>
              <a:t>2</a:t>
            </a:r>
            <a:r>
              <a:rPr dirty="0" sz="1150" spc="60" i="1">
                <a:latin typeface="Times New Roman"/>
                <a:cs typeface="Times New Roman"/>
              </a:rPr>
              <a:t>x</a:t>
            </a:r>
            <a:r>
              <a:rPr dirty="0" baseline="47008" sz="975" spc="89">
                <a:latin typeface="Times New Roman"/>
                <a:cs typeface="Times New Roman"/>
              </a:rPr>
              <a:t>3</a:t>
            </a:r>
            <a:r>
              <a:rPr dirty="0" baseline="47008" sz="975" spc="172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Symbol"/>
                <a:cs typeface="Symbol"/>
              </a:rPr>
              <a:t></a:t>
            </a:r>
            <a:r>
              <a:rPr dirty="0" sz="1150" spc="-13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Times New Roman"/>
                <a:cs typeface="Times New Roman"/>
              </a:rPr>
              <a:t>3</a:t>
            </a:r>
            <a:r>
              <a:rPr dirty="0" sz="1150" spc="55" i="1">
                <a:latin typeface="Times New Roman"/>
                <a:cs typeface="Times New Roman"/>
              </a:rPr>
              <a:t>x</a:t>
            </a:r>
            <a:r>
              <a:rPr dirty="0" baseline="47008" sz="975" spc="82">
                <a:latin typeface="Times New Roman"/>
                <a:cs typeface="Times New Roman"/>
              </a:rPr>
              <a:t>2</a:t>
            </a:r>
            <a:r>
              <a:rPr dirty="0" baseline="47008" sz="975" spc="202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Symbol"/>
                <a:cs typeface="Symbol"/>
              </a:rPr>
              <a:t></a:t>
            </a:r>
            <a:r>
              <a:rPr dirty="0" sz="1150" spc="-10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ax</a:t>
            </a:r>
            <a:r>
              <a:rPr dirty="0" sz="1150" spc="-95" i="1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Symbol"/>
                <a:cs typeface="Symbol"/>
              </a:rPr>
              <a:t></a:t>
            </a:r>
            <a:r>
              <a:rPr dirty="0" sz="1150" spc="-13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trình:</a:t>
            </a:r>
            <a:endParaRPr sz="1200">
              <a:latin typeface="Palatino Linotype"/>
              <a:cs typeface="Palatino Linotype"/>
            </a:endParaRPr>
          </a:p>
          <a:p>
            <a:pPr marL="6096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Symbol"/>
                <a:cs typeface="Symbol"/>
              </a:rPr>
              <a:t></a:t>
            </a:r>
            <a:r>
              <a:rPr dirty="0" baseline="4629" sz="1800">
                <a:latin typeface="Times New Roman"/>
                <a:cs typeface="Times New Roman"/>
              </a:rPr>
              <a:t>2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5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Symbol"/>
                <a:cs typeface="Symbol"/>
              </a:rPr>
              <a:t></a:t>
            </a:r>
            <a:r>
              <a:rPr dirty="0" baseline="4629" sz="1800" spc="-37">
                <a:latin typeface="Times New Roman"/>
                <a:cs typeface="Times New Roman"/>
              </a:rPr>
              <a:t>2</a:t>
            </a:r>
            <a:endParaRPr baseline="4629" sz="18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70830" y="6217673"/>
            <a:ext cx="10160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47987" y="6308122"/>
            <a:ext cx="69342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42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i="1">
                <a:latin typeface="Times New Roman"/>
                <a:cs typeface="Times New Roman"/>
              </a:rPr>
              <a:t>d</a:t>
            </a:r>
            <a:r>
              <a:rPr dirty="0" sz="1200" spc="9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216810" y="6054369"/>
            <a:ext cx="537845" cy="46482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dirty="0" sz="1200">
                <a:latin typeface="Symbol"/>
                <a:cs typeface="Symbol"/>
              </a:rPr>
              <a:t>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30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Symbol"/>
                <a:cs typeface="Symbol"/>
              </a:rPr>
              <a:t></a:t>
            </a:r>
            <a:r>
              <a:rPr dirty="0" baseline="4629" sz="1800" spc="-37">
                <a:latin typeface="Times New Roman"/>
                <a:cs typeface="Times New Roman"/>
              </a:rPr>
              <a:t>1</a:t>
            </a:r>
            <a:endParaRPr baseline="4629" sz="1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dirty="0" baseline="25462" sz="1800">
                <a:latin typeface="Symbol"/>
                <a:cs typeface="Symbol"/>
              </a:rPr>
              <a:t></a:t>
            </a:r>
            <a:r>
              <a:rPr dirty="0" sz="1200" i="1">
                <a:latin typeface="Times New Roman"/>
                <a:cs typeface="Times New Roman"/>
              </a:rPr>
              <a:t>d</a:t>
            </a:r>
            <a:r>
              <a:rPr dirty="0" sz="1200" spc="11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70830" y="6332283"/>
            <a:ext cx="10160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019145" y="6332283"/>
            <a:ext cx="35052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32407" sz="1800">
                <a:latin typeface="Symbol"/>
                <a:cs typeface="Symbol"/>
              </a:rPr>
              <a:t></a:t>
            </a:r>
            <a:r>
              <a:rPr dirty="0" baseline="-32407" sz="18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45430" y="6539803"/>
            <a:ext cx="62103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32407" sz="1800">
                <a:latin typeface="Symbol"/>
                <a:cs typeface="Symbol"/>
              </a:rPr>
              <a:t>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i="1">
                <a:latin typeface="Times New Roman"/>
                <a:cs typeface="Times New Roman"/>
              </a:rPr>
              <a:t>cd</a:t>
            </a:r>
            <a:r>
              <a:rPr dirty="0" sz="1200" spc="9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0" i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217102" y="6539803"/>
            <a:ext cx="549910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32407" sz="1800">
                <a:latin typeface="Symbol"/>
                <a:cs typeface="Symbol"/>
              </a:rPr>
              <a:t>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1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216810" y="6596175"/>
            <a:ext cx="442595" cy="3867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410"/>
              </a:lnSpc>
              <a:spcBef>
                <a:spcPts val="114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  <a:p>
            <a:pPr marL="38100">
              <a:lnSpc>
                <a:spcPts val="1410"/>
              </a:lnSpc>
            </a:pPr>
            <a:r>
              <a:rPr dirty="0" baseline="-13888" sz="1800" spc="-307">
                <a:latin typeface="Symbol"/>
                <a:cs typeface="Symbol"/>
              </a:rPr>
              <a:t></a:t>
            </a:r>
            <a:r>
              <a:rPr dirty="0" baseline="9259" sz="1800" spc="-307">
                <a:latin typeface="Symbol"/>
                <a:cs typeface="Symbol"/>
              </a:rPr>
              <a:t></a:t>
            </a:r>
            <a:r>
              <a:rPr dirty="0" sz="1200" spc="-204" i="1">
                <a:latin typeface="Times New Roman"/>
                <a:cs typeface="Times New Roman"/>
              </a:rPr>
              <a:t>b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45430" y="6596175"/>
            <a:ext cx="538480" cy="4051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6203" sz="1800" spc="-284">
                <a:latin typeface="Symbol"/>
                <a:cs typeface="Symbol"/>
              </a:rPr>
              <a:t></a:t>
            </a:r>
            <a:r>
              <a:rPr dirty="0" baseline="-13888" sz="1800" spc="-284">
                <a:latin typeface="Symbol"/>
                <a:cs typeface="Symbol"/>
              </a:rPr>
              <a:t></a:t>
            </a:r>
            <a:r>
              <a:rPr dirty="0" sz="1200" spc="-190" i="1">
                <a:latin typeface="Times New Roman"/>
                <a:cs typeface="Times New Roman"/>
              </a:rPr>
              <a:t>d</a:t>
            </a:r>
            <a:r>
              <a:rPr dirty="0" sz="1200" spc="-145" i="1">
                <a:latin typeface="Times New Roman"/>
                <a:cs typeface="Times New Roman"/>
              </a:rPr>
              <a:t> 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33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50" i="1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06627" y="6984937"/>
            <a:ext cx="1694814" cy="55943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553720">
              <a:lnSpc>
                <a:spcPct val="100000"/>
              </a:lnSpc>
              <a:spcBef>
                <a:spcPts val="760"/>
              </a:spcBef>
            </a:pPr>
            <a:r>
              <a:rPr dirty="0" sz="1200" spc="-10">
                <a:latin typeface="Palatino Linotype"/>
                <a:cs typeface="Palatino Linotype"/>
              </a:rPr>
              <a:t>Vậy: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a</a:t>
            </a:r>
            <a:r>
              <a:rPr dirty="0" sz="1150" spc="50" i="1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sz="1150">
                <a:latin typeface="Times New Roman"/>
                <a:cs typeface="Times New Roman"/>
              </a:rPr>
              <a:t>2,</a:t>
            </a:r>
            <a:r>
              <a:rPr dirty="0" sz="1150" i="1">
                <a:latin typeface="Times New Roman"/>
                <a:cs typeface="Times New Roman"/>
              </a:rPr>
              <a:t>b</a:t>
            </a:r>
            <a:r>
              <a:rPr dirty="0" sz="1150" spc="25" i="1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1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3.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3286811" y="7810641"/>
            <a:ext cx="83820" cy="0"/>
          </a:xfrm>
          <a:custGeom>
            <a:avLst/>
            <a:gdLst/>
            <a:ahLst/>
            <a:cxnLst/>
            <a:rect l="l" t="t" r="r" b="b"/>
            <a:pathLst>
              <a:path w="83820" h="0">
                <a:moveTo>
                  <a:pt x="0" y="0"/>
                </a:moveTo>
                <a:lnTo>
                  <a:pt x="83259" y="0"/>
                </a:lnTo>
              </a:path>
            </a:pathLst>
          </a:custGeom>
          <a:ln w="66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3283330" y="7802807"/>
            <a:ext cx="9715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830869" y="7624005"/>
            <a:ext cx="18097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latin typeface="Times New Roman"/>
                <a:cs typeface="Times New Roman"/>
              </a:rPr>
              <a:t>P</a:t>
            </a:r>
            <a:r>
              <a:rPr dirty="0" sz="1100" spc="-170" i="1">
                <a:latin typeface="Times New Roman"/>
                <a:cs typeface="Times New Roman"/>
              </a:rPr>
              <a:t> </a:t>
            </a:r>
            <a:r>
              <a:rPr dirty="0" baseline="-3831" sz="2175" spc="-75">
                <a:latin typeface="Symbol"/>
                <a:cs typeface="Symbol"/>
              </a:rPr>
              <a:t></a:t>
            </a:r>
            <a:r>
              <a:rPr dirty="0" sz="1100" spc="-50">
                <a:latin typeface="Times New Roman"/>
                <a:cs typeface="Times New Roman"/>
              </a:rPr>
              <a:t>0</a:t>
            </a:r>
            <a:r>
              <a:rPr dirty="0" baseline="-3831" sz="2175" spc="-75">
                <a:latin typeface="Symbol"/>
                <a:cs typeface="Symbol"/>
              </a:rPr>
              <a:t></a:t>
            </a:r>
            <a:r>
              <a:rPr dirty="0" baseline="-3831" sz="2175" spc="-179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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baseline="35353" sz="1650">
                <a:latin typeface="Times New Roman"/>
                <a:cs typeface="Times New Roman"/>
              </a:rPr>
              <a:t>1</a:t>
            </a:r>
            <a:r>
              <a:rPr dirty="0" baseline="35353" sz="1650" spc="-127">
                <a:latin typeface="Times New Roman"/>
                <a:cs typeface="Times New Roman"/>
              </a:rPr>
              <a:t> </a:t>
            </a:r>
            <a:r>
              <a:rPr dirty="0" baseline="-3367" sz="2475" spc="-60">
                <a:latin typeface="Symbol"/>
                <a:cs typeface="Symbol"/>
              </a:rPr>
              <a:t></a:t>
            </a:r>
            <a:r>
              <a:rPr dirty="0" sz="1100" spc="-40" i="1">
                <a:latin typeface="Times New Roman"/>
                <a:cs typeface="Times New Roman"/>
              </a:rPr>
              <a:t>Q</a:t>
            </a:r>
            <a:r>
              <a:rPr dirty="0" baseline="-3831" sz="2175" spc="-60">
                <a:latin typeface="Symbol"/>
                <a:cs typeface="Symbol"/>
              </a:rPr>
              <a:t></a:t>
            </a:r>
            <a:r>
              <a:rPr dirty="0" sz="1100" spc="-40">
                <a:latin typeface="Times New Roman"/>
                <a:cs typeface="Times New Roman"/>
              </a:rPr>
              <a:t>0</a:t>
            </a:r>
            <a:r>
              <a:rPr dirty="0" baseline="-3831" sz="2175" spc="-60">
                <a:latin typeface="Symbol"/>
                <a:cs typeface="Symbol"/>
              </a:rPr>
              <a:t></a:t>
            </a:r>
            <a:r>
              <a:rPr dirty="0" baseline="-3831" sz="2175" spc="-247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</a:t>
            </a:r>
            <a:r>
              <a:rPr dirty="0" sz="1100" spc="-90">
                <a:latin typeface="Times New Roman"/>
                <a:cs typeface="Times New Roman"/>
              </a:rPr>
              <a:t> </a:t>
            </a:r>
            <a:r>
              <a:rPr dirty="0" sz="1100" spc="-80" i="1">
                <a:latin typeface="Times New Roman"/>
                <a:cs typeface="Times New Roman"/>
              </a:rPr>
              <a:t>Q</a:t>
            </a:r>
            <a:r>
              <a:rPr dirty="0" baseline="-3831" sz="2175" spc="-120">
                <a:latin typeface="Symbol"/>
                <a:cs typeface="Symbol"/>
              </a:rPr>
              <a:t></a:t>
            </a:r>
            <a:r>
              <a:rPr dirty="0" sz="1100" spc="-80">
                <a:latin typeface="Times New Roman"/>
                <a:cs typeface="Times New Roman"/>
              </a:rPr>
              <a:t>1</a:t>
            </a:r>
            <a:r>
              <a:rPr dirty="0" baseline="-3831" sz="2175" spc="-120">
                <a:latin typeface="Symbol"/>
                <a:cs typeface="Symbol"/>
              </a:rPr>
              <a:t></a:t>
            </a:r>
            <a:r>
              <a:rPr dirty="0" baseline="-3367" sz="2475" spc="-120">
                <a:latin typeface="Symbol"/>
                <a:cs typeface="Symbol"/>
              </a:rPr>
              <a:t></a:t>
            </a:r>
            <a:r>
              <a:rPr dirty="0" baseline="-3367" sz="2475" spc="-254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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baseline="-3831" sz="2175" spc="-37">
                <a:latin typeface="Symbol"/>
                <a:cs typeface="Symbol"/>
              </a:rPr>
              <a:t></a:t>
            </a:r>
            <a:r>
              <a:rPr dirty="0" sz="1100" spc="-25">
                <a:latin typeface="Times New Roman"/>
                <a:cs typeface="Times New Roman"/>
              </a:rPr>
              <a:t>1</a:t>
            </a:r>
            <a:r>
              <a:rPr dirty="0" baseline="-3831" sz="2175" spc="-37">
                <a:latin typeface="Symbol"/>
                <a:cs typeface="Symbol"/>
              </a:rPr>
              <a:t></a:t>
            </a:r>
            <a:endParaRPr baseline="-3831" sz="2175">
              <a:latin typeface="Symbol"/>
              <a:cs typeface="Symbo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5406449" y="7810641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 h="0">
                <a:moveTo>
                  <a:pt x="0" y="0"/>
                </a:moveTo>
                <a:lnTo>
                  <a:pt x="83156" y="0"/>
                </a:lnTo>
              </a:path>
            </a:pathLst>
          </a:custGeom>
          <a:ln w="66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5402654" y="7802807"/>
            <a:ext cx="97155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974341" y="7624005"/>
            <a:ext cx="171831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57325" algn="l"/>
              </a:tabLst>
            </a:pPr>
            <a:r>
              <a:rPr dirty="0" sz="1100" i="1">
                <a:latin typeface="Times New Roman"/>
                <a:cs typeface="Times New Roman"/>
              </a:rPr>
              <a:t>P</a:t>
            </a:r>
            <a:r>
              <a:rPr dirty="0" sz="1100" spc="-165" i="1">
                <a:latin typeface="Times New Roman"/>
                <a:cs typeface="Times New Roman"/>
              </a:rPr>
              <a:t> </a:t>
            </a:r>
            <a:r>
              <a:rPr dirty="0" baseline="-3831" sz="2175" spc="-172">
                <a:latin typeface="Symbol"/>
                <a:cs typeface="Symbol"/>
              </a:rPr>
              <a:t></a:t>
            </a:r>
            <a:r>
              <a:rPr dirty="0" sz="1100" spc="-114">
                <a:latin typeface="Times New Roman"/>
                <a:cs typeface="Times New Roman"/>
              </a:rPr>
              <a:t>1</a:t>
            </a:r>
            <a:r>
              <a:rPr dirty="0" baseline="-3831" sz="2175" spc="-172">
                <a:latin typeface="Symbol"/>
                <a:cs typeface="Symbol"/>
              </a:rPr>
              <a:t></a:t>
            </a:r>
            <a:r>
              <a:rPr dirty="0" baseline="-3831" sz="2175" spc="-172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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baseline="35353" sz="1650">
                <a:latin typeface="Times New Roman"/>
                <a:cs typeface="Times New Roman"/>
              </a:rPr>
              <a:t>1</a:t>
            </a:r>
            <a:r>
              <a:rPr dirty="0" baseline="35353" sz="1650" spc="-120">
                <a:latin typeface="Times New Roman"/>
                <a:cs typeface="Times New Roman"/>
              </a:rPr>
              <a:t> </a:t>
            </a:r>
            <a:r>
              <a:rPr dirty="0" baseline="-3367" sz="2475" spc="-120">
                <a:latin typeface="Symbol"/>
                <a:cs typeface="Symbol"/>
              </a:rPr>
              <a:t></a:t>
            </a:r>
            <a:r>
              <a:rPr dirty="0" sz="1100" spc="-80" i="1">
                <a:latin typeface="Times New Roman"/>
                <a:cs typeface="Times New Roman"/>
              </a:rPr>
              <a:t>Q</a:t>
            </a:r>
            <a:r>
              <a:rPr dirty="0" baseline="-3831" sz="2175" spc="-120">
                <a:latin typeface="Symbol"/>
                <a:cs typeface="Symbol"/>
              </a:rPr>
              <a:t></a:t>
            </a:r>
            <a:r>
              <a:rPr dirty="0" sz="1100" spc="-80">
                <a:latin typeface="Times New Roman"/>
                <a:cs typeface="Times New Roman"/>
              </a:rPr>
              <a:t>1</a:t>
            </a:r>
            <a:r>
              <a:rPr dirty="0" baseline="-3831" sz="2175" spc="-120">
                <a:latin typeface="Symbol"/>
                <a:cs typeface="Symbol"/>
              </a:rPr>
              <a:t></a:t>
            </a:r>
            <a:r>
              <a:rPr dirty="0" baseline="-3831" sz="2175" spc="-240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</a:t>
            </a:r>
            <a:r>
              <a:rPr dirty="0" sz="1100" spc="-80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Q</a:t>
            </a:r>
            <a:r>
              <a:rPr dirty="0" sz="1100" spc="-170" i="1">
                <a:latin typeface="Times New Roman"/>
                <a:cs typeface="Times New Roman"/>
              </a:rPr>
              <a:t> </a:t>
            </a:r>
            <a:r>
              <a:rPr dirty="0" baseline="-3831" sz="2175" spc="-30">
                <a:latin typeface="Symbol"/>
                <a:cs typeface="Symbol"/>
              </a:rPr>
              <a:t></a:t>
            </a:r>
            <a:r>
              <a:rPr dirty="0" sz="1100" spc="-20">
                <a:latin typeface="Times New Roman"/>
                <a:cs typeface="Times New Roman"/>
              </a:rPr>
              <a:t>0</a:t>
            </a:r>
            <a:r>
              <a:rPr dirty="0" baseline="-3831" sz="2175" spc="-30">
                <a:latin typeface="Symbol"/>
                <a:cs typeface="Symbol"/>
              </a:rPr>
              <a:t></a:t>
            </a:r>
            <a:r>
              <a:rPr dirty="0" baseline="-3367" sz="2475" spc="-30">
                <a:latin typeface="Symbol"/>
                <a:cs typeface="Symbol"/>
              </a:rPr>
              <a:t></a:t>
            </a:r>
            <a:r>
              <a:rPr dirty="0" baseline="-3367" sz="2475">
                <a:latin typeface="Times New Roman"/>
                <a:cs typeface="Times New Roman"/>
              </a:rPr>
              <a:t>	</a:t>
            </a:r>
            <a:r>
              <a:rPr dirty="0" baseline="-3831" sz="2175" spc="-30">
                <a:latin typeface="Symbol"/>
                <a:cs typeface="Symbol"/>
              </a:rPr>
              <a:t></a:t>
            </a:r>
            <a:r>
              <a:rPr dirty="0" sz="1100" spc="-20">
                <a:latin typeface="Times New Roman"/>
                <a:cs typeface="Times New Roman"/>
              </a:rPr>
              <a:t>2</a:t>
            </a:r>
            <a:r>
              <a:rPr dirty="0" baseline="-3831" sz="2175" spc="-30">
                <a:latin typeface="Symbol"/>
                <a:cs typeface="Symbol"/>
              </a:rPr>
              <a:t></a:t>
            </a:r>
            <a:r>
              <a:rPr dirty="0" sz="1100" spc="-2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868496" y="8299576"/>
            <a:ext cx="666750" cy="123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11505" algn="l"/>
              </a:tabLst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sz="650" spc="-50" i="1">
                <a:latin typeface="Times New Roman"/>
                <a:cs typeface="Times New Roman"/>
              </a:rPr>
              <a:t>n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156512" y="8269686"/>
            <a:ext cx="105981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314" sz="1800">
                <a:latin typeface="Palatino Linotype"/>
                <a:cs typeface="Palatino Linotype"/>
              </a:rPr>
              <a:t>Giả</a:t>
            </a:r>
            <a:r>
              <a:rPr dirty="0" baseline="2314" sz="1800" spc="24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sử</a:t>
            </a:r>
            <a:r>
              <a:rPr dirty="0" baseline="2314" sz="1800" spc="592">
                <a:latin typeface="Palatino Linotype"/>
                <a:cs typeface="Palatino Linotype"/>
              </a:rPr>
              <a:t> </a:t>
            </a:r>
            <a:r>
              <a:rPr dirty="0" baseline="5050" sz="1650" spc="-15" i="1">
                <a:latin typeface="Times New Roman"/>
                <a:cs typeface="Times New Roman"/>
              </a:rPr>
              <a:t>P</a:t>
            </a:r>
            <a:r>
              <a:rPr dirty="0" sz="1450" spc="-10">
                <a:latin typeface="Symbol"/>
                <a:cs typeface="Symbol"/>
              </a:rPr>
              <a:t></a:t>
            </a:r>
            <a:r>
              <a:rPr dirty="0" sz="1450" spc="-240">
                <a:latin typeface="Times New Roman"/>
                <a:cs typeface="Times New Roman"/>
              </a:rPr>
              <a:t> </a:t>
            </a:r>
            <a:r>
              <a:rPr dirty="0" baseline="5050" sz="1650" spc="-37" i="1">
                <a:latin typeface="Times New Roman"/>
                <a:cs typeface="Times New Roman"/>
              </a:rPr>
              <a:t>x</a:t>
            </a:r>
            <a:r>
              <a:rPr dirty="0" sz="1450" spc="-25">
                <a:latin typeface="Symbol"/>
                <a:cs typeface="Symbol"/>
              </a:rPr>
              <a:t></a:t>
            </a:r>
            <a:r>
              <a:rPr dirty="0" sz="1450" spc="-150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97">
                <a:latin typeface="Times New Roman"/>
                <a:cs typeface="Times New Roman"/>
              </a:rPr>
              <a:t> </a:t>
            </a:r>
            <a:r>
              <a:rPr dirty="0" baseline="5050" sz="1650" spc="-75" i="1">
                <a:latin typeface="Times New Roman"/>
                <a:cs typeface="Times New Roman"/>
              </a:rPr>
              <a:t>a</a:t>
            </a:r>
            <a:endParaRPr baseline="5050" sz="16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186329" y="8397792"/>
            <a:ext cx="2924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715" algn="l"/>
                <a:tab pos="571500" algn="l"/>
                <a:tab pos="1169035" algn="l"/>
                <a:tab pos="2214245" algn="l"/>
                <a:tab pos="2868930" algn="l"/>
              </a:tabLst>
            </a:pPr>
            <a:r>
              <a:rPr dirty="0" sz="650" spc="-50">
                <a:latin typeface="Times New Roman"/>
                <a:cs typeface="Times New Roman"/>
              </a:rPr>
              <a:t>0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sz="650" spc="-50">
                <a:latin typeface="Times New Roman"/>
                <a:cs typeface="Times New Roman"/>
              </a:rPr>
              <a:t>1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sz="650" spc="-50">
                <a:latin typeface="Times New Roman"/>
                <a:cs typeface="Times New Roman"/>
              </a:rPr>
              <a:t>2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sz="650" spc="-50" i="1">
                <a:latin typeface="Times New Roman"/>
                <a:cs typeface="Times New Roman"/>
              </a:rPr>
              <a:t>n</a:t>
            </a:r>
            <a:r>
              <a:rPr dirty="0" sz="650" i="1">
                <a:latin typeface="Times New Roman"/>
                <a:cs typeface="Times New Roman"/>
              </a:rPr>
              <a:t>	</a:t>
            </a:r>
            <a:r>
              <a:rPr dirty="0" sz="650">
                <a:latin typeface="Times New Roman"/>
                <a:cs typeface="Times New Roman"/>
              </a:rPr>
              <a:t>0</a:t>
            </a:r>
            <a:r>
              <a:rPr dirty="0" sz="650" spc="320">
                <a:latin typeface="Times New Roman"/>
                <a:cs typeface="Times New Roman"/>
              </a:rPr>
              <a:t>  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335">
                <a:latin typeface="Times New Roman"/>
                <a:cs typeface="Times New Roman"/>
              </a:rPr>
              <a:t>  </a:t>
            </a:r>
            <a:r>
              <a:rPr dirty="0" sz="650" spc="-50">
                <a:latin typeface="Times New Roman"/>
                <a:cs typeface="Times New Roman"/>
              </a:rPr>
              <a:t>2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sz="650" spc="-50" i="1">
                <a:latin typeface="Times New Roman"/>
                <a:cs typeface="Times New Roman"/>
              </a:rPr>
              <a:t>n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267905" y="8294369"/>
            <a:ext cx="4582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Symbol"/>
                <a:cs typeface="Symbol"/>
              </a:rPr>
              <a:t></a:t>
            </a:r>
            <a:r>
              <a:rPr dirty="0" sz="1100" spc="-80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</a:t>
            </a:r>
            <a:r>
              <a:rPr dirty="0" sz="1100" spc="1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x</a:t>
            </a:r>
            <a:r>
              <a:rPr dirty="0" sz="1100" spc="-65" i="1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</a:t>
            </a:r>
            <a:r>
              <a:rPr dirty="0" sz="1100" spc="-80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</a:t>
            </a:r>
            <a:r>
              <a:rPr dirty="0" sz="1100" spc="13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x</a:t>
            </a:r>
            <a:r>
              <a:rPr dirty="0" sz="1100" spc="425" i="1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</a:t>
            </a:r>
            <a:r>
              <a:rPr dirty="0" sz="1100" spc="-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</a:t>
            </a:r>
            <a:r>
              <a:rPr dirty="0" sz="1100" spc="-145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</a:t>
            </a:r>
            <a:r>
              <a:rPr dirty="0" sz="1100" spc="-85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</a:t>
            </a:r>
            <a:r>
              <a:rPr dirty="0" sz="1100" spc="1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x</a:t>
            </a:r>
            <a:r>
              <a:rPr dirty="0" sz="1100" spc="360" i="1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365">
                <a:latin typeface="Palatino Linotype"/>
                <a:cs typeface="Palatino Linotype"/>
              </a:rPr>
              <a:t> </a:t>
            </a:r>
            <a:r>
              <a:rPr dirty="0" baseline="2525" sz="1650" i="1">
                <a:latin typeface="Times New Roman"/>
                <a:cs typeface="Times New Roman"/>
              </a:rPr>
              <a:t>a</a:t>
            </a:r>
            <a:r>
              <a:rPr dirty="0" baseline="2525" sz="1650" spc="202" i="1">
                <a:latin typeface="Times New Roman"/>
                <a:cs typeface="Times New Roman"/>
              </a:rPr>
              <a:t> </a:t>
            </a:r>
            <a:r>
              <a:rPr dirty="0" baseline="2525" sz="1650">
                <a:latin typeface="Times New Roman"/>
                <a:cs typeface="Times New Roman"/>
              </a:rPr>
              <a:t>,</a:t>
            </a:r>
            <a:r>
              <a:rPr dirty="0" baseline="2525" sz="1650" spc="-254">
                <a:latin typeface="Times New Roman"/>
                <a:cs typeface="Times New Roman"/>
              </a:rPr>
              <a:t> </a:t>
            </a:r>
            <a:r>
              <a:rPr dirty="0" baseline="2525" sz="1650" i="1">
                <a:latin typeface="Times New Roman"/>
                <a:cs typeface="Times New Roman"/>
              </a:rPr>
              <a:t>a</a:t>
            </a:r>
            <a:r>
              <a:rPr dirty="0" baseline="2525" sz="1650" spc="30" i="1">
                <a:latin typeface="Times New Roman"/>
                <a:cs typeface="Times New Roman"/>
              </a:rPr>
              <a:t> </a:t>
            </a:r>
            <a:r>
              <a:rPr dirty="0" baseline="2525" sz="1650">
                <a:latin typeface="Times New Roman"/>
                <a:cs typeface="Times New Roman"/>
              </a:rPr>
              <a:t>,</a:t>
            </a:r>
            <a:r>
              <a:rPr dirty="0" baseline="2525" sz="1650" spc="-247">
                <a:latin typeface="Times New Roman"/>
                <a:cs typeface="Times New Roman"/>
              </a:rPr>
              <a:t> </a:t>
            </a:r>
            <a:r>
              <a:rPr dirty="0" baseline="2525" sz="1650" i="1">
                <a:latin typeface="Times New Roman"/>
                <a:cs typeface="Times New Roman"/>
              </a:rPr>
              <a:t>a</a:t>
            </a:r>
            <a:r>
              <a:rPr dirty="0" baseline="2525" sz="1650" spc="202" i="1">
                <a:latin typeface="Times New Roman"/>
                <a:cs typeface="Times New Roman"/>
              </a:rPr>
              <a:t> </a:t>
            </a:r>
            <a:r>
              <a:rPr dirty="0" baseline="2525" sz="1650">
                <a:latin typeface="Times New Roman"/>
                <a:cs typeface="Times New Roman"/>
              </a:rPr>
              <a:t>,...,</a:t>
            </a:r>
            <a:r>
              <a:rPr dirty="0" baseline="2525" sz="1650" spc="-247">
                <a:latin typeface="Times New Roman"/>
                <a:cs typeface="Times New Roman"/>
              </a:rPr>
              <a:t> </a:t>
            </a:r>
            <a:r>
              <a:rPr dirty="0" baseline="2525" sz="1650" i="1">
                <a:latin typeface="Times New Roman"/>
                <a:cs typeface="Times New Roman"/>
              </a:rPr>
              <a:t>a</a:t>
            </a:r>
            <a:r>
              <a:rPr dirty="0" baseline="2525" sz="1650" spc="345" i="1">
                <a:latin typeface="Times New Roman"/>
                <a:cs typeface="Times New Roman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không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6343" y="9055736"/>
            <a:ext cx="124132" cy="230503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1156512" y="9291452"/>
            <a:ext cx="109791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314" sz="1800">
                <a:latin typeface="Palatino Linotype"/>
                <a:cs typeface="Palatino Linotype"/>
              </a:rPr>
              <a:t>Vì</a:t>
            </a:r>
            <a:r>
              <a:rPr dirty="0" baseline="2314" sz="1800" spc="375">
                <a:latin typeface="Palatino Linotype"/>
                <a:cs typeface="Palatino Linotype"/>
              </a:rPr>
              <a:t> </a:t>
            </a:r>
            <a:r>
              <a:rPr dirty="0" baseline="5050" sz="1650" spc="-15" i="1">
                <a:latin typeface="Times New Roman"/>
                <a:cs typeface="Times New Roman"/>
              </a:rPr>
              <a:t>P</a:t>
            </a:r>
            <a:r>
              <a:rPr dirty="0" sz="1450" spc="-10">
                <a:latin typeface="Symbol"/>
                <a:cs typeface="Symbol"/>
              </a:rPr>
              <a:t></a:t>
            </a:r>
            <a:r>
              <a:rPr dirty="0" sz="1450" spc="-235">
                <a:latin typeface="Times New Roman"/>
                <a:cs typeface="Times New Roman"/>
              </a:rPr>
              <a:t> </a:t>
            </a:r>
            <a:r>
              <a:rPr dirty="0" baseline="5050" sz="1650" spc="-37" i="1">
                <a:latin typeface="Times New Roman"/>
                <a:cs typeface="Times New Roman"/>
              </a:rPr>
              <a:t>x</a:t>
            </a:r>
            <a:r>
              <a:rPr dirty="0" sz="1450" spc="-25">
                <a:latin typeface="Symbol"/>
                <a:cs typeface="Symbol"/>
              </a:rPr>
              <a:t></a:t>
            </a:r>
            <a:r>
              <a:rPr dirty="0" sz="1450" spc="-135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Symbol"/>
                <a:cs typeface="Symbol"/>
              </a:rPr>
              <a:t></a:t>
            </a:r>
            <a:r>
              <a:rPr dirty="0" baseline="5050" sz="1650" spc="-104">
                <a:latin typeface="Times New Roman"/>
                <a:cs typeface="Times New Roman"/>
              </a:rPr>
              <a:t> </a:t>
            </a:r>
            <a:r>
              <a:rPr dirty="0" baseline="5050" sz="1650">
                <a:latin typeface="Times New Roman"/>
                <a:cs typeface="Times New Roman"/>
              </a:rPr>
              <a:t>0</a:t>
            </a:r>
            <a:r>
              <a:rPr dirty="0" baseline="5050" sz="1650" spc="562">
                <a:latin typeface="Times New Roman"/>
                <a:cs typeface="Times New Roman"/>
              </a:rPr>
              <a:t> </a:t>
            </a:r>
            <a:r>
              <a:rPr dirty="0" baseline="5050" sz="1650" spc="-15">
                <a:latin typeface="Symbol"/>
                <a:cs typeface="Symbol"/>
              </a:rPr>
              <a:t></a:t>
            </a:r>
            <a:r>
              <a:rPr dirty="0" baseline="5050" sz="1650" spc="-15" i="1">
                <a:latin typeface="Times New Roman"/>
                <a:cs typeface="Times New Roman"/>
              </a:rPr>
              <a:t>x</a:t>
            </a:r>
            <a:r>
              <a:rPr dirty="0" baseline="5050" sz="1650" spc="-232" i="1">
                <a:latin typeface="Times New Roman"/>
                <a:cs typeface="Times New Roman"/>
              </a:rPr>
              <a:t> </a:t>
            </a:r>
            <a:r>
              <a:rPr dirty="0" baseline="5050" sz="1650" spc="-75">
                <a:latin typeface="Symbol"/>
                <a:cs typeface="Symbol"/>
              </a:rPr>
              <a:t></a:t>
            </a:r>
            <a:endParaRPr baseline="5050" sz="1650">
              <a:latin typeface="Symbol"/>
              <a:cs typeface="Symbol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3873" y="9325154"/>
            <a:ext cx="558130" cy="230503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2370233" y="9267956"/>
            <a:ext cx="413321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latin typeface="Symbol"/>
                <a:cs typeface="Symbol"/>
              </a:rPr>
              <a:t>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P</a:t>
            </a:r>
            <a:r>
              <a:rPr dirty="0" baseline="-1915" sz="2175">
                <a:latin typeface="Symbol"/>
                <a:cs typeface="Symbol"/>
              </a:rPr>
              <a:t></a:t>
            </a:r>
            <a:r>
              <a:rPr dirty="0" sz="1100">
                <a:latin typeface="Times New Roman"/>
                <a:cs typeface="Times New Roman"/>
              </a:rPr>
              <a:t>2</a:t>
            </a:r>
            <a:r>
              <a:rPr dirty="0" baseline="-1915" sz="2175">
                <a:latin typeface="Symbol"/>
                <a:cs typeface="Symbol"/>
              </a:rPr>
              <a:t></a:t>
            </a:r>
            <a:r>
              <a:rPr dirty="0" baseline="-1915" sz="2175" spc="-195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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25" i="1">
                <a:latin typeface="Times New Roman"/>
                <a:cs typeface="Times New Roman"/>
              </a:rPr>
              <a:t>P</a:t>
            </a:r>
            <a:r>
              <a:rPr dirty="0" baseline="-1915" sz="2175" spc="-37">
                <a:latin typeface="Symbol"/>
                <a:cs typeface="Symbol"/>
              </a:rPr>
              <a:t></a:t>
            </a:r>
            <a:r>
              <a:rPr dirty="0" sz="1100" spc="-25">
                <a:latin typeface="Times New Roman"/>
                <a:cs typeface="Times New Roman"/>
              </a:rPr>
              <a:t>3</a:t>
            </a:r>
            <a:r>
              <a:rPr dirty="0" baseline="-1915" sz="2175" spc="-37">
                <a:latin typeface="Symbol"/>
                <a:cs typeface="Symbol"/>
              </a:rPr>
              <a:t></a:t>
            </a:r>
            <a:r>
              <a:rPr dirty="0" baseline="-1915" sz="2175" spc="-187">
                <a:latin typeface="Times New Roman"/>
                <a:cs typeface="Times New Roman"/>
              </a:rPr>
              <a:t> </a:t>
            </a:r>
            <a:r>
              <a:rPr dirty="0" sz="1100">
                <a:latin typeface="Symbol"/>
                <a:cs typeface="Symbol"/>
              </a:rPr>
              <a:t>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</a:t>
            </a:r>
            <a:r>
              <a:rPr dirty="0" sz="1100" spc="3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229">
                <a:latin typeface="Palatino Linotype"/>
                <a:cs typeface="Palatino Linotype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baseline="-3968" sz="2100">
                <a:latin typeface="Symbol"/>
                <a:cs typeface="Symbol"/>
              </a:rPr>
              <a:t></a:t>
            </a:r>
            <a:r>
              <a:rPr dirty="0" sz="1050">
                <a:latin typeface="Times New Roman"/>
                <a:cs typeface="Times New Roman"/>
              </a:rPr>
              <a:t>3</a:t>
            </a:r>
            <a:r>
              <a:rPr dirty="0" baseline="-3968" sz="2100">
                <a:latin typeface="Symbol"/>
                <a:cs typeface="Symbol"/>
              </a:rPr>
              <a:t></a:t>
            </a:r>
            <a:r>
              <a:rPr dirty="0" baseline="-3968" sz="2100" spc="-225">
                <a:latin typeface="Times New Roman"/>
                <a:cs typeface="Times New Roman"/>
              </a:rPr>
              <a:t> </a:t>
            </a:r>
            <a:r>
              <a:rPr dirty="0" sz="1050" spc="55">
                <a:latin typeface="Symbol"/>
                <a:cs typeface="Symbol"/>
              </a:rPr>
              <a:t>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baseline="-3968" sz="2100">
                <a:latin typeface="Symbol"/>
                <a:cs typeface="Symbol"/>
              </a:rPr>
              <a:t>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baseline="-3968" sz="2100">
                <a:latin typeface="Symbol"/>
                <a:cs typeface="Symbol"/>
              </a:rPr>
              <a:t></a:t>
            </a:r>
            <a:r>
              <a:rPr dirty="0" baseline="-3968" sz="2100" spc="-157">
                <a:latin typeface="Times New Roman"/>
                <a:cs typeface="Times New Roman"/>
              </a:rPr>
              <a:t> </a:t>
            </a:r>
            <a:r>
              <a:rPr dirty="0" sz="1050" spc="55">
                <a:latin typeface="Symbol"/>
                <a:cs typeface="Symbol"/>
              </a:rPr>
              <a:t>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</a:t>
            </a:r>
            <a:r>
              <a:rPr dirty="0" sz="1050" spc="-65">
                <a:latin typeface="Times New Roman"/>
                <a:cs typeface="Times New Roman"/>
              </a:rPr>
              <a:t> </a:t>
            </a:r>
            <a:r>
              <a:rPr dirty="0" sz="1050" spc="90">
                <a:latin typeface="Symbol"/>
                <a:cs typeface="Symbol"/>
              </a:rPr>
              <a:t>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baseline="-3584" sz="2325">
                <a:latin typeface="Symbol"/>
                <a:cs typeface="Symbol"/>
              </a:rPr>
              <a:t></a:t>
            </a:r>
            <a:r>
              <a:rPr dirty="0" sz="1050">
                <a:latin typeface="Times New Roman"/>
                <a:cs typeface="Times New Roman"/>
              </a:rPr>
              <a:t>3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baseline="-3968" sz="2100">
                <a:latin typeface="Symbol"/>
                <a:cs typeface="Symbol"/>
              </a:rPr>
              <a:t></a:t>
            </a:r>
            <a:r>
              <a:rPr dirty="0" sz="1050">
                <a:latin typeface="Times New Roman"/>
                <a:cs typeface="Times New Roman"/>
              </a:rPr>
              <a:t>3</a:t>
            </a:r>
            <a:r>
              <a:rPr dirty="0" baseline="-3968" sz="2100">
                <a:latin typeface="Symbol"/>
                <a:cs typeface="Symbol"/>
              </a:rPr>
              <a:t></a:t>
            </a:r>
            <a:r>
              <a:rPr dirty="0" baseline="-3968" sz="2100" spc="-225">
                <a:latin typeface="Times New Roman"/>
                <a:cs typeface="Times New Roman"/>
              </a:rPr>
              <a:t> </a:t>
            </a:r>
            <a:r>
              <a:rPr dirty="0" sz="1050" spc="55">
                <a:latin typeface="Symbol"/>
                <a:cs typeface="Symbol"/>
              </a:rPr>
              <a:t>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baseline="-3968" sz="2100">
                <a:latin typeface="Symbol"/>
                <a:cs typeface="Symbol"/>
              </a:rPr>
              <a:t>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baseline="-3968" sz="2100">
                <a:latin typeface="Symbol"/>
                <a:cs typeface="Symbol"/>
              </a:rPr>
              <a:t></a:t>
            </a:r>
            <a:r>
              <a:rPr dirty="0" baseline="-3584" sz="2325">
                <a:latin typeface="Symbol"/>
                <a:cs typeface="Symbol"/>
              </a:rPr>
              <a:t></a:t>
            </a:r>
            <a:r>
              <a:rPr dirty="0" baseline="-3584" sz="2325" spc="-225">
                <a:latin typeface="Times New Roman"/>
                <a:cs typeface="Times New Roman"/>
              </a:rPr>
              <a:t> </a:t>
            </a:r>
            <a:r>
              <a:rPr dirty="0" sz="1050" spc="55">
                <a:latin typeface="Symbol"/>
                <a:cs typeface="Symbol"/>
              </a:rPr>
              <a:t>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0.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1227" y="659606"/>
            <a:ext cx="5638165" cy="152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1780"/>
              </a:lnSpc>
              <a:spcBef>
                <a:spcPts val="12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 4.</a:t>
            </a:r>
            <a:r>
              <a:rPr dirty="0" sz="1200" spc="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Gọi</a:t>
            </a:r>
            <a:r>
              <a:rPr dirty="0" sz="1200" spc="200">
                <a:latin typeface="Palatino Linotype"/>
                <a:cs typeface="Palatino Linotype"/>
              </a:rPr>
              <a:t> </a:t>
            </a:r>
            <a:r>
              <a:rPr dirty="0" baseline="2415" sz="1725">
                <a:latin typeface="Palatino Linotype"/>
                <a:cs typeface="Palatino Linotype"/>
              </a:rPr>
              <a:t>x</a:t>
            </a:r>
            <a:r>
              <a:rPr dirty="0" baseline="-25641" sz="975">
                <a:latin typeface="Palatino Linotype"/>
                <a:cs typeface="Palatino Linotype"/>
              </a:rPr>
              <a:t>1</a:t>
            </a:r>
            <a:r>
              <a:rPr dirty="0" baseline="-25641" sz="975" spc="-104">
                <a:latin typeface="Palatino Linotype"/>
                <a:cs typeface="Palatino Linotype"/>
              </a:rPr>
              <a:t> </a:t>
            </a:r>
            <a:r>
              <a:rPr dirty="0" baseline="2415" sz="1725">
                <a:latin typeface="Palatino Linotype"/>
                <a:cs typeface="Palatino Linotype"/>
              </a:rPr>
              <a:t>;</a:t>
            </a:r>
            <a:r>
              <a:rPr dirty="0" baseline="2415" sz="1725" spc="-187">
                <a:latin typeface="Palatino Linotype"/>
                <a:cs typeface="Palatino Linotype"/>
              </a:rPr>
              <a:t> </a:t>
            </a:r>
            <a:r>
              <a:rPr dirty="0" baseline="2415" sz="1725">
                <a:latin typeface="Palatino Linotype"/>
                <a:cs typeface="Palatino Linotype"/>
              </a:rPr>
              <a:t>x</a:t>
            </a:r>
            <a:r>
              <a:rPr dirty="0" baseline="-25641" sz="975">
                <a:latin typeface="Palatino Linotype"/>
                <a:cs typeface="Palatino Linotype"/>
              </a:rPr>
              <a:t>2</a:t>
            </a:r>
            <a:r>
              <a:rPr dirty="0" baseline="-25641" sz="975" spc="-37">
                <a:latin typeface="Palatino Linotype"/>
                <a:cs typeface="Palatino Linotype"/>
              </a:rPr>
              <a:t> </a:t>
            </a:r>
            <a:r>
              <a:rPr dirty="0" baseline="2415" sz="1725">
                <a:latin typeface="Palatino Linotype"/>
                <a:cs typeface="Palatino Linotype"/>
              </a:rPr>
              <a:t>;</a:t>
            </a:r>
            <a:r>
              <a:rPr dirty="0" baseline="2415" sz="1725" spc="-187">
                <a:latin typeface="Palatino Linotype"/>
                <a:cs typeface="Palatino Linotype"/>
              </a:rPr>
              <a:t> </a:t>
            </a:r>
            <a:r>
              <a:rPr dirty="0" baseline="2415" sz="1725" spc="75">
                <a:latin typeface="Palatino Linotype"/>
                <a:cs typeface="Palatino Linotype"/>
              </a:rPr>
              <a:t>x</a:t>
            </a:r>
            <a:r>
              <a:rPr dirty="0" baseline="-25641" sz="975" spc="75">
                <a:latin typeface="Palatino Linotype"/>
                <a:cs typeface="Palatino Linotype"/>
              </a:rPr>
              <a:t>3</a:t>
            </a:r>
            <a:r>
              <a:rPr dirty="0" baseline="-25641" sz="975" spc="50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19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52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P</a:t>
            </a:r>
            <a:r>
              <a:rPr dirty="0" baseline="-3174" sz="2625" spc="-30">
                <a:latin typeface="Symbol"/>
                <a:cs typeface="Symbol"/>
              </a:rPr>
              <a:t></a:t>
            </a:r>
            <a:r>
              <a:rPr dirty="0" sz="1200" spc="-20">
                <a:latin typeface="Palatino Linotype"/>
                <a:cs typeface="Palatino Linotype"/>
              </a:rPr>
              <a:t>x</a:t>
            </a:r>
            <a:r>
              <a:rPr dirty="0" baseline="-3174" sz="2625" spc="-30">
                <a:latin typeface="Symbol"/>
                <a:cs typeface="Symbol"/>
              </a:rPr>
              <a:t></a:t>
            </a:r>
            <a:r>
              <a:rPr dirty="0" baseline="-3174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baseline="-3174" sz="2625" spc="-60">
                <a:latin typeface="Symbol"/>
                <a:cs typeface="Symbol"/>
              </a:rPr>
              <a:t></a:t>
            </a:r>
            <a:r>
              <a:rPr dirty="0" sz="1200" spc="-40">
                <a:latin typeface="Palatino Linotype"/>
                <a:cs typeface="Palatino Linotype"/>
              </a:rPr>
              <a:t>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baseline="-3174" sz="2625" spc="-89">
                <a:latin typeface="Symbol"/>
                <a:cs typeface="Symbol"/>
              </a:rPr>
              <a:t>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315">
                <a:latin typeface="Palatino Linotype"/>
                <a:cs typeface="Palatino Linotype"/>
              </a:rPr>
              <a:t> </a:t>
            </a:r>
            <a:r>
              <a:rPr dirty="0" baseline="-3174" sz="2625" spc="-89">
                <a:latin typeface="Symbol"/>
                <a:cs typeface="Symbol"/>
              </a:rPr>
              <a:t>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305">
                <a:latin typeface="Palatino Linotype"/>
                <a:cs typeface="Palatino Linotype"/>
              </a:rPr>
              <a:t> </a:t>
            </a:r>
            <a:r>
              <a:rPr dirty="0" baseline="-3174" sz="2625" spc="-75">
                <a:latin typeface="Symbol"/>
                <a:cs typeface="Symbol"/>
              </a:rPr>
              <a:t></a:t>
            </a:r>
            <a:endParaRPr baseline="-3174" sz="2625">
              <a:latin typeface="Symbol"/>
              <a:cs typeface="Symbol"/>
            </a:endParaRPr>
          </a:p>
          <a:p>
            <a:pPr algn="r" marR="406400">
              <a:lnSpc>
                <a:spcPts val="459"/>
              </a:lnSpc>
              <a:tabLst>
                <a:tab pos="495934" algn="l"/>
                <a:tab pos="99758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3</a:t>
            </a:r>
            <a:endParaRPr sz="650">
              <a:latin typeface="Palatino Linotype"/>
              <a:cs typeface="Palatino Linotype"/>
            </a:endParaRPr>
          </a:p>
          <a:p>
            <a:pPr marL="487680">
              <a:lnSpc>
                <a:spcPct val="100000"/>
              </a:lnSpc>
              <a:spcBef>
                <a:spcPts val="120"/>
              </a:spcBef>
            </a:pP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ra,</a:t>
            </a:r>
            <a:r>
              <a:rPr dirty="0" sz="1200" spc="235">
                <a:latin typeface="Palatino Linotype"/>
                <a:cs typeface="Palatino Linotype"/>
              </a:rPr>
              <a:t> </a:t>
            </a:r>
            <a:r>
              <a:rPr dirty="0" sz="1200" spc="-55">
                <a:latin typeface="Palatino Linotype"/>
                <a:cs typeface="Palatino Linotype"/>
              </a:rPr>
              <a:t>P</a:t>
            </a:r>
            <a:r>
              <a:rPr dirty="0" baseline="-4273" sz="2925" spc="-82">
                <a:latin typeface="Symbol"/>
                <a:cs typeface="Symbol"/>
              </a:rPr>
              <a:t></a:t>
            </a:r>
            <a:r>
              <a:rPr dirty="0" sz="1200" spc="-55">
                <a:latin typeface="Palatino Linotype"/>
                <a:cs typeface="Palatino Linotype"/>
              </a:rPr>
              <a:t>Q</a:t>
            </a:r>
            <a:r>
              <a:rPr dirty="0" baseline="-3174" sz="2625" spc="-82">
                <a:latin typeface="Symbol"/>
                <a:cs typeface="Symbol"/>
              </a:rPr>
              <a:t></a:t>
            </a:r>
            <a:r>
              <a:rPr dirty="0" sz="1200" spc="-55">
                <a:latin typeface="Palatino Linotype"/>
                <a:cs typeface="Palatino Linotype"/>
              </a:rPr>
              <a:t>x</a:t>
            </a:r>
            <a:r>
              <a:rPr dirty="0" baseline="-3174" sz="2625" spc="-82">
                <a:latin typeface="Symbol"/>
                <a:cs typeface="Symbol"/>
              </a:rPr>
              <a:t></a:t>
            </a:r>
            <a:r>
              <a:rPr dirty="0" baseline="-4273" sz="2925" spc="-82">
                <a:latin typeface="Symbol"/>
                <a:cs typeface="Symbol"/>
              </a:rPr>
              <a:t></a:t>
            </a:r>
            <a:r>
              <a:rPr dirty="0" baseline="-4273" sz="2925" spc="-31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baseline="-4273" sz="29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Q</a:t>
            </a:r>
            <a:r>
              <a:rPr dirty="0" baseline="-3174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baseline="-3174" sz="2625" spc="-89">
                <a:latin typeface="Symbol"/>
                <a:cs typeface="Symbol"/>
              </a:rPr>
              <a:t></a:t>
            </a:r>
            <a:r>
              <a:rPr dirty="0" baseline="-3174" sz="2625" spc="-35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1</a:t>
            </a:r>
            <a:r>
              <a:rPr dirty="0" baseline="-29914" sz="975" spc="15">
                <a:latin typeface="Palatino Linotype"/>
                <a:cs typeface="Palatino Linotype"/>
              </a:rPr>
              <a:t> </a:t>
            </a:r>
            <a:r>
              <a:rPr dirty="0" baseline="-4273" sz="2925" spc="-120">
                <a:latin typeface="Symbol"/>
                <a:cs typeface="Symbol"/>
              </a:rPr>
              <a:t></a:t>
            </a:r>
            <a:r>
              <a:rPr dirty="0" sz="1200" spc="-80">
                <a:latin typeface="Palatino Linotype"/>
                <a:cs typeface="Palatino Linotype"/>
              </a:rPr>
              <a:t>Q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x</a:t>
            </a:r>
            <a:r>
              <a:rPr dirty="0" baseline="-3174" sz="2625" spc="-120">
                <a:latin typeface="Symbol"/>
                <a:cs typeface="Symbol"/>
              </a:rPr>
              <a:t></a:t>
            </a:r>
            <a:r>
              <a:rPr dirty="0" baseline="-3174" sz="2625" spc="-36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2</a:t>
            </a:r>
            <a:r>
              <a:rPr dirty="0" baseline="-29914" sz="975" spc="89">
                <a:latin typeface="Palatino Linotype"/>
                <a:cs typeface="Palatino Linotype"/>
              </a:rPr>
              <a:t> </a:t>
            </a:r>
            <a:r>
              <a:rPr dirty="0" baseline="-4273" sz="2925" spc="-120">
                <a:latin typeface="Symbol"/>
                <a:cs typeface="Symbol"/>
              </a:rPr>
              <a:t></a:t>
            </a:r>
            <a:r>
              <a:rPr dirty="0" sz="1200" spc="-80">
                <a:latin typeface="Palatino Linotype"/>
                <a:cs typeface="Palatino Linotype"/>
              </a:rPr>
              <a:t>Q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x</a:t>
            </a:r>
            <a:r>
              <a:rPr dirty="0" baseline="-3174" sz="2625" spc="-120">
                <a:latin typeface="Symbol"/>
                <a:cs typeface="Symbol"/>
              </a:rPr>
              <a:t></a:t>
            </a:r>
            <a:r>
              <a:rPr dirty="0" baseline="-3174" sz="2625" spc="-36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3</a:t>
            </a:r>
            <a:r>
              <a:rPr dirty="0" baseline="-29914" sz="975" spc="75">
                <a:latin typeface="Palatino Linotype"/>
                <a:cs typeface="Palatino Linotype"/>
              </a:rPr>
              <a:t> </a:t>
            </a:r>
            <a:r>
              <a:rPr dirty="0" baseline="-4273" sz="2925" spc="-75">
                <a:latin typeface="Symbol"/>
                <a:cs typeface="Symbol"/>
              </a:rPr>
              <a:t></a:t>
            </a:r>
            <a:endParaRPr baseline="-4273" sz="2925">
              <a:latin typeface="Symbol"/>
              <a:cs typeface="Symbol"/>
            </a:endParaRPr>
          </a:p>
          <a:p>
            <a:pPr marL="487680" marR="30480">
              <a:lnSpc>
                <a:spcPts val="2330"/>
              </a:lnSpc>
              <a:spcBef>
                <a:spcPts val="409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 spc="-60">
                <a:latin typeface="Palatino Linotype"/>
                <a:cs typeface="Palatino Linotype"/>
              </a:rPr>
              <a:t>P</a:t>
            </a:r>
            <a:r>
              <a:rPr dirty="0" baseline="-4273" sz="29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Q</a:t>
            </a:r>
            <a:r>
              <a:rPr dirty="0" baseline="-3174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baseline="-3174" sz="2625" spc="-89">
                <a:latin typeface="Symbol"/>
                <a:cs typeface="Symbol"/>
              </a:rPr>
              <a:t></a:t>
            </a:r>
            <a:r>
              <a:rPr dirty="0" baseline="-4273" sz="2925" spc="-89">
                <a:latin typeface="Symbol"/>
                <a:cs typeface="Symbol"/>
              </a:rPr>
              <a:t></a:t>
            </a:r>
            <a:r>
              <a:rPr dirty="0" baseline="-4273" sz="2925" spc="-359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20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vô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 các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 trình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Q</a:t>
            </a:r>
            <a:r>
              <a:rPr dirty="0" baseline="-3174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3174" sz="2625" spc="-44">
                <a:latin typeface="Symbol"/>
                <a:cs typeface="Symbol"/>
              </a:rPr>
              <a:t></a:t>
            </a:r>
            <a:r>
              <a:rPr dirty="0" baseline="-3174" sz="2625" spc="-40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29914" sz="975">
                <a:latin typeface="Palatino Linotype"/>
                <a:cs typeface="Palatino Linotype"/>
              </a:rPr>
              <a:t>i</a:t>
            </a:r>
            <a:r>
              <a:rPr dirty="0" baseline="-29914" sz="975" spc="35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baseline="-3174" sz="2625" spc="-97">
                <a:latin typeface="Symbol"/>
                <a:cs typeface="Symbol"/>
              </a:rPr>
              <a:t></a:t>
            </a:r>
            <a:r>
              <a:rPr dirty="0" sz="1200" spc="-65">
                <a:latin typeface="Palatino Linotype"/>
                <a:cs typeface="Palatino Linotype"/>
              </a:rPr>
              <a:t>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1,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2,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baseline="-3174" sz="2625">
                <a:latin typeface="Symbol"/>
                <a:cs typeface="Symbol"/>
              </a:rPr>
              <a:t></a:t>
            </a:r>
            <a:r>
              <a:rPr dirty="0" baseline="-3174" sz="2625" spc="97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vô </a:t>
            </a:r>
            <a:r>
              <a:rPr dirty="0" sz="1200" spc="-10">
                <a:latin typeface="Palatino Linotype"/>
                <a:cs typeface="Palatino Linotype"/>
              </a:rPr>
              <a:t>nghiệm.</a:t>
            </a:r>
            <a:endParaRPr sz="1200">
              <a:latin typeface="Palatino Linotype"/>
              <a:cs typeface="Palatino Linotype"/>
            </a:endParaRPr>
          </a:p>
          <a:p>
            <a:pPr marL="487680">
              <a:lnSpc>
                <a:spcPts val="1565"/>
              </a:lnSpc>
            </a:pPr>
            <a:r>
              <a:rPr dirty="0" sz="1200">
                <a:latin typeface="Palatino Linotype"/>
                <a:cs typeface="Palatino Linotype"/>
              </a:rPr>
              <a:t>Hay các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trình</a:t>
            </a:r>
            <a:r>
              <a:rPr dirty="0" sz="1200" spc="2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4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2016x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2017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3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190">
                <a:latin typeface="Palatino Linotype"/>
                <a:cs typeface="Palatino Linotype"/>
              </a:rPr>
              <a:t> </a:t>
            </a:r>
            <a:r>
              <a:rPr dirty="0" baseline="-3174" sz="2625" spc="-97">
                <a:latin typeface="Symbol"/>
                <a:cs typeface="Symbol"/>
              </a:rPr>
              <a:t></a:t>
            </a:r>
            <a:r>
              <a:rPr dirty="0" sz="1200" spc="-65">
                <a:latin typeface="Palatino Linotype"/>
                <a:cs typeface="Palatino Linotype"/>
              </a:rPr>
              <a:t>i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1,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2,</a:t>
            </a:r>
            <a:r>
              <a:rPr dirty="0" sz="1200" spc="-1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baseline="-3174" sz="2625">
                <a:latin typeface="Symbol"/>
                <a:cs typeface="Symbol"/>
              </a:rPr>
              <a:t></a:t>
            </a:r>
            <a:r>
              <a:rPr dirty="0" baseline="-3174" sz="2625" spc="4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vô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nghiệm</a:t>
            </a:r>
            <a:endParaRPr sz="1200">
              <a:latin typeface="Palatino Linotype"/>
              <a:cs typeface="Palatino Linotype"/>
            </a:endParaRPr>
          </a:p>
          <a:p>
            <a:pPr algn="ctr" marL="1131570">
              <a:lnSpc>
                <a:spcPts val="459"/>
              </a:lnSpc>
            </a:pPr>
            <a:r>
              <a:rPr dirty="0" sz="650" spc="-50">
                <a:latin typeface="Palatino Linotype"/>
                <a:cs typeface="Palatino Linotype"/>
              </a:rPr>
              <a:t>i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001275" y="6091656"/>
            <a:ext cx="70485" cy="13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00" spc="-5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687577" y="3527000"/>
          <a:ext cx="3519170" cy="2548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960"/>
                <a:gridCol w="452119"/>
                <a:gridCol w="262255"/>
              </a:tblGrid>
              <a:tr h="906780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⇒</a:t>
                      </a:r>
                      <a:r>
                        <a:rPr dirty="0" sz="1200" spc="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P(x)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f(x).(x +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 marR="400685">
                        <a:lnSpc>
                          <a:spcPct val="179200"/>
                        </a:lnSpc>
                        <a:spcBef>
                          <a:spcPts val="1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Thay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x =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–1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vào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đẳng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thức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trên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có: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P(–1)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 =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f(–1).(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–1 +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1) =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0.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08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00">
                          <a:latin typeface="Cambria Math"/>
                          <a:cs typeface="Cambria Math"/>
                        </a:rPr>
                        <a:t>⇒</a:t>
                      </a:r>
                      <a:r>
                        <a:rPr dirty="0" sz="1200" spc="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P(–1)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(1)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4769"/>
                </a:tc>
              </a:tr>
              <a:tr h="3282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Tương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tự,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P(x)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chia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cho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x dư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nên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P(0)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(2)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/>
                </a:tc>
              </a:tr>
              <a:tr h="6673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P(x)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chia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cho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dư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nên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P(1)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Từ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(1),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(2),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(3)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có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hệ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phương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trình: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(3)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0"/>
                </a:tc>
              </a:tr>
              <a:tr h="314960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775"/>
                        </a:spcBef>
                        <a:tabLst>
                          <a:tab pos="1715135" algn="l"/>
                        </a:tabLst>
                      </a:pPr>
                      <a:r>
                        <a:rPr dirty="0" baseline="2314" sz="1800">
                          <a:latin typeface="Symbol"/>
                          <a:cs typeface="Symbol"/>
                        </a:rPr>
                        <a:t></a:t>
                      </a:r>
                      <a:r>
                        <a:rPr dirty="0" sz="12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.(</a:t>
                      </a:r>
                      <a:r>
                        <a:rPr dirty="0" sz="1200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1)</a:t>
                      </a:r>
                      <a:r>
                        <a:rPr dirty="0" baseline="43650" sz="105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baseline="43650" sz="105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1200" spc="-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 i="1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.(</a:t>
                      </a:r>
                      <a:r>
                        <a:rPr dirty="0" sz="1200" spc="-25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1)</a:t>
                      </a:r>
                      <a:r>
                        <a:rPr dirty="0" sz="1200" spc="-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sz="12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200" spc="-2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-11574" sz="1800">
                          <a:latin typeface="Symbol"/>
                          <a:cs typeface="Symbol"/>
                        </a:rPr>
                        <a:t></a:t>
                      </a:r>
                      <a:r>
                        <a:rPr dirty="0" baseline="-6944" sz="18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6944" sz="1800" spc="-12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6944" sz="1800">
                          <a:latin typeface="Symbol"/>
                          <a:cs typeface="Symbol"/>
                        </a:rPr>
                        <a:t></a:t>
                      </a:r>
                      <a:r>
                        <a:rPr dirty="0" baseline="-6944" sz="1800" spc="-20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6944" sz="1800" i="1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baseline="-6944" sz="1800" spc="-142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6944" sz="1800">
                          <a:latin typeface="Symbol"/>
                          <a:cs typeface="Symbol"/>
                        </a:rPr>
                        <a:t></a:t>
                      </a:r>
                      <a:r>
                        <a:rPr dirty="0" baseline="-6944" sz="1800" spc="-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6944" sz="1800" i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baseline="-6944" sz="1800" spc="-7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6944" sz="180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baseline="-6944" sz="1800" spc="-9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6944" sz="1800" spc="-75">
                          <a:latin typeface="Times New Roman"/>
                          <a:cs typeface="Times New Roman"/>
                        </a:rPr>
                        <a:t>3</a:t>
                      </a:r>
                      <a:endParaRPr baseline="-6944"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8425"/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1365"/>
                        </a:lnSpc>
                        <a:spcBef>
                          <a:spcPts val="1015"/>
                        </a:spcBef>
                      </a:pPr>
                      <a:r>
                        <a:rPr dirty="0" sz="1200">
                          <a:latin typeface="Symbol"/>
                          <a:cs typeface="Symbol"/>
                        </a:rPr>
                        <a:t></a:t>
                      </a:r>
                      <a:r>
                        <a:rPr dirty="0" baseline="4629" sz="180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4629" sz="1800" spc="1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4629" sz="180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baseline="4629" sz="1800" spc="-75">
                          <a:latin typeface="Times New Roman"/>
                          <a:cs typeface="Times New Roman"/>
                        </a:rPr>
                        <a:t> 3</a:t>
                      </a:r>
                      <a:endParaRPr baseline="4629"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8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705235" y="6342850"/>
            <a:ext cx="11303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7777" sz="1800">
                <a:latin typeface="Symbol"/>
                <a:cs typeface="Symbol"/>
              </a:rPr>
              <a:t>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.1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18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>
                <a:latin typeface="Times New Roman"/>
                <a:cs typeface="Times New Roman"/>
              </a:rPr>
              <a:t>.1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167110" y="6095620"/>
            <a:ext cx="6356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baseline="32407" sz="1800">
                <a:latin typeface="Symbol"/>
                <a:cs typeface="Symbol"/>
              </a:rPr>
              <a:t>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0635" y="5987709"/>
            <a:ext cx="101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09854" y="6095620"/>
            <a:ext cx="10121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.0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b</a:t>
            </a:r>
            <a:r>
              <a:rPr dirty="0" sz="1200" spc="-10">
                <a:latin typeface="Times New Roman"/>
                <a:cs typeface="Times New Roman"/>
              </a:rPr>
              <a:t>.0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6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193279" y="6007514"/>
            <a:ext cx="3511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2407" sz="1800">
                <a:latin typeface="Symbol"/>
                <a:cs typeface="Symbol"/>
              </a:rPr>
              <a:t></a:t>
            </a:r>
            <a:r>
              <a:rPr dirty="0" baseline="-32407" sz="1800" spc="7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0635" y="6121836"/>
            <a:ext cx="101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391339" y="6095620"/>
            <a:ext cx="4425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9259" sz="1800">
                <a:latin typeface="Symbol"/>
                <a:cs typeface="Symbol"/>
              </a:rPr>
              <a:t>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6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390416" y="6121836"/>
            <a:ext cx="101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365016" y="6324252"/>
            <a:ext cx="14643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64260" algn="l"/>
              </a:tabLst>
            </a:pP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8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 spc="-9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90543" y="6364799"/>
            <a:ext cx="1128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8860" algn="l"/>
              </a:tabLst>
            </a:pPr>
            <a:r>
              <a:rPr dirty="0" sz="1200" spc="-50">
                <a:latin typeface="Symbol"/>
                <a:cs typeface="Symbol"/>
              </a:rPr>
              <a:t>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0635" y="6401990"/>
            <a:ext cx="101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1227" y="6745605"/>
            <a:ext cx="4317365" cy="292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⇒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P(x)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3x</a:t>
            </a:r>
            <a:r>
              <a:rPr dirty="0" baseline="38194" sz="1200">
                <a:latin typeface="Times New Roman"/>
                <a:cs typeface="Times New Roman"/>
              </a:rPr>
              <a:t>2</a:t>
            </a:r>
            <a:r>
              <a:rPr dirty="0" baseline="38194" sz="1200" spc="142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 +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Thử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lại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thấy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P(x)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thỏa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mãn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đề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bài.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50"/>
              </a:spcBef>
            </a:pPr>
            <a:r>
              <a:rPr dirty="0" sz="1200">
                <a:latin typeface="Times New Roman"/>
                <a:cs typeface="Times New Roman"/>
              </a:rPr>
              <a:t>Vậy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P(x) =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3x</a:t>
            </a:r>
            <a:r>
              <a:rPr dirty="0" baseline="38194" sz="1200">
                <a:latin typeface="Times New Roman"/>
                <a:cs typeface="Times New Roman"/>
              </a:rPr>
              <a:t>2</a:t>
            </a:r>
            <a:r>
              <a:rPr dirty="0" baseline="38194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+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5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6. </a:t>
            </a:r>
            <a:r>
              <a:rPr dirty="0" sz="1200">
                <a:latin typeface="Palatino Linotype"/>
                <a:cs typeface="Palatino Linotype"/>
              </a:rPr>
              <a:t>Ta có</a:t>
            </a:r>
            <a:r>
              <a:rPr dirty="0" sz="1200" spc="210">
                <a:latin typeface="Palatino Linotype"/>
                <a:cs typeface="Palatino Linotype"/>
              </a:rPr>
              <a:t> </a:t>
            </a:r>
            <a:r>
              <a:rPr dirty="0" sz="1200" spc="60">
                <a:latin typeface="Cambria"/>
                <a:cs typeface="Cambria"/>
              </a:rPr>
              <a:t>x</a:t>
            </a:r>
            <a:r>
              <a:rPr dirty="0" baseline="43650" sz="1050" spc="89">
                <a:latin typeface="Cambria"/>
                <a:cs typeface="Cambria"/>
              </a:rPr>
              <a:t>2</a:t>
            </a:r>
            <a:r>
              <a:rPr dirty="0" baseline="43650" sz="1050" spc="33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50">
                <a:latin typeface="Cambria"/>
                <a:cs typeface="Cambria"/>
              </a:rPr>
              <a:t>2x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3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 spc="65">
                <a:latin typeface="Cambria"/>
                <a:cs typeface="Cambria"/>
              </a:rPr>
              <a:t>x</a:t>
            </a:r>
            <a:r>
              <a:rPr dirty="0" baseline="43650" sz="1050" spc="97">
                <a:latin typeface="Cambria"/>
                <a:cs typeface="Cambria"/>
              </a:rPr>
              <a:t>2</a:t>
            </a:r>
            <a:r>
              <a:rPr dirty="0" baseline="43650" sz="1050" spc="337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50">
                <a:latin typeface="Cambria"/>
                <a:cs typeface="Cambria"/>
              </a:rPr>
              <a:t>2x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1</a:t>
            </a:r>
            <a:r>
              <a:rPr dirty="0" sz="1200" spc="-6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4</a:t>
            </a:r>
            <a:r>
              <a:rPr dirty="0" sz="1200" spc="8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baseline="-4273" sz="2925">
                <a:latin typeface="Symbol"/>
                <a:cs typeface="Symbol"/>
              </a:rPr>
              <a:t></a:t>
            </a:r>
            <a:r>
              <a:rPr dirty="0" sz="1200">
                <a:latin typeface="Cambria"/>
                <a:cs typeface="Cambria"/>
              </a:rPr>
              <a:t>x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Cambria"/>
                <a:cs typeface="Cambria"/>
              </a:rPr>
              <a:t>1</a:t>
            </a:r>
            <a:r>
              <a:rPr dirty="0" baseline="-4273" sz="2925" spc="-60">
                <a:latin typeface="Symbol"/>
                <a:cs typeface="Symbol"/>
              </a:rPr>
              <a:t></a:t>
            </a:r>
            <a:r>
              <a:rPr dirty="0" baseline="71428" sz="1050" spc="-60">
                <a:latin typeface="Cambria"/>
                <a:cs typeface="Cambria"/>
              </a:rPr>
              <a:t>2</a:t>
            </a:r>
            <a:r>
              <a:rPr dirty="0" baseline="71428" sz="1050" spc="33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Cambria"/>
                <a:cs typeface="Cambria"/>
              </a:rPr>
              <a:t>4</a:t>
            </a:r>
            <a:endParaRPr sz="1200">
              <a:latin typeface="Cambria"/>
              <a:cs typeface="Cambria"/>
            </a:endParaRPr>
          </a:p>
          <a:p>
            <a:pPr marL="61594">
              <a:lnSpc>
                <a:spcPct val="100000"/>
              </a:lnSpc>
              <a:spcBef>
                <a:spcPts val="470"/>
              </a:spcBef>
            </a:pP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1</a:t>
            </a:r>
            <a:r>
              <a:rPr dirty="0" sz="1150" spc="-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2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1</a:t>
            </a:r>
            <a:r>
              <a:rPr dirty="0" sz="1150" spc="-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-75">
                <a:latin typeface="Cambria"/>
                <a:cs typeface="Cambria"/>
              </a:rPr>
              <a:t>2</a:t>
            </a:r>
            <a:r>
              <a:rPr dirty="0" baseline="-4629" sz="2700" spc="-112">
                <a:latin typeface="Symbol"/>
                <a:cs typeface="Symbol"/>
              </a:rPr>
              <a:t></a:t>
            </a:r>
            <a:r>
              <a:rPr dirty="0" baseline="-4629" sz="2700" spc="-112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3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Cambria"/>
                <a:cs typeface="Cambria"/>
              </a:rPr>
              <a:t>1</a:t>
            </a:r>
            <a:r>
              <a:rPr dirty="0" baseline="-4629" sz="2700" spc="-37">
                <a:latin typeface="Symbol"/>
                <a:cs typeface="Symbol"/>
              </a:rPr>
              <a:t></a:t>
            </a:r>
            <a:endParaRPr baseline="-4629" sz="27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1130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thương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  <a:p>
            <a:pPr marL="1011555">
              <a:lnSpc>
                <a:spcPct val="100000"/>
              </a:lnSpc>
              <a:spcBef>
                <a:spcPts val="275"/>
              </a:spcBef>
            </a:pPr>
            <a:r>
              <a:rPr dirty="0" sz="1150" spc="90">
                <a:latin typeface="Cambria"/>
                <a:cs typeface="Cambria"/>
              </a:rPr>
              <a:t>4x</a:t>
            </a:r>
            <a:r>
              <a:rPr dirty="0" baseline="42735" sz="975" spc="135">
                <a:latin typeface="Cambria"/>
                <a:cs typeface="Cambria"/>
              </a:rPr>
              <a:t>4</a:t>
            </a:r>
            <a:r>
              <a:rPr dirty="0" baseline="42735" sz="975" spc="412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 spc="50">
                <a:latin typeface="Cambria"/>
                <a:cs typeface="Cambria"/>
              </a:rPr>
              <a:t>11x</a:t>
            </a:r>
            <a:r>
              <a:rPr dirty="0" baseline="42735" sz="975" spc="75">
                <a:latin typeface="Cambria"/>
                <a:cs typeface="Cambria"/>
              </a:rPr>
              <a:t>3</a:t>
            </a:r>
            <a:r>
              <a:rPr dirty="0" baseline="42735" sz="975" spc="367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2ax</a:t>
            </a:r>
            <a:r>
              <a:rPr dirty="0" baseline="42735" sz="975" spc="89">
                <a:latin typeface="Cambria"/>
                <a:cs typeface="Cambria"/>
              </a:rPr>
              <a:t>2</a:t>
            </a:r>
            <a:r>
              <a:rPr dirty="0" baseline="42735" sz="975" spc="367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65">
                <a:latin typeface="Cambria"/>
                <a:cs typeface="Cambria"/>
              </a:rPr>
              <a:t>5bx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6</a:t>
            </a:r>
            <a:r>
              <a:rPr dirty="0" sz="1150" spc="7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3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1</a:t>
            </a:r>
            <a:r>
              <a:rPr dirty="0" baseline="-4629" sz="2700">
                <a:latin typeface="Symbol"/>
                <a:cs typeface="Symbol"/>
              </a:rPr>
              <a:t></a:t>
            </a:r>
            <a:r>
              <a:rPr dirty="0" sz="1150">
                <a:latin typeface="Cambria"/>
                <a:cs typeface="Cambria"/>
              </a:rPr>
              <a:t>q</a:t>
            </a:r>
            <a:r>
              <a:rPr dirty="0" sz="1150" spc="-80">
                <a:latin typeface="Cambria"/>
                <a:cs typeface="Cambria"/>
              </a:rPr>
              <a:t> </a:t>
            </a:r>
            <a:r>
              <a:rPr dirty="0" baseline="-4629" sz="2700" spc="-37">
                <a:latin typeface="Symbol"/>
                <a:cs typeface="Symbol"/>
              </a:rPr>
              <a:t></a:t>
            </a:r>
            <a:r>
              <a:rPr dirty="0" sz="1150" spc="-25">
                <a:latin typeface="Cambria"/>
                <a:cs typeface="Cambria"/>
              </a:rPr>
              <a:t>x</a:t>
            </a:r>
            <a:r>
              <a:rPr dirty="0" baseline="-4629" sz="2700" spc="-37">
                <a:latin typeface="Symbol"/>
                <a:cs typeface="Symbol"/>
              </a:rPr>
              <a:t></a:t>
            </a:r>
            <a:endParaRPr baseline="-4629" sz="27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1215"/>
              </a:spcBef>
            </a:pPr>
            <a:r>
              <a:rPr dirty="0" sz="1200" spc="10">
                <a:latin typeface="Palatino Linotype"/>
                <a:cs typeface="Palatino Linotype"/>
              </a:rPr>
              <a:t>Chọn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10">
                <a:latin typeface="Palatino Linotype"/>
                <a:cs typeface="Palatino Linotype"/>
              </a:rPr>
              <a:t>x =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10">
                <a:latin typeface="Palatino Linotype"/>
                <a:cs typeface="Palatino Linotype"/>
              </a:rPr>
              <a:t>3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 spc="10">
                <a:latin typeface="Palatino Linotype"/>
                <a:cs typeface="Palatino Linotype"/>
              </a:rPr>
              <a:t>ta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10">
                <a:latin typeface="Palatino Linotype"/>
                <a:cs typeface="Palatino Linotype"/>
              </a:rPr>
              <a:t>có: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150" spc="10">
                <a:latin typeface="Cambria"/>
                <a:cs typeface="Cambria"/>
              </a:rPr>
              <a:t>4.3</a:t>
            </a:r>
            <a:r>
              <a:rPr dirty="0" baseline="42735" sz="975" spc="15">
                <a:latin typeface="Cambria"/>
                <a:cs typeface="Cambria"/>
              </a:rPr>
              <a:t>4</a:t>
            </a:r>
            <a:r>
              <a:rPr dirty="0" baseline="42735" sz="975" spc="412">
                <a:latin typeface="Cambria"/>
                <a:cs typeface="Cambria"/>
              </a:rPr>
              <a:t> </a:t>
            </a:r>
            <a:r>
              <a:rPr dirty="0" sz="1150" spc="65">
                <a:latin typeface="Symbol"/>
                <a:cs typeface="Symbol"/>
              </a:rPr>
              <a:t>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Cambria"/>
                <a:cs typeface="Cambria"/>
              </a:rPr>
              <a:t>11.3</a:t>
            </a:r>
            <a:r>
              <a:rPr dirty="0" baseline="42735" sz="975" spc="15">
                <a:latin typeface="Cambria"/>
                <a:cs typeface="Cambria"/>
              </a:rPr>
              <a:t>3</a:t>
            </a:r>
            <a:r>
              <a:rPr dirty="0" baseline="42735" sz="975" spc="367">
                <a:latin typeface="Cambria"/>
                <a:cs typeface="Cambria"/>
              </a:rPr>
              <a:t> </a:t>
            </a:r>
            <a:r>
              <a:rPr dirty="0" sz="1150" spc="6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Cambria"/>
                <a:cs typeface="Cambria"/>
              </a:rPr>
              <a:t>2</a:t>
            </a:r>
            <a:r>
              <a:rPr dirty="0" sz="1150" spc="10" i="1">
                <a:latin typeface="Arial"/>
                <a:cs typeface="Arial"/>
              </a:rPr>
              <a:t>a</a:t>
            </a:r>
            <a:r>
              <a:rPr dirty="0" sz="1150" spc="10">
                <a:latin typeface="Cambria"/>
                <a:cs typeface="Cambria"/>
              </a:rPr>
              <a:t>.3</a:t>
            </a:r>
            <a:r>
              <a:rPr dirty="0" baseline="42735" sz="975" spc="15">
                <a:latin typeface="Cambria"/>
                <a:cs typeface="Cambria"/>
              </a:rPr>
              <a:t>2</a:t>
            </a:r>
            <a:r>
              <a:rPr dirty="0" baseline="42735" sz="975" spc="367">
                <a:latin typeface="Cambria"/>
                <a:cs typeface="Cambria"/>
              </a:rPr>
              <a:t> </a:t>
            </a:r>
            <a:r>
              <a:rPr dirty="0" sz="1150" spc="65">
                <a:latin typeface="Symbol"/>
                <a:cs typeface="Symbol"/>
              </a:rPr>
              <a:t>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Cambria"/>
                <a:cs typeface="Cambria"/>
              </a:rPr>
              <a:t>5.</a:t>
            </a:r>
            <a:r>
              <a:rPr dirty="0" sz="1150" spc="10" i="1">
                <a:latin typeface="Arial"/>
                <a:cs typeface="Arial"/>
              </a:rPr>
              <a:t>b</a:t>
            </a:r>
            <a:r>
              <a:rPr dirty="0" sz="1150" spc="10">
                <a:latin typeface="Cambria"/>
                <a:cs typeface="Cambria"/>
              </a:rPr>
              <a:t>.3</a:t>
            </a:r>
            <a:r>
              <a:rPr dirty="0" sz="1150" spc="-35">
                <a:latin typeface="Cambria"/>
                <a:cs typeface="Cambria"/>
              </a:rPr>
              <a:t> </a:t>
            </a:r>
            <a:r>
              <a:rPr dirty="0" sz="1150" spc="65">
                <a:latin typeface="Symbol"/>
                <a:cs typeface="Symbol"/>
              </a:rPr>
              <a:t>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70">
                <a:latin typeface="Cambria"/>
                <a:cs typeface="Cambria"/>
              </a:rPr>
              <a:t>6</a:t>
            </a:r>
            <a:r>
              <a:rPr dirty="0" sz="1150" spc="65">
                <a:latin typeface="Cambria"/>
                <a:cs typeface="Cambria"/>
              </a:rPr>
              <a:t> </a:t>
            </a:r>
            <a:r>
              <a:rPr dirty="0" sz="1150" spc="65">
                <a:latin typeface="Symbol"/>
                <a:cs typeface="Symbol"/>
              </a:rPr>
              <a:t>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Cambria"/>
                <a:cs typeface="Cambria"/>
              </a:rPr>
              <a:t>0</a:t>
            </a:r>
            <a:endParaRPr sz="1150">
              <a:latin typeface="Cambria"/>
              <a:cs typeface="Cambria"/>
            </a:endParaRPr>
          </a:p>
          <a:p>
            <a:pPr marL="914400">
              <a:lnSpc>
                <a:spcPct val="100000"/>
              </a:lnSpc>
              <a:spcBef>
                <a:spcPts val="800"/>
              </a:spcBef>
            </a:pPr>
            <a:r>
              <a:rPr dirty="0" sz="1200">
                <a:latin typeface="Symbol"/>
                <a:cs typeface="Symbol"/>
              </a:rPr>
              <a:t></a:t>
            </a:r>
            <a:r>
              <a:rPr dirty="0" sz="1200" spc="110">
                <a:latin typeface="Times New Roman"/>
                <a:cs typeface="Times New Roman"/>
              </a:rPr>
              <a:t>  </a:t>
            </a:r>
            <a:r>
              <a:rPr dirty="0" baseline="4629" sz="1800">
                <a:latin typeface="Cambria"/>
                <a:cs typeface="Cambria"/>
              </a:rPr>
              <a:t>15b</a:t>
            </a:r>
            <a:r>
              <a:rPr dirty="0" baseline="4629" sz="1800" spc="30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1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Cambria"/>
                <a:cs typeface="Cambria"/>
              </a:rPr>
              <a:t>18a</a:t>
            </a:r>
            <a:r>
              <a:rPr dirty="0" baseline="4629" sz="1800" spc="240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14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>
                <a:latin typeface="Cambria"/>
                <a:cs typeface="Cambria"/>
              </a:rPr>
              <a:t>21</a:t>
            </a:r>
            <a:r>
              <a:rPr dirty="0" baseline="4629" sz="1800" spc="-22">
                <a:latin typeface="Cambria"/>
                <a:cs typeface="Cambria"/>
              </a:rPr>
              <a:t> </a:t>
            </a:r>
            <a:r>
              <a:rPr dirty="0" baseline="4629" sz="1800" spc="104">
                <a:latin typeface="Symbol"/>
                <a:cs typeface="Symbol"/>
              </a:rPr>
              <a:t></a:t>
            </a:r>
            <a:r>
              <a:rPr dirty="0" baseline="4629" sz="1800" spc="-1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Cambria"/>
                <a:cs typeface="Cambria"/>
              </a:rPr>
              <a:t>5b</a:t>
            </a:r>
            <a:r>
              <a:rPr dirty="0" baseline="4629" sz="1800" spc="30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5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Cambria"/>
                <a:cs typeface="Cambria"/>
              </a:rPr>
              <a:t>6a</a:t>
            </a:r>
            <a:r>
              <a:rPr dirty="0" baseline="4629" sz="1800" spc="232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14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>
                <a:latin typeface="Cambria"/>
                <a:cs typeface="Cambria"/>
              </a:rPr>
              <a:t>7</a:t>
            </a:r>
            <a:r>
              <a:rPr dirty="0" baseline="4629" sz="1800" spc="-127">
                <a:latin typeface="Cambria"/>
                <a:cs typeface="Cambria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560"/>
              </a:spcBef>
            </a:pPr>
            <a:r>
              <a:rPr dirty="0" sz="1200">
                <a:latin typeface="Palatino Linotype"/>
                <a:cs typeface="Palatino Linotype"/>
              </a:rPr>
              <a:t>Chọn 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1, ta có: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Cambria"/>
                <a:cs typeface="Cambria"/>
              </a:rPr>
              <a:t>4</a:t>
            </a:r>
            <a:r>
              <a:rPr dirty="0" baseline="2314" sz="1800" spc="-209">
                <a:latin typeface="Cambria"/>
                <a:cs typeface="Cambria"/>
              </a:rPr>
              <a:t> </a:t>
            </a:r>
            <a:r>
              <a:rPr dirty="0" baseline="-2849" sz="2925" spc="-89">
                <a:latin typeface="Symbol"/>
                <a:cs typeface="Symbol"/>
              </a:rPr>
              <a:t></a:t>
            </a:r>
            <a:r>
              <a:rPr dirty="0" baseline="2314" sz="1800" spc="-89">
                <a:latin typeface="Symbol"/>
                <a:cs typeface="Symbol"/>
              </a:rPr>
              <a:t></a:t>
            </a:r>
            <a:r>
              <a:rPr dirty="0" baseline="2314" sz="1800" spc="-89">
                <a:latin typeface="Cambria"/>
                <a:cs typeface="Cambria"/>
              </a:rPr>
              <a:t>1</a:t>
            </a:r>
            <a:r>
              <a:rPr dirty="0" baseline="-2849" sz="2925" spc="-89">
                <a:latin typeface="Symbol"/>
                <a:cs typeface="Symbol"/>
              </a:rPr>
              <a:t></a:t>
            </a:r>
            <a:r>
              <a:rPr dirty="0" baseline="71428" sz="1050" spc="-89">
                <a:latin typeface="Cambria"/>
                <a:cs typeface="Cambria"/>
              </a:rPr>
              <a:t>4</a:t>
            </a:r>
            <a:r>
              <a:rPr dirty="0" baseline="71428" sz="1050" spc="382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</a:t>
            </a:r>
            <a:r>
              <a:rPr dirty="0" baseline="2314" sz="1800" spc="-127">
                <a:latin typeface="Times New Roman"/>
                <a:cs typeface="Times New Roman"/>
              </a:rPr>
              <a:t> </a:t>
            </a:r>
            <a:r>
              <a:rPr dirty="0" baseline="2314" sz="1800" spc="-52">
                <a:latin typeface="Cambria"/>
                <a:cs typeface="Cambria"/>
              </a:rPr>
              <a:t>11</a:t>
            </a:r>
            <a:r>
              <a:rPr dirty="0" baseline="-2849" sz="2925" spc="-52">
                <a:latin typeface="Symbol"/>
                <a:cs typeface="Symbol"/>
              </a:rPr>
              <a:t></a:t>
            </a:r>
            <a:r>
              <a:rPr dirty="0" baseline="2314" sz="1800" spc="-52">
                <a:latin typeface="Symbol"/>
                <a:cs typeface="Symbol"/>
              </a:rPr>
              <a:t></a:t>
            </a:r>
            <a:r>
              <a:rPr dirty="0" baseline="2314" sz="1800" spc="-52">
                <a:latin typeface="Cambria"/>
                <a:cs typeface="Cambria"/>
              </a:rPr>
              <a:t>1</a:t>
            </a:r>
            <a:r>
              <a:rPr dirty="0" baseline="-2849" sz="2925" spc="-52">
                <a:latin typeface="Symbol"/>
                <a:cs typeface="Symbol"/>
              </a:rPr>
              <a:t></a:t>
            </a:r>
            <a:r>
              <a:rPr dirty="0" baseline="71428" sz="1050" spc="-52">
                <a:latin typeface="Cambria"/>
                <a:cs typeface="Cambria"/>
              </a:rPr>
              <a:t>3</a:t>
            </a:r>
            <a:r>
              <a:rPr dirty="0" baseline="71428" sz="1050" spc="330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</a:t>
            </a:r>
            <a:r>
              <a:rPr dirty="0" baseline="2314" sz="1800" spc="-104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Cambria"/>
                <a:cs typeface="Cambria"/>
              </a:rPr>
              <a:t>2a</a:t>
            </a:r>
            <a:r>
              <a:rPr dirty="0" baseline="2314" sz="1800" spc="-150">
                <a:latin typeface="Cambria"/>
                <a:cs typeface="Cambria"/>
              </a:rPr>
              <a:t> </a:t>
            </a:r>
            <a:r>
              <a:rPr dirty="0" baseline="-2849" sz="2925" spc="-97">
                <a:latin typeface="Symbol"/>
                <a:cs typeface="Symbol"/>
              </a:rPr>
              <a:t></a:t>
            </a:r>
            <a:r>
              <a:rPr dirty="0" baseline="2314" sz="1800" spc="-97">
                <a:latin typeface="Symbol"/>
                <a:cs typeface="Symbol"/>
              </a:rPr>
              <a:t></a:t>
            </a:r>
            <a:r>
              <a:rPr dirty="0" baseline="2314" sz="1800" spc="-97">
                <a:latin typeface="Cambria"/>
                <a:cs typeface="Cambria"/>
              </a:rPr>
              <a:t>1</a:t>
            </a:r>
            <a:r>
              <a:rPr dirty="0" baseline="-2849" sz="2925" spc="-97">
                <a:latin typeface="Symbol"/>
                <a:cs typeface="Symbol"/>
              </a:rPr>
              <a:t></a:t>
            </a:r>
            <a:r>
              <a:rPr dirty="0" baseline="71428" sz="1050" spc="-97">
                <a:latin typeface="Cambria"/>
                <a:cs typeface="Cambria"/>
              </a:rPr>
              <a:t>2</a:t>
            </a:r>
            <a:r>
              <a:rPr dirty="0" baseline="71428" sz="1050" spc="337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75">
                <a:latin typeface="Times New Roman"/>
                <a:cs typeface="Times New Roman"/>
              </a:rPr>
              <a:t> </a:t>
            </a:r>
            <a:r>
              <a:rPr dirty="0" baseline="2314" sz="1800" spc="-75">
                <a:latin typeface="Cambria"/>
                <a:cs typeface="Cambria"/>
              </a:rPr>
              <a:t>5b</a:t>
            </a:r>
            <a:r>
              <a:rPr dirty="0" baseline="-2849" sz="2925" spc="-75">
                <a:latin typeface="Symbol"/>
                <a:cs typeface="Symbol"/>
              </a:rPr>
              <a:t></a:t>
            </a:r>
            <a:r>
              <a:rPr dirty="0" baseline="2314" sz="1800" spc="-75">
                <a:latin typeface="Symbol"/>
                <a:cs typeface="Symbol"/>
              </a:rPr>
              <a:t></a:t>
            </a:r>
            <a:r>
              <a:rPr dirty="0" baseline="2314" sz="1800" spc="-75">
                <a:latin typeface="Cambria"/>
                <a:cs typeface="Cambria"/>
              </a:rPr>
              <a:t>1</a:t>
            </a:r>
            <a:r>
              <a:rPr dirty="0" baseline="-2849" sz="2925" spc="-75">
                <a:latin typeface="Symbol"/>
                <a:cs typeface="Symbol"/>
              </a:rPr>
              <a:t></a:t>
            </a:r>
            <a:r>
              <a:rPr dirty="0" baseline="-2849" sz="2925" spc="-31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</a:t>
            </a:r>
            <a:r>
              <a:rPr dirty="0" baseline="2314" sz="1800" spc="-7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Cambria"/>
                <a:cs typeface="Cambria"/>
              </a:rPr>
              <a:t>6</a:t>
            </a:r>
            <a:r>
              <a:rPr dirty="0" baseline="2314" sz="1800" spc="75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37">
                <a:latin typeface="Times New Roman"/>
                <a:cs typeface="Times New Roman"/>
              </a:rPr>
              <a:t> </a:t>
            </a:r>
            <a:r>
              <a:rPr dirty="0" baseline="2314" sz="1800" spc="-75">
                <a:latin typeface="Cambria"/>
                <a:cs typeface="Cambria"/>
              </a:rPr>
              <a:t>0</a:t>
            </a:r>
            <a:endParaRPr baseline="2314" sz="18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02143" y="2200556"/>
            <a:ext cx="722630" cy="295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57225" algn="l"/>
              </a:tabLst>
            </a:pPr>
            <a:r>
              <a:rPr dirty="0" sz="1750" spc="-50">
                <a:latin typeface="Symbol"/>
                <a:cs typeface="Symbol"/>
              </a:rPr>
              <a:t></a:t>
            </a:r>
            <a:r>
              <a:rPr dirty="0" sz="1750">
                <a:latin typeface="Times New Roman"/>
                <a:cs typeface="Times New Roman"/>
              </a:rPr>
              <a:t>	</a:t>
            </a:r>
            <a:r>
              <a:rPr dirty="0" sz="1750" spc="-130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406582" y="2253933"/>
            <a:ext cx="575310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51625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'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409361" y="2368078"/>
            <a:ext cx="52705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650" spc="-50">
                <a:latin typeface="Palatino Linotype"/>
                <a:cs typeface="Palatino Linotype"/>
              </a:rPr>
              <a:t>i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694721" y="2368078"/>
            <a:ext cx="1142365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102360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i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i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31112" y="2256968"/>
            <a:ext cx="5251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09035" algn="l"/>
              </a:tabLst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đó, 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biệt thức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ứng</a:t>
            </a:r>
            <a:r>
              <a:rPr dirty="0" sz="1200" spc="1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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1008</a:t>
            </a:r>
            <a:r>
              <a:rPr dirty="0" sz="1200" spc="4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3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2017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>
                <a:latin typeface="Symbol"/>
                <a:cs typeface="Symbol"/>
              </a:rPr>
              <a:t>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 spc="50">
                <a:latin typeface="Symbol"/>
                <a:cs typeface="Symbol"/>
              </a:rPr>
              <a:t>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2017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35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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1008</a:t>
            </a:r>
            <a:r>
              <a:rPr dirty="0" baseline="47008" sz="975" spc="-15">
                <a:latin typeface="Palatino Linotype"/>
                <a:cs typeface="Palatino Linotype"/>
              </a:rPr>
              <a:t>2</a:t>
            </a:r>
            <a:endParaRPr baseline="47008" sz="975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93927" y="2496878"/>
            <a:ext cx="4425315" cy="876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74980">
              <a:lnSpc>
                <a:spcPts val="1780"/>
              </a:lnSpc>
              <a:spcBef>
                <a:spcPts val="120"/>
              </a:spcBef>
            </a:pP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20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P</a:t>
            </a:r>
            <a:r>
              <a:rPr dirty="0" baseline="-3174" sz="2625" spc="-15">
                <a:latin typeface="Symbol"/>
                <a:cs typeface="Symbol"/>
              </a:rPr>
              <a:t></a:t>
            </a:r>
            <a:r>
              <a:rPr dirty="0" sz="1200" spc="-10">
                <a:latin typeface="Palatino Linotype"/>
                <a:cs typeface="Palatino Linotype"/>
              </a:rPr>
              <a:t>2017</a:t>
            </a:r>
            <a:r>
              <a:rPr dirty="0" baseline="-3174" sz="2625" spc="-15">
                <a:latin typeface="Symbol"/>
                <a:cs typeface="Symbol"/>
              </a:rPr>
              <a:t></a:t>
            </a:r>
            <a:r>
              <a:rPr dirty="0" baseline="-3174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baseline="-3174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2017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240">
                <a:latin typeface="Palatino Linotype"/>
                <a:cs typeface="Palatino Linotype"/>
              </a:rPr>
              <a:t> </a:t>
            </a:r>
            <a:r>
              <a:rPr dirty="0" baseline="-3174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2017</a:t>
            </a:r>
            <a:r>
              <a:rPr dirty="0" sz="1200" spc="-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320">
                <a:latin typeface="Palatino Linotype"/>
                <a:cs typeface="Palatino Linotype"/>
              </a:rPr>
              <a:t> </a:t>
            </a:r>
            <a:r>
              <a:rPr dirty="0" baseline="-3174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2017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310">
                <a:latin typeface="Palatino Linotype"/>
                <a:cs typeface="Palatino Linotype"/>
              </a:rPr>
              <a:t> </a:t>
            </a:r>
            <a:r>
              <a:rPr dirty="0" baseline="-3174" sz="2625" spc="-284">
                <a:latin typeface="Symbol"/>
                <a:cs typeface="Symbol"/>
              </a:rPr>
              <a:t></a:t>
            </a:r>
            <a:r>
              <a:rPr dirty="0" baseline="-3174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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1008</a:t>
            </a:r>
            <a:r>
              <a:rPr dirty="0" baseline="47008" sz="975">
                <a:latin typeface="Palatino Linotype"/>
                <a:cs typeface="Palatino Linotype"/>
              </a:rPr>
              <a:t>6</a:t>
            </a:r>
            <a:r>
              <a:rPr dirty="0" baseline="47008" sz="975" spc="6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2244090">
              <a:lnSpc>
                <a:spcPts val="459"/>
              </a:lnSpc>
              <a:tabLst>
                <a:tab pos="2965450" algn="l"/>
                <a:tab pos="3692525" algn="l"/>
              </a:tabLst>
            </a:pPr>
            <a:r>
              <a:rPr dirty="0" sz="650" spc="-50">
                <a:latin typeface="Palatino Linotype"/>
                <a:cs typeface="Palatino Linotype"/>
              </a:rPr>
              <a:t>1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2</a:t>
            </a:r>
            <a:r>
              <a:rPr dirty="0" sz="650">
                <a:latin typeface="Palatino Linotype"/>
                <a:cs typeface="Palatino Linotype"/>
              </a:rPr>
              <a:t>	</a:t>
            </a:r>
            <a:r>
              <a:rPr dirty="0" sz="650" spc="-50">
                <a:latin typeface="Palatino Linotype"/>
                <a:cs typeface="Palatino Linotype"/>
              </a:rPr>
              <a:t>3</a:t>
            </a:r>
            <a:endParaRPr sz="650">
              <a:latin typeface="Palatino Linotype"/>
              <a:cs typeface="Palatino Linotype"/>
            </a:endParaRPr>
          </a:p>
          <a:p>
            <a:pPr marL="25400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5.</a:t>
            </a:r>
            <a:endParaRPr sz="1200">
              <a:latin typeface="Palatino Linotype"/>
              <a:cs typeface="Palatino Linotype"/>
            </a:endParaRPr>
          </a:p>
          <a:p>
            <a:pPr marL="25400">
              <a:lnSpc>
                <a:spcPct val="100000"/>
              </a:lnSpc>
              <a:spcBef>
                <a:spcPts val="950"/>
              </a:spcBef>
            </a:pPr>
            <a:r>
              <a:rPr dirty="0" sz="1200">
                <a:latin typeface="Times New Roman"/>
                <a:cs typeface="Times New Roman"/>
              </a:rPr>
              <a:t>Vì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P(x)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chia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 +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dư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nên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P(x)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chia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hết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cho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 +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55827" y="620442"/>
            <a:ext cx="5088255" cy="73901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algn="ctr" marL="443865">
              <a:lnSpc>
                <a:spcPct val="100000"/>
              </a:lnSpc>
              <a:spcBef>
                <a:spcPts val="850"/>
              </a:spcBef>
            </a:pPr>
            <a:r>
              <a:rPr dirty="0" sz="1200">
                <a:latin typeface="Symbol"/>
                <a:cs typeface="Symbol"/>
              </a:rPr>
              <a:t>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5b+2a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9</a:t>
            </a:r>
            <a:r>
              <a:rPr dirty="0" sz="1200" spc="30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780"/>
              </a:spcBef>
            </a:pPr>
            <a:r>
              <a:rPr dirty="0" sz="1200">
                <a:latin typeface="Palatino Linotype"/>
                <a:cs typeface="Palatino Linotype"/>
              </a:rPr>
              <a:t>Từ (1) và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sz="1250">
                <a:latin typeface="Cambria"/>
                <a:cs typeface="Cambria"/>
              </a:rPr>
              <a:t>8a</a:t>
            </a:r>
            <a:r>
              <a:rPr dirty="0" sz="1250" spc="100">
                <a:latin typeface="Cambria"/>
                <a:cs typeface="Cambria"/>
              </a:rPr>
              <a:t> </a:t>
            </a:r>
            <a:r>
              <a:rPr dirty="0" sz="1250">
                <a:latin typeface="Symbol"/>
                <a:cs typeface="Symbol"/>
              </a:rPr>
              <a:t></a:t>
            </a:r>
            <a:r>
              <a:rPr dirty="0" sz="1250" spc="-30">
                <a:latin typeface="Times New Roman"/>
                <a:cs typeface="Times New Roman"/>
              </a:rPr>
              <a:t> </a:t>
            </a:r>
            <a:r>
              <a:rPr dirty="0" sz="1250">
                <a:latin typeface="Cambria"/>
                <a:cs typeface="Cambria"/>
              </a:rPr>
              <a:t>16</a:t>
            </a:r>
            <a:r>
              <a:rPr dirty="0" sz="1250" spc="-15">
                <a:latin typeface="Cambria"/>
                <a:cs typeface="Cambria"/>
              </a:rPr>
              <a:t> </a:t>
            </a:r>
            <a:r>
              <a:rPr dirty="0" sz="1250">
                <a:latin typeface="Symbol"/>
                <a:cs typeface="Symbol"/>
              </a:rPr>
              <a:t></a:t>
            </a:r>
            <a:r>
              <a:rPr dirty="0" sz="1250" spc="-25">
                <a:latin typeface="Times New Roman"/>
                <a:cs typeface="Times New Roman"/>
              </a:rPr>
              <a:t> </a:t>
            </a:r>
            <a:r>
              <a:rPr dirty="0" sz="1250" spc="114">
                <a:latin typeface="Cambria"/>
                <a:cs typeface="Cambria"/>
              </a:rPr>
              <a:t>a</a:t>
            </a:r>
            <a:r>
              <a:rPr dirty="0" sz="1250" spc="100">
                <a:latin typeface="Cambria"/>
                <a:cs typeface="Cambria"/>
              </a:rPr>
              <a:t> </a:t>
            </a:r>
            <a:r>
              <a:rPr dirty="0" sz="1250">
                <a:latin typeface="Symbol"/>
                <a:cs typeface="Symbol"/>
              </a:rPr>
              <a:t></a:t>
            </a:r>
            <a:r>
              <a:rPr dirty="0" sz="1250" spc="-15">
                <a:latin typeface="Times New Roman"/>
                <a:cs typeface="Times New Roman"/>
              </a:rPr>
              <a:t> </a:t>
            </a:r>
            <a:r>
              <a:rPr dirty="0" sz="1250" spc="-50">
                <a:latin typeface="Cambria"/>
                <a:cs typeface="Cambria"/>
              </a:rPr>
              <a:t>2</a:t>
            </a:r>
            <a:endParaRPr sz="125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Palatino Linotype"/>
                <a:cs typeface="Palatino Linotype"/>
              </a:rPr>
              <a:t>Thay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baseline="4629" sz="1800" spc="82">
                <a:latin typeface="Symbol"/>
                <a:cs typeface="Symbol"/>
              </a:rPr>
              <a:t></a:t>
            </a:r>
            <a:r>
              <a:rPr dirty="0" baseline="4629" sz="1800" spc="-3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Cambria"/>
                <a:cs typeface="Cambria"/>
              </a:rPr>
              <a:t>5.b</a:t>
            </a:r>
            <a:r>
              <a:rPr dirty="0" baseline="4629" sz="1800" spc="-7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Cambria"/>
                <a:cs typeface="Cambria"/>
              </a:rPr>
              <a:t>4</a:t>
            </a:r>
            <a:r>
              <a:rPr dirty="0" baseline="4629" sz="1800" spc="112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37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Cambria"/>
                <a:cs typeface="Cambria"/>
              </a:rPr>
              <a:t>9</a:t>
            </a:r>
            <a:r>
              <a:rPr dirty="0" baseline="4629" sz="1800">
                <a:latin typeface="Cambria"/>
                <a:cs typeface="Cambria"/>
              </a:rPr>
              <a:t> </a:t>
            </a:r>
            <a:r>
              <a:rPr dirty="0" baseline="4629" sz="1800" spc="82">
                <a:latin typeface="Symbol"/>
                <a:cs typeface="Symbol"/>
              </a:rPr>
              <a:t></a:t>
            </a:r>
            <a:r>
              <a:rPr dirty="0" baseline="4629" sz="1800" spc="67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Cambria"/>
                <a:cs typeface="Cambria"/>
              </a:rPr>
              <a:t>b</a:t>
            </a:r>
            <a:r>
              <a:rPr dirty="0" baseline="4629" sz="1800" spc="112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Cambria"/>
                <a:cs typeface="Cambria"/>
              </a:rPr>
              <a:t>1</a:t>
            </a:r>
            <a:r>
              <a:rPr dirty="0" baseline="4629" sz="1800" spc="-112">
                <a:latin typeface="Cambria"/>
                <a:cs typeface="Cambria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81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7.</a:t>
            </a:r>
            <a:r>
              <a:rPr dirty="0" sz="1200" spc="135" b="1">
                <a:solidFill>
                  <a:srgbClr val="00AFEF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Theo định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lý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Bézout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>
                <a:latin typeface="Cambria"/>
                <a:cs typeface="Cambria"/>
              </a:rPr>
              <a:t>f(3)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Cambria"/>
                <a:cs typeface="Cambria"/>
              </a:rPr>
              <a:t>1;</a:t>
            </a:r>
            <a:r>
              <a:rPr dirty="0" sz="1200" spc="-14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f(4)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8</a:t>
            </a:r>
            <a:endParaRPr sz="120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220"/>
              </a:spcBef>
            </a:pPr>
            <a:r>
              <a:rPr dirty="0" baseline="2314" sz="1800">
                <a:latin typeface="Palatino Linotype"/>
                <a:cs typeface="Palatino Linotype"/>
              </a:rPr>
              <a:t>Đặt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dư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f(x) chia</a:t>
            </a:r>
            <a:r>
              <a:rPr dirty="0" baseline="2314" sz="1800" spc="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cho</a:t>
            </a:r>
            <a:r>
              <a:rPr dirty="0" baseline="2314" sz="1800" spc="232">
                <a:latin typeface="Palatino Linotype"/>
                <a:cs typeface="Palatino Linotype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35">
                <a:latin typeface="Cambria"/>
                <a:cs typeface="Cambria"/>
              </a:rPr>
              <a:t> </a:t>
            </a:r>
            <a:r>
              <a:rPr dirty="0" sz="1150" spc="50">
                <a:latin typeface="Symbol"/>
                <a:cs typeface="Symbol"/>
              </a:rPr>
              <a:t>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3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35">
                <a:latin typeface="Cambria"/>
                <a:cs typeface="Cambria"/>
              </a:rPr>
              <a:t> </a:t>
            </a:r>
            <a:r>
              <a:rPr dirty="0" sz="1150" spc="50">
                <a:latin typeface="Symbol"/>
                <a:cs typeface="Symbol"/>
              </a:rPr>
              <a:t>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ambria"/>
                <a:cs typeface="Cambria"/>
              </a:rPr>
              <a:t>4</a:t>
            </a:r>
            <a:r>
              <a:rPr dirty="0" baseline="-4629" sz="2700" spc="-89">
                <a:latin typeface="Symbol"/>
                <a:cs typeface="Symbol"/>
              </a:rPr>
              <a:t></a:t>
            </a:r>
            <a:r>
              <a:rPr dirty="0" baseline="-4629" sz="2700" spc="-30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là ax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+ </a:t>
            </a:r>
            <a:r>
              <a:rPr dirty="0" baseline="2314" sz="1800" spc="-75">
                <a:latin typeface="Palatino Linotype"/>
                <a:cs typeface="Palatino Linotype"/>
              </a:rPr>
              <a:t>b</a:t>
            </a:r>
            <a:endParaRPr baseline="2314" sz="18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585"/>
              </a:spcBef>
            </a:pPr>
            <a:r>
              <a:rPr dirty="0" baseline="2314" sz="1800">
                <a:latin typeface="Palatino Linotype"/>
                <a:cs typeface="Palatino Linotype"/>
              </a:rPr>
              <a:t>Suy</a:t>
            </a:r>
            <a:r>
              <a:rPr dirty="0" baseline="2314" sz="1800" spc="30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ra</a:t>
            </a:r>
            <a:r>
              <a:rPr dirty="0" baseline="2314" sz="1800" spc="277">
                <a:latin typeface="Palatino Linotype"/>
                <a:cs typeface="Palatino Linotype"/>
              </a:rPr>
              <a:t> </a:t>
            </a:r>
            <a:r>
              <a:rPr dirty="0" sz="1150" spc="70">
                <a:latin typeface="Cambria"/>
                <a:cs typeface="Cambria"/>
              </a:rPr>
              <a:t>f</a:t>
            </a:r>
            <a:r>
              <a:rPr dirty="0" sz="1150">
                <a:latin typeface="Cambria"/>
                <a:cs typeface="Cambria"/>
              </a:rPr>
              <a:t> </a:t>
            </a:r>
            <a:r>
              <a:rPr dirty="0" baseline="-4629" sz="2700" spc="-44">
                <a:latin typeface="Symbol"/>
                <a:cs typeface="Symbol"/>
              </a:rPr>
              <a:t></a:t>
            </a:r>
            <a:r>
              <a:rPr dirty="0" sz="1150" spc="-30">
                <a:latin typeface="Cambria"/>
                <a:cs typeface="Cambria"/>
              </a:rPr>
              <a:t>x</a:t>
            </a:r>
            <a:r>
              <a:rPr dirty="0" baseline="-4629" sz="2700" spc="-44">
                <a:latin typeface="Symbol"/>
                <a:cs typeface="Symbol"/>
              </a:rPr>
              <a:t></a:t>
            </a:r>
            <a:r>
              <a:rPr dirty="0" baseline="-4629" sz="2700" spc="-104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3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4</a:t>
            </a:r>
            <a:r>
              <a:rPr dirty="0" baseline="-4629" sz="2700">
                <a:latin typeface="Symbol"/>
                <a:cs typeface="Symbol"/>
              </a:rPr>
              <a:t></a:t>
            </a:r>
            <a:r>
              <a:rPr dirty="0" sz="1150">
                <a:latin typeface="Cambria"/>
                <a:cs typeface="Cambria"/>
              </a:rPr>
              <a:t>3x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130">
                <a:latin typeface="Cambria"/>
                <a:cs typeface="Cambria"/>
              </a:rPr>
              <a:t>ax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 spc="85">
                <a:latin typeface="Cambria"/>
                <a:cs typeface="Cambria"/>
              </a:rPr>
              <a:t>b</a:t>
            </a:r>
            <a:r>
              <a:rPr dirty="0" baseline="2314" sz="1800" spc="127">
                <a:latin typeface="Palatino Linotype"/>
                <a:cs typeface="Palatino Linotype"/>
              </a:rPr>
              <a:t>.</a:t>
            </a:r>
            <a:endParaRPr baseline="2314" sz="1800">
              <a:latin typeface="Palatino Linotype"/>
              <a:cs typeface="Palatino Linotype"/>
            </a:endParaRPr>
          </a:p>
          <a:p>
            <a:pPr marL="292100" indent="-228600">
              <a:lnSpc>
                <a:spcPct val="100000"/>
              </a:lnSpc>
              <a:spcBef>
                <a:spcPts val="585"/>
              </a:spcBef>
              <a:buFont typeface="Symbol"/>
              <a:buChar char=""/>
              <a:tabLst>
                <a:tab pos="292100" algn="l"/>
              </a:tabLst>
            </a:pPr>
            <a:r>
              <a:rPr dirty="0" baseline="2314" sz="1800">
                <a:latin typeface="Palatino Linotype"/>
                <a:cs typeface="Palatino Linotype"/>
              </a:rPr>
              <a:t>Với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x</a:t>
            </a:r>
            <a:r>
              <a:rPr dirty="0" baseline="2314" sz="1800" spc="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=-</a:t>
            </a:r>
            <a:r>
              <a:rPr dirty="0" baseline="2314" sz="1800" spc="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3</a:t>
            </a:r>
            <a:r>
              <a:rPr dirty="0" baseline="2314" sz="1800" spc="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ta</a:t>
            </a:r>
            <a:r>
              <a:rPr dirty="0" baseline="2314" sz="1800" spc="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có:</a:t>
            </a:r>
            <a:r>
              <a:rPr dirty="0" baseline="2314" sz="1800" spc="195">
                <a:latin typeface="Palatino Linotype"/>
                <a:cs typeface="Palatino Linotype"/>
              </a:rPr>
              <a:t> </a:t>
            </a:r>
            <a:r>
              <a:rPr dirty="0" sz="1150" spc="60">
                <a:latin typeface="Cambria"/>
                <a:cs typeface="Cambria"/>
              </a:rPr>
              <a:t>1</a:t>
            </a:r>
            <a:r>
              <a:rPr dirty="0" sz="1150" spc="2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baseline="-4629" sz="2700" spc="-15">
                <a:latin typeface="Symbol"/>
                <a:cs typeface="Symbol"/>
              </a:rPr>
              <a:t></a:t>
            </a:r>
            <a:r>
              <a:rPr dirty="0" sz="1150" spc="-10">
                <a:latin typeface="Symbol"/>
                <a:cs typeface="Symbol"/>
              </a:rPr>
              <a:t></a:t>
            </a:r>
            <a:r>
              <a:rPr dirty="0" sz="1150" spc="-10">
                <a:latin typeface="Cambria"/>
                <a:cs typeface="Cambria"/>
              </a:rPr>
              <a:t>3</a:t>
            </a:r>
            <a:r>
              <a:rPr dirty="0" sz="1150" spc="-3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Cambria"/>
                <a:cs typeface="Cambria"/>
              </a:rPr>
              <a:t>3</a:t>
            </a:r>
            <a:r>
              <a:rPr dirty="0" baseline="-4629" sz="2700" spc="-15">
                <a:latin typeface="Symbol"/>
                <a:cs typeface="Symbol"/>
              </a:rPr>
              <a:t></a:t>
            </a:r>
            <a:r>
              <a:rPr dirty="0" sz="1150" spc="-10">
                <a:latin typeface="Symbol"/>
                <a:cs typeface="Symbol"/>
              </a:rPr>
              <a:t></a:t>
            </a:r>
            <a:r>
              <a:rPr dirty="0" sz="1150" spc="-10">
                <a:latin typeface="Cambria"/>
                <a:cs typeface="Cambria"/>
              </a:rPr>
              <a:t>3</a:t>
            </a:r>
            <a:r>
              <a:rPr dirty="0" sz="1150" spc="-3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Cambria"/>
                <a:cs typeface="Cambria"/>
              </a:rPr>
              <a:t>4</a:t>
            </a:r>
            <a:r>
              <a:rPr dirty="0" baseline="-4629" sz="2700" spc="-30">
                <a:latin typeface="Symbol"/>
                <a:cs typeface="Symbol"/>
              </a:rPr>
              <a:t></a:t>
            </a:r>
            <a:r>
              <a:rPr dirty="0" sz="1150" spc="-20">
                <a:latin typeface="Cambria"/>
                <a:cs typeface="Cambria"/>
              </a:rPr>
              <a:t>3</a:t>
            </a:r>
            <a:r>
              <a:rPr dirty="0" baseline="-4629" sz="2700" spc="-30">
                <a:latin typeface="Symbol"/>
                <a:cs typeface="Symbol"/>
              </a:rPr>
              <a:t></a:t>
            </a:r>
            <a:r>
              <a:rPr dirty="0" sz="1150" spc="-20">
                <a:latin typeface="Symbol"/>
                <a:cs typeface="Symbol"/>
              </a:rPr>
              <a:t></a:t>
            </a:r>
            <a:r>
              <a:rPr dirty="0" sz="1150" spc="-20">
                <a:latin typeface="Cambria"/>
                <a:cs typeface="Cambria"/>
              </a:rPr>
              <a:t>3</a:t>
            </a:r>
            <a:r>
              <a:rPr dirty="0" baseline="-4629" sz="2700" spc="-30">
                <a:latin typeface="Symbol"/>
                <a:cs typeface="Symbol"/>
              </a:rPr>
              <a:t></a:t>
            </a:r>
            <a:r>
              <a:rPr dirty="0" baseline="-4629" sz="2700" spc="-247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a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sz="1150">
                <a:latin typeface="Cambria"/>
                <a:cs typeface="Cambria"/>
              </a:rPr>
              <a:t>3</a:t>
            </a:r>
            <a:r>
              <a:rPr dirty="0" baseline="-4629" sz="2700">
                <a:latin typeface="Symbol"/>
                <a:cs typeface="Symbol"/>
              </a:rPr>
              <a:t></a:t>
            </a:r>
            <a:r>
              <a:rPr dirty="0" baseline="-4629" sz="2700" spc="-254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Cambria"/>
                <a:cs typeface="Cambria"/>
              </a:rPr>
              <a:t>b</a:t>
            </a:r>
            <a:r>
              <a:rPr dirty="0" sz="1150" spc="35">
                <a:latin typeface="Cambria"/>
                <a:cs typeface="Cambria"/>
              </a:rPr>
              <a:t> </a:t>
            </a:r>
            <a:r>
              <a:rPr dirty="0" baseline="4629" sz="1800" spc="82">
                <a:latin typeface="Symbol"/>
                <a:cs typeface="Symbol"/>
              </a:rPr>
              <a:t></a:t>
            </a:r>
            <a:r>
              <a:rPr dirty="0" baseline="4629" sz="1800" spc="75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Cambria"/>
                <a:cs typeface="Cambria"/>
              </a:rPr>
              <a:t>b</a:t>
            </a:r>
            <a:r>
              <a:rPr dirty="0" baseline="4629" sz="1800" spc="7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Cambria"/>
                <a:cs typeface="Cambria"/>
              </a:rPr>
              <a:t>3a</a:t>
            </a:r>
            <a:r>
              <a:rPr dirty="0" baseline="4629" sz="1800" spc="179">
                <a:latin typeface="Cambria"/>
                <a:cs typeface="Cambria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Cambria"/>
                <a:cs typeface="Cambria"/>
              </a:rPr>
              <a:t>1</a:t>
            </a:r>
            <a:r>
              <a:rPr dirty="0" baseline="4629" sz="1800" spc="-150">
                <a:latin typeface="Cambria"/>
                <a:cs typeface="Cambria"/>
              </a:rPr>
              <a:t> </a:t>
            </a:r>
            <a:r>
              <a:rPr dirty="0" baseline="2314" sz="1800" spc="-37">
                <a:latin typeface="Palatino Linotype"/>
                <a:cs typeface="Palatino Linotype"/>
              </a:rPr>
              <a:t>(1)</a:t>
            </a:r>
            <a:endParaRPr baseline="2314" sz="1800">
              <a:latin typeface="Palatino Linotype"/>
              <a:cs typeface="Palatino Linotype"/>
            </a:endParaRPr>
          </a:p>
          <a:p>
            <a:pPr marL="63500" marR="479425" indent="228600">
              <a:lnSpc>
                <a:spcPts val="2690"/>
              </a:lnSpc>
              <a:spcBef>
                <a:spcPts val="229"/>
              </a:spcBef>
              <a:buFont typeface="Symbol"/>
              <a:buChar char=""/>
              <a:tabLst>
                <a:tab pos="292100" algn="l"/>
              </a:tabLst>
            </a:pPr>
            <a:r>
              <a:rPr dirty="0" baseline="2314" sz="1800">
                <a:latin typeface="Palatino Linotype"/>
                <a:cs typeface="Palatino Linotype"/>
              </a:rPr>
              <a:t>Với</a:t>
            </a:r>
            <a:r>
              <a:rPr dirty="0" baseline="2314" sz="1800" spc="-3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x =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4</a:t>
            </a:r>
            <a:r>
              <a:rPr dirty="0" baseline="2314" sz="1800" spc="-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ta có:</a:t>
            </a:r>
            <a:r>
              <a:rPr dirty="0" baseline="2314" sz="1800" spc="217">
                <a:latin typeface="Palatino Linotype"/>
                <a:cs typeface="Palatino Linotype"/>
              </a:rPr>
              <a:t> </a:t>
            </a:r>
            <a:r>
              <a:rPr dirty="0" sz="1150" spc="60">
                <a:latin typeface="Cambria"/>
                <a:cs typeface="Cambria"/>
              </a:rPr>
              <a:t>8</a:t>
            </a:r>
            <a:r>
              <a:rPr dirty="0" sz="1150" spc="6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4</a:t>
            </a:r>
            <a:r>
              <a:rPr dirty="0" sz="1150" spc="1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Cambria"/>
                <a:cs typeface="Cambria"/>
              </a:rPr>
              <a:t>3</a:t>
            </a:r>
            <a:r>
              <a:rPr dirty="0" baseline="-4629" sz="2700" spc="-15">
                <a:latin typeface="Symbol"/>
                <a:cs typeface="Symbol"/>
              </a:rPr>
              <a:t></a:t>
            </a:r>
            <a:r>
              <a:rPr dirty="0" sz="1150" spc="-10">
                <a:latin typeface="Cambria"/>
                <a:cs typeface="Cambria"/>
              </a:rPr>
              <a:t>4</a:t>
            </a:r>
            <a:r>
              <a:rPr dirty="0" sz="1150" spc="1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Cambria"/>
                <a:cs typeface="Cambria"/>
              </a:rPr>
              <a:t>4</a:t>
            </a:r>
            <a:r>
              <a:rPr dirty="0" baseline="-4629" sz="2700" spc="-30">
                <a:latin typeface="Symbol"/>
                <a:cs typeface="Symbol"/>
              </a:rPr>
              <a:t></a:t>
            </a:r>
            <a:r>
              <a:rPr dirty="0" sz="1150" spc="-20">
                <a:latin typeface="Cambria"/>
                <a:cs typeface="Cambria"/>
              </a:rPr>
              <a:t>3.4</a:t>
            </a:r>
            <a:r>
              <a:rPr dirty="0" baseline="-4629" sz="2700" spc="-30">
                <a:latin typeface="Symbol"/>
                <a:cs typeface="Symbol"/>
              </a:rPr>
              <a:t></a:t>
            </a:r>
            <a:r>
              <a:rPr dirty="0" baseline="-4629" sz="2700" spc="-254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80">
                <a:latin typeface="Cambria"/>
                <a:cs typeface="Cambria"/>
              </a:rPr>
              <a:t>a.4</a:t>
            </a:r>
            <a:r>
              <a:rPr dirty="0" sz="1150" spc="1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80">
                <a:latin typeface="Cambria"/>
                <a:cs typeface="Cambria"/>
              </a:rPr>
              <a:t>b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90">
                <a:latin typeface="Symbol"/>
                <a:cs typeface="Symbol"/>
              </a:rPr>
              <a:t>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sz="1150" spc="80">
                <a:latin typeface="Cambria"/>
                <a:cs typeface="Cambria"/>
              </a:rPr>
              <a:t>b</a:t>
            </a:r>
            <a:r>
              <a:rPr dirty="0" sz="1150" spc="2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70">
                <a:latin typeface="Cambria"/>
                <a:cs typeface="Cambria"/>
              </a:rPr>
              <a:t>4a</a:t>
            </a:r>
            <a:r>
              <a:rPr dirty="0" sz="1150" spc="12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8</a:t>
            </a:r>
            <a:r>
              <a:rPr dirty="0" sz="1150" spc="-80">
                <a:latin typeface="Cambria"/>
                <a:cs typeface="Cambria"/>
              </a:rPr>
              <a:t> </a:t>
            </a:r>
            <a:r>
              <a:rPr dirty="0" baseline="2314" sz="1800" spc="-37">
                <a:latin typeface="Palatino Linotype"/>
                <a:cs typeface="Palatino Linotype"/>
              </a:rPr>
              <a:t>(2) 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 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 7a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7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baseline="2222" sz="1875">
                <a:latin typeface="Symbol"/>
                <a:cs typeface="Symbol"/>
              </a:rPr>
              <a:t></a:t>
            </a:r>
            <a:r>
              <a:rPr dirty="0" baseline="2222" sz="1875" spc="-37">
                <a:latin typeface="Times New Roman"/>
                <a:cs typeface="Times New Roman"/>
              </a:rPr>
              <a:t> </a:t>
            </a:r>
            <a:r>
              <a:rPr dirty="0" baseline="2222" sz="1875" spc="142">
                <a:latin typeface="Cambria"/>
                <a:cs typeface="Cambria"/>
              </a:rPr>
              <a:t>a</a:t>
            </a:r>
            <a:r>
              <a:rPr dirty="0" baseline="2222" sz="1875" spc="135">
                <a:latin typeface="Cambria"/>
                <a:cs typeface="Cambria"/>
              </a:rPr>
              <a:t> </a:t>
            </a:r>
            <a:r>
              <a:rPr dirty="0" baseline="2222" sz="1875">
                <a:latin typeface="Symbol"/>
                <a:cs typeface="Symbol"/>
              </a:rPr>
              <a:t></a:t>
            </a:r>
            <a:r>
              <a:rPr dirty="0" baseline="2222" sz="1875" spc="-60">
                <a:latin typeface="Times New Roman"/>
                <a:cs typeface="Times New Roman"/>
              </a:rPr>
              <a:t> </a:t>
            </a:r>
            <a:r>
              <a:rPr dirty="0" baseline="2222" sz="1875">
                <a:latin typeface="Cambria"/>
                <a:cs typeface="Cambria"/>
              </a:rPr>
              <a:t>1</a:t>
            </a:r>
            <a:r>
              <a:rPr dirty="0" baseline="2222" sz="1875" spc="82">
                <a:latin typeface="Cambria"/>
                <a:cs typeface="Cambria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thay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 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</a:t>
            </a:r>
            <a:r>
              <a:rPr dirty="0" sz="1200" spc="-25">
                <a:latin typeface="Palatino Linotype"/>
                <a:cs typeface="Palatino Linotype"/>
              </a:rPr>
              <a:t>4.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ts val="2135"/>
              </a:lnSpc>
            </a:pPr>
            <a:r>
              <a:rPr dirty="0" baseline="2314" sz="1800">
                <a:latin typeface="Palatino Linotype"/>
                <a:cs typeface="Palatino Linotype"/>
              </a:rPr>
              <a:t>Từ</a:t>
            </a:r>
            <a:r>
              <a:rPr dirty="0" baseline="2314" sz="1800" spc="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đó</a:t>
            </a:r>
            <a:r>
              <a:rPr dirty="0" baseline="2314" sz="1800" spc="1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ta</a:t>
            </a:r>
            <a:r>
              <a:rPr dirty="0" baseline="2314" sz="1800" spc="22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được:</a:t>
            </a:r>
            <a:r>
              <a:rPr dirty="0" baseline="2314" sz="1800" spc="262">
                <a:latin typeface="Palatino Linotype"/>
                <a:cs typeface="Palatino Linotype"/>
              </a:rPr>
              <a:t> </a:t>
            </a:r>
            <a:r>
              <a:rPr dirty="0" sz="1150" spc="70">
                <a:latin typeface="Cambria"/>
                <a:cs typeface="Cambria"/>
              </a:rPr>
              <a:t>f</a:t>
            </a:r>
            <a:r>
              <a:rPr dirty="0" sz="1150" spc="-10">
                <a:latin typeface="Cambria"/>
                <a:cs typeface="Cambria"/>
              </a:rPr>
              <a:t> </a:t>
            </a:r>
            <a:r>
              <a:rPr dirty="0" baseline="-4629" sz="2700" spc="-52">
                <a:latin typeface="Symbol"/>
                <a:cs typeface="Symbol"/>
              </a:rPr>
              <a:t></a:t>
            </a:r>
            <a:r>
              <a:rPr dirty="0" sz="1150" spc="-35">
                <a:latin typeface="Cambria"/>
                <a:cs typeface="Cambria"/>
              </a:rPr>
              <a:t>x</a:t>
            </a:r>
            <a:r>
              <a:rPr dirty="0" baseline="-4629" sz="2700" spc="-52">
                <a:latin typeface="Symbol"/>
                <a:cs typeface="Symbol"/>
              </a:rPr>
              <a:t></a:t>
            </a:r>
            <a:r>
              <a:rPr dirty="0" baseline="-4629" sz="2700" spc="-12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3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4</a:t>
            </a:r>
            <a:r>
              <a:rPr dirty="0" baseline="-4629" sz="2700">
                <a:latin typeface="Symbol"/>
                <a:cs typeface="Symbol"/>
              </a:rPr>
              <a:t></a:t>
            </a:r>
            <a:r>
              <a:rPr dirty="0" sz="1150">
                <a:latin typeface="Cambria"/>
                <a:cs typeface="Cambria"/>
              </a:rPr>
              <a:t>3x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145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Cambria"/>
                <a:cs typeface="Cambria"/>
              </a:rPr>
              <a:t>4</a:t>
            </a:r>
            <a:r>
              <a:rPr dirty="0" sz="1150" spc="35">
                <a:latin typeface="Cambria"/>
                <a:cs typeface="Cambria"/>
              </a:rPr>
              <a:t> </a:t>
            </a:r>
            <a:r>
              <a:rPr dirty="0" baseline="2314" sz="1800" spc="-75">
                <a:latin typeface="Palatino Linotype"/>
                <a:cs typeface="Palatino Linotype"/>
              </a:rPr>
              <a:t>.</a:t>
            </a:r>
            <a:endParaRPr baseline="2314" sz="18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1295"/>
              </a:spcBef>
            </a:pP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340">
                <a:latin typeface="Palatino Linotype"/>
                <a:cs typeface="Palatino Linotype"/>
              </a:rPr>
              <a:t> </a:t>
            </a:r>
            <a:r>
              <a:rPr dirty="0" sz="1200" spc="80" i="1">
                <a:latin typeface="Arial"/>
                <a:cs typeface="Arial"/>
              </a:rPr>
              <a:t>f</a:t>
            </a:r>
            <a:r>
              <a:rPr dirty="0" sz="1200" spc="-185" i="1">
                <a:latin typeface="Arial"/>
                <a:cs typeface="Arial"/>
              </a:rPr>
              <a:t> </a:t>
            </a:r>
            <a:r>
              <a:rPr dirty="0" sz="1200">
                <a:latin typeface="Cambria"/>
                <a:cs typeface="Cambria"/>
              </a:rPr>
              <a:t>(</a:t>
            </a:r>
            <a:r>
              <a:rPr dirty="0" sz="1200" i="1">
                <a:latin typeface="Arial"/>
                <a:cs typeface="Arial"/>
              </a:rPr>
              <a:t>x</a:t>
            </a:r>
            <a:r>
              <a:rPr dirty="0" sz="1200">
                <a:latin typeface="Cambria"/>
                <a:cs typeface="Cambria"/>
              </a:rPr>
              <a:t>)</a:t>
            </a:r>
            <a:r>
              <a:rPr dirty="0" sz="1200" spc="9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55">
                <a:latin typeface="Cambria"/>
                <a:cs typeface="Cambria"/>
              </a:rPr>
              <a:t>3</a:t>
            </a:r>
            <a:r>
              <a:rPr dirty="0" sz="1200" spc="55" i="1">
                <a:latin typeface="Arial"/>
                <a:cs typeface="Arial"/>
              </a:rPr>
              <a:t>x</a:t>
            </a:r>
            <a:r>
              <a:rPr dirty="0" baseline="43650" sz="1050" spc="82">
                <a:latin typeface="Cambria"/>
                <a:cs typeface="Cambria"/>
              </a:rPr>
              <a:t>3</a:t>
            </a:r>
            <a:r>
              <a:rPr dirty="0" baseline="43650" sz="1050" spc="397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55">
                <a:latin typeface="Cambria"/>
                <a:cs typeface="Cambria"/>
              </a:rPr>
              <a:t>3</a:t>
            </a:r>
            <a:r>
              <a:rPr dirty="0" sz="1200" spc="55" i="1">
                <a:latin typeface="Arial"/>
                <a:cs typeface="Arial"/>
              </a:rPr>
              <a:t>x</a:t>
            </a:r>
            <a:r>
              <a:rPr dirty="0" baseline="43650" sz="1050" spc="82">
                <a:latin typeface="Cambria"/>
                <a:cs typeface="Cambria"/>
              </a:rPr>
              <a:t>2</a:t>
            </a:r>
            <a:r>
              <a:rPr dirty="0" baseline="43650" sz="1050" spc="40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35</a:t>
            </a:r>
            <a:r>
              <a:rPr dirty="0" sz="1200" i="1">
                <a:latin typeface="Arial"/>
                <a:cs typeface="Arial"/>
              </a:rPr>
              <a:t>x</a:t>
            </a:r>
            <a:r>
              <a:rPr dirty="0" sz="1200" spc="70" i="1">
                <a:latin typeface="Arial"/>
                <a:cs typeface="Arial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4</a:t>
            </a:r>
            <a:r>
              <a:rPr dirty="0" sz="1200" spc="-90">
                <a:latin typeface="Cambria"/>
                <a:cs typeface="Cambria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8.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830"/>
              </a:spcBef>
            </a:pP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lý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Bézout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P(2)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6.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575"/>
              </a:spcBef>
            </a:pPr>
            <a:r>
              <a:rPr dirty="0" baseline="4629" sz="1800">
                <a:latin typeface="Palatino Linotype"/>
                <a:cs typeface="Palatino Linotype"/>
              </a:rPr>
              <a:t>Do</a:t>
            </a:r>
            <a:r>
              <a:rPr dirty="0" baseline="4629" sz="1800" spc="6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đó</a:t>
            </a:r>
            <a:r>
              <a:rPr dirty="0" baseline="4629" sz="1800" spc="6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ta</a:t>
            </a:r>
            <a:r>
              <a:rPr dirty="0" baseline="4629" sz="1800" spc="6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đặt</a:t>
            </a:r>
            <a:r>
              <a:rPr dirty="0" baseline="4629" sz="1800" spc="359">
                <a:latin typeface="Palatino Linotype"/>
                <a:cs typeface="Palatino Linotype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P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sz="1550">
                <a:latin typeface="Symbol"/>
                <a:cs typeface="Symbol"/>
              </a:rPr>
              <a:t></a:t>
            </a:r>
            <a:r>
              <a:rPr dirty="0" sz="1550" spc="-110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</a:t>
            </a:r>
            <a:r>
              <a:rPr dirty="0" baseline="4830" sz="1725" spc="-37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Times New Roman"/>
                <a:cs typeface="Times New Roman"/>
              </a:rPr>
              <a:t>d</a:t>
            </a:r>
            <a:r>
              <a:rPr dirty="0" baseline="4830" sz="1725" spc="-104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</a:t>
            </a:r>
            <a:r>
              <a:rPr dirty="0" baseline="4830" sz="1725" spc="-135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Times New Roman"/>
                <a:cs typeface="Times New Roman"/>
              </a:rPr>
              <a:t>c</a:t>
            </a:r>
            <a:r>
              <a:rPr dirty="0" sz="1550" spc="50">
                <a:latin typeface="Symbol"/>
                <a:cs typeface="Symbol"/>
              </a:rPr>
              <a:t></a:t>
            </a:r>
            <a:r>
              <a:rPr dirty="0" baseline="4830" sz="1725" spc="75">
                <a:latin typeface="Times New Roman"/>
                <a:cs typeface="Times New Roman"/>
              </a:rPr>
              <a:t>x</a:t>
            </a:r>
            <a:r>
              <a:rPr dirty="0" baseline="4830" sz="1725" spc="-120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Symbol"/>
                <a:cs typeface="Symbol"/>
              </a:rPr>
              <a:t></a:t>
            </a:r>
            <a:r>
              <a:rPr dirty="0" baseline="4830" sz="1725">
                <a:latin typeface="Times New Roman"/>
                <a:cs typeface="Times New Roman"/>
              </a:rPr>
              <a:t>1</a:t>
            </a:r>
            <a:r>
              <a:rPr dirty="0" sz="1550">
                <a:latin typeface="Symbol"/>
                <a:cs typeface="Symbol"/>
              </a:rPr>
              <a:t></a:t>
            </a:r>
            <a:r>
              <a:rPr dirty="0" sz="1550" spc="-180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</a:t>
            </a:r>
            <a:r>
              <a:rPr dirty="0" baseline="4830" sz="1725" spc="-104">
                <a:latin typeface="Times New Roman"/>
                <a:cs typeface="Times New Roman"/>
              </a:rPr>
              <a:t> </a:t>
            </a:r>
            <a:r>
              <a:rPr dirty="0" baseline="4830" sz="1725" spc="82">
                <a:latin typeface="Times New Roman"/>
                <a:cs typeface="Times New Roman"/>
              </a:rPr>
              <a:t>b</a:t>
            </a:r>
            <a:r>
              <a:rPr dirty="0" sz="1550" spc="55">
                <a:latin typeface="Symbol"/>
                <a:cs typeface="Symbol"/>
              </a:rPr>
              <a:t></a:t>
            </a:r>
            <a:r>
              <a:rPr dirty="0" baseline="4830" sz="1725" spc="82">
                <a:latin typeface="Times New Roman"/>
                <a:cs typeface="Times New Roman"/>
              </a:rPr>
              <a:t>x</a:t>
            </a:r>
            <a:r>
              <a:rPr dirty="0" baseline="4830" sz="1725" spc="-120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Symbol"/>
                <a:cs typeface="Symbol"/>
              </a:rPr>
              <a:t></a:t>
            </a:r>
            <a:r>
              <a:rPr dirty="0" baseline="4830" sz="1725">
                <a:latin typeface="Times New Roman"/>
                <a:cs typeface="Times New Roman"/>
              </a:rPr>
              <a:t>1</a:t>
            </a:r>
            <a:r>
              <a:rPr dirty="0" sz="1550">
                <a:latin typeface="Symbol"/>
                <a:cs typeface="Symbol"/>
              </a:rPr>
              <a:t>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20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</a:t>
            </a:r>
            <a:r>
              <a:rPr dirty="0" baseline="4830" sz="1725" spc="-150">
                <a:latin typeface="Times New Roman"/>
                <a:cs typeface="Times New Roman"/>
              </a:rPr>
              <a:t> </a:t>
            </a:r>
            <a:r>
              <a:rPr dirty="0" baseline="4830" sz="1725" spc="-37">
                <a:latin typeface="Times New Roman"/>
                <a:cs typeface="Times New Roman"/>
              </a:rPr>
              <a:t>2</a:t>
            </a:r>
            <a:r>
              <a:rPr dirty="0" sz="1550" spc="-25">
                <a:latin typeface="Symbol"/>
                <a:cs typeface="Symbol"/>
              </a:rPr>
              <a:t></a:t>
            </a:r>
            <a:r>
              <a:rPr dirty="0" sz="1550" spc="-170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</a:t>
            </a:r>
            <a:r>
              <a:rPr dirty="0" baseline="4830" sz="1725" spc="-157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Times New Roman"/>
                <a:cs typeface="Times New Roman"/>
              </a:rPr>
              <a:t>a</a:t>
            </a:r>
            <a:r>
              <a:rPr dirty="0" sz="1550" spc="60">
                <a:latin typeface="Symbol"/>
                <a:cs typeface="Symbol"/>
              </a:rPr>
              <a:t></a:t>
            </a:r>
            <a:r>
              <a:rPr dirty="0" baseline="4830" sz="1725" spc="89">
                <a:latin typeface="Times New Roman"/>
                <a:cs typeface="Times New Roman"/>
              </a:rPr>
              <a:t>x</a:t>
            </a:r>
            <a:r>
              <a:rPr dirty="0" baseline="4830" sz="1725" spc="-127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Symbol"/>
                <a:cs typeface="Symbol"/>
              </a:rPr>
              <a:t></a:t>
            </a:r>
            <a:r>
              <a:rPr dirty="0" baseline="4830" sz="1725">
                <a:latin typeface="Times New Roman"/>
                <a:cs typeface="Times New Roman"/>
              </a:rPr>
              <a:t>1</a:t>
            </a:r>
            <a:r>
              <a:rPr dirty="0" sz="1550">
                <a:latin typeface="Symbol"/>
                <a:cs typeface="Symbol"/>
              </a:rPr>
              <a:t>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35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</a:t>
            </a:r>
            <a:r>
              <a:rPr dirty="0" baseline="4830" sz="1725" spc="-135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2</a:t>
            </a:r>
            <a:r>
              <a:rPr dirty="0" sz="1550">
                <a:latin typeface="Symbol"/>
                <a:cs typeface="Symbol"/>
              </a:rPr>
              <a:t>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42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</a:t>
            </a:r>
            <a:r>
              <a:rPr dirty="0" baseline="4830" sz="1725" spc="-165">
                <a:latin typeface="Times New Roman"/>
                <a:cs typeface="Times New Roman"/>
              </a:rPr>
              <a:t> </a:t>
            </a:r>
            <a:r>
              <a:rPr dirty="0" baseline="4830" sz="1725" spc="-37">
                <a:latin typeface="Times New Roman"/>
                <a:cs typeface="Times New Roman"/>
              </a:rPr>
              <a:t>3</a:t>
            </a:r>
            <a:r>
              <a:rPr dirty="0" sz="1550" spc="-25">
                <a:latin typeface="Symbol"/>
                <a:cs typeface="Symbol"/>
              </a:rPr>
              <a:t></a:t>
            </a:r>
            <a:endParaRPr sz="1550">
              <a:latin typeface="Symbol"/>
              <a:cs typeface="Symbol"/>
            </a:endParaRPr>
          </a:p>
          <a:p>
            <a:pPr marL="63500">
              <a:lnSpc>
                <a:spcPct val="100000"/>
              </a:lnSpc>
              <a:spcBef>
                <a:spcPts val="1000"/>
              </a:spcBef>
            </a:pP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6</a:t>
            </a:r>
            <a:endParaRPr sz="1200">
              <a:latin typeface="Palatino Linotype"/>
              <a:cs typeface="Palatino Linotype"/>
            </a:endParaRPr>
          </a:p>
          <a:p>
            <a:pPr marL="86995">
              <a:lnSpc>
                <a:spcPts val="1770"/>
              </a:lnSpc>
              <a:spcBef>
                <a:spcPts val="275"/>
              </a:spcBef>
            </a:pPr>
            <a:r>
              <a:rPr dirty="0" sz="1150">
                <a:latin typeface="Cambria"/>
                <a:cs typeface="Cambria"/>
              </a:rPr>
              <a:t>P(x)</a:t>
            </a:r>
            <a:r>
              <a:rPr dirty="0" sz="1150" spc="8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6</a:t>
            </a:r>
            <a:r>
              <a:rPr dirty="0" sz="1150" spc="-1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95">
                <a:latin typeface="Cambria"/>
                <a:cs typeface="Cambria"/>
              </a:rPr>
              <a:t>c</a:t>
            </a:r>
            <a:r>
              <a:rPr dirty="0" baseline="-4629" sz="2700" spc="142">
                <a:latin typeface="Symbol"/>
                <a:cs typeface="Symbol"/>
              </a:rPr>
              <a:t></a:t>
            </a:r>
            <a:r>
              <a:rPr dirty="0" sz="1150" spc="95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 spc="-95">
                <a:latin typeface="Cambria"/>
                <a:cs typeface="Cambria"/>
              </a:rPr>
              <a:t>1</a:t>
            </a:r>
            <a:r>
              <a:rPr dirty="0" baseline="-4629" sz="2700" spc="-142">
                <a:latin typeface="Symbol"/>
                <a:cs typeface="Symbol"/>
              </a:rPr>
              <a:t></a:t>
            </a:r>
            <a:r>
              <a:rPr dirty="0" baseline="-4629" sz="2700" spc="-232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45">
                <a:latin typeface="Times New Roman"/>
                <a:cs typeface="Times New Roman"/>
              </a:rPr>
              <a:t> </a:t>
            </a:r>
            <a:r>
              <a:rPr dirty="0" sz="1150" spc="80">
                <a:latin typeface="Cambria"/>
                <a:cs typeface="Cambria"/>
              </a:rPr>
              <a:t>b</a:t>
            </a:r>
            <a:r>
              <a:rPr dirty="0" baseline="-4629" sz="2700" spc="120">
                <a:latin typeface="Symbol"/>
                <a:cs typeface="Symbol"/>
              </a:rPr>
              <a:t></a:t>
            </a:r>
            <a:r>
              <a:rPr dirty="0" sz="1150" spc="8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1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-80">
                <a:latin typeface="Cambria"/>
                <a:cs typeface="Cambria"/>
              </a:rPr>
              <a:t>2</a:t>
            </a:r>
            <a:r>
              <a:rPr dirty="0" baseline="-4629" sz="2700" spc="-120">
                <a:latin typeface="Symbol"/>
                <a:cs typeface="Symbol"/>
              </a:rPr>
              <a:t></a:t>
            </a:r>
            <a:r>
              <a:rPr dirty="0" baseline="-4629" sz="2700" spc="-24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114">
                <a:latin typeface="Cambria"/>
                <a:cs typeface="Cambria"/>
              </a:rPr>
              <a:t>a</a:t>
            </a:r>
            <a:r>
              <a:rPr dirty="0" baseline="-4629" sz="2700" spc="172">
                <a:latin typeface="Symbol"/>
                <a:cs typeface="Symbol"/>
              </a:rPr>
              <a:t></a:t>
            </a:r>
            <a:r>
              <a:rPr dirty="0" sz="1150" spc="114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1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2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6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Cambria"/>
                <a:cs typeface="Cambria"/>
              </a:rPr>
              <a:t>3</a:t>
            </a:r>
            <a:r>
              <a:rPr dirty="0" baseline="-4629" sz="2700" spc="-37">
                <a:latin typeface="Symbol"/>
                <a:cs typeface="Symbol"/>
              </a:rPr>
              <a:t></a:t>
            </a:r>
            <a:endParaRPr baseline="-4629" sz="2700">
              <a:latin typeface="Symbol"/>
              <a:cs typeface="Symbol"/>
            </a:endParaRPr>
          </a:p>
          <a:p>
            <a:pPr algn="r" marR="882650">
              <a:lnSpc>
                <a:spcPts val="1050"/>
              </a:lnSpc>
            </a:pP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825"/>
              </a:spcBef>
            </a:pP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86995">
              <a:lnSpc>
                <a:spcPts val="1770"/>
              </a:lnSpc>
              <a:spcBef>
                <a:spcPts val="275"/>
              </a:spcBef>
            </a:pPr>
            <a:r>
              <a:rPr dirty="0" sz="1150">
                <a:latin typeface="Cambria"/>
                <a:cs typeface="Cambria"/>
              </a:rPr>
              <a:t>P(x)</a:t>
            </a:r>
            <a:r>
              <a:rPr dirty="0" sz="1150" spc="8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6</a:t>
            </a:r>
            <a:r>
              <a:rPr dirty="0" sz="1150" spc="-1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Cambria"/>
                <a:cs typeface="Cambria"/>
              </a:rPr>
              <a:t>0</a:t>
            </a:r>
            <a:r>
              <a:rPr dirty="0" baseline="-4629" sz="2700" spc="112">
                <a:latin typeface="Symbol"/>
                <a:cs typeface="Symbol"/>
              </a:rPr>
              <a:t></a:t>
            </a:r>
            <a:r>
              <a:rPr dirty="0" sz="1150" spc="75">
                <a:latin typeface="Cambria"/>
                <a:cs typeface="Cambria"/>
              </a:rPr>
              <a:t>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 spc="-95">
                <a:latin typeface="Cambria"/>
                <a:cs typeface="Cambria"/>
              </a:rPr>
              <a:t>1</a:t>
            </a:r>
            <a:r>
              <a:rPr dirty="0" baseline="-4629" sz="2700" spc="-142">
                <a:latin typeface="Symbol"/>
                <a:cs typeface="Symbol"/>
              </a:rPr>
              <a:t></a:t>
            </a:r>
            <a:r>
              <a:rPr dirty="0" baseline="-4629" sz="2700" spc="-232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80">
                <a:latin typeface="Cambria"/>
                <a:cs typeface="Cambria"/>
              </a:rPr>
              <a:t>b</a:t>
            </a:r>
            <a:r>
              <a:rPr dirty="0" baseline="-4629" sz="2700" spc="120">
                <a:latin typeface="Symbol"/>
                <a:cs typeface="Symbol"/>
              </a:rPr>
              <a:t></a:t>
            </a:r>
            <a:r>
              <a:rPr dirty="0" sz="1150" spc="8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1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-80">
                <a:latin typeface="Cambria"/>
                <a:cs typeface="Cambria"/>
              </a:rPr>
              <a:t>2</a:t>
            </a:r>
            <a:r>
              <a:rPr dirty="0" baseline="-4629" sz="2700" spc="-120">
                <a:latin typeface="Symbol"/>
                <a:cs typeface="Symbol"/>
              </a:rPr>
              <a:t></a:t>
            </a:r>
            <a:r>
              <a:rPr dirty="0" baseline="-4629" sz="2700" spc="-24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114">
                <a:latin typeface="Cambria"/>
                <a:cs typeface="Cambria"/>
              </a:rPr>
              <a:t>a</a:t>
            </a:r>
            <a:r>
              <a:rPr dirty="0" baseline="-4629" sz="2700" spc="172">
                <a:latin typeface="Symbol"/>
                <a:cs typeface="Symbol"/>
              </a:rPr>
              <a:t></a:t>
            </a:r>
            <a:r>
              <a:rPr dirty="0" sz="1150" spc="114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1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2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Cambria"/>
                <a:cs typeface="Cambria"/>
              </a:rPr>
              <a:t>3</a:t>
            </a:r>
            <a:r>
              <a:rPr dirty="0" baseline="-4629" sz="2700" spc="-37">
                <a:latin typeface="Symbol"/>
                <a:cs typeface="Symbol"/>
              </a:rPr>
              <a:t></a:t>
            </a:r>
            <a:endParaRPr baseline="-4629" sz="2700">
              <a:latin typeface="Symbol"/>
              <a:cs typeface="Symbol"/>
            </a:endParaRPr>
          </a:p>
          <a:p>
            <a:pPr algn="r" marR="882650">
              <a:lnSpc>
                <a:spcPts val="1050"/>
              </a:lnSpc>
            </a:pP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830"/>
              </a:spcBef>
            </a:pP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P(3)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6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2b,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0.</a:t>
            </a:r>
            <a:endParaRPr sz="1200">
              <a:latin typeface="Palatino Linotype"/>
              <a:cs typeface="Palatino Linotype"/>
            </a:endParaRPr>
          </a:p>
          <a:p>
            <a:pPr marL="86995">
              <a:lnSpc>
                <a:spcPts val="1770"/>
              </a:lnSpc>
              <a:spcBef>
                <a:spcPts val="275"/>
              </a:spcBef>
            </a:pPr>
            <a:r>
              <a:rPr dirty="0" sz="1150">
                <a:latin typeface="Cambria"/>
                <a:cs typeface="Cambria"/>
              </a:rPr>
              <a:t>P(x)</a:t>
            </a:r>
            <a:r>
              <a:rPr dirty="0" sz="1150" spc="8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5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Cambria"/>
                <a:cs typeface="Cambria"/>
              </a:rPr>
              <a:t>6</a:t>
            </a:r>
            <a:r>
              <a:rPr dirty="0" sz="1150" spc="-1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Cambria"/>
                <a:cs typeface="Cambria"/>
              </a:rPr>
              <a:t>0</a:t>
            </a:r>
            <a:r>
              <a:rPr dirty="0" baseline="-4629" sz="2700" spc="112">
                <a:latin typeface="Symbol"/>
                <a:cs typeface="Symbol"/>
              </a:rPr>
              <a:t></a:t>
            </a:r>
            <a:r>
              <a:rPr dirty="0" sz="1150" spc="75">
                <a:latin typeface="Cambria"/>
                <a:cs typeface="Cambria"/>
              </a:rPr>
              <a:t>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 spc="-95">
                <a:latin typeface="Cambria"/>
                <a:cs typeface="Cambria"/>
              </a:rPr>
              <a:t>1</a:t>
            </a:r>
            <a:r>
              <a:rPr dirty="0" baseline="-4629" sz="2700" spc="-142">
                <a:latin typeface="Symbol"/>
                <a:cs typeface="Symbol"/>
              </a:rPr>
              <a:t></a:t>
            </a:r>
            <a:r>
              <a:rPr dirty="0" baseline="-4629" sz="2700" spc="-232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70">
                <a:latin typeface="Cambria"/>
                <a:cs typeface="Cambria"/>
              </a:rPr>
              <a:t>0</a:t>
            </a:r>
            <a:r>
              <a:rPr dirty="0" baseline="-4629" sz="2700" spc="104">
                <a:latin typeface="Symbol"/>
                <a:cs typeface="Symbol"/>
              </a:rPr>
              <a:t></a:t>
            </a:r>
            <a:r>
              <a:rPr dirty="0" sz="1150" spc="7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1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-80">
                <a:latin typeface="Cambria"/>
                <a:cs typeface="Cambria"/>
              </a:rPr>
              <a:t>2</a:t>
            </a:r>
            <a:r>
              <a:rPr dirty="0" baseline="-4629" sz="2700" spc="-120">
                <a:latin typeface="Symbol"/>
                <a:cs typeface="Symbol"/>
              </a:rPr>
              <a:t></a:t>
            </a:r>
            <a:r>
              <a:rPr dirty="0" baseline="-4629" sz="2700" spc="-24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14">
                <a:latin typeface="Cambria"/>
                <a:cs typeface="Cambria"/>
              </a:rPr>
              <a:t>a</a:t>
            </a:r>
            <a:r>
              <a:rPr dirty="0" baseline="-4629" sz="2700" spc="172">
                <a:latin typeface="Symbol"/>
                <a:cs typeface="Symbol"/>
              </a:rPr>
              <a:t></a:t>
            </a:r>
            <a:r>
              <a:rPr dirty="0" sz="1150" spc="114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7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1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>
                <a:latin typeface="Cambria"/>
                <a:cs typeface="Cambria"/>
              </a:rPr>
              <a:t>2</a:t>
            </a:r>
            <a:r>
              <a:rPr dirty="0" baseline="-4629" sz="2700">
                <a:latin typeface="Symbol"/>
                <a:cs typeface="Symbol"/>
              </a:rPr>
              <a:t>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50">
                <a:latin typeface="Cambria"/>
                <a:cs typeface="Cambria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Cambria"/>
                <a:cs typeface="Cambria"/>
              </a:rPr>
              <a:t>3</a:t>
            </a:r>
            <a:r>
              <a:rPr dirty="0" baseline="-4629" sz="2700" spc="-37">
                <a:latin typeface="Symbol"/>
                <a:cs typeface="Symbol"/>
              </a:rPr>
              <a:t></a:t>
            </a:r>
            <a:endParaRPr baseline="-4629" sz="2700">
              <a:latin typeface="Symbol"/>
              <a:cs typeface="Symbol"/>
            </a:endParaRPr>
          </a:p>
          <a:p>
            <a:pPr algn="r" marR="882650">
              <a:lnSpc>
                <a:spcPts val="1050"/>
              </a:lnSpc>
            </a:pP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575"/>
              </a:spcBef>
            </a:pPr>
            <a:r>
              <a:rPr dirty="0" baseline="4629" sz="1800">
                <a:latin typeface="Palatino Linotype"/>
                <a:cs typeface="Palatino Linotype"/>
              </a:rPr>
              <a:t>Do</a:t>
            </a:r>
            <a:r>
              <a:rPr dirty="0" baseline="4629" sz="1800" spc="15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đó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P(x)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=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6</a:t>
            </a:r>
            <a:r>
              <a:rPr dirty="0" baseline="4629" sz="1800" spc="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+</a:t>
            </a:r>
            <a:r>
              <a:rPr dirty="0" baseline="4629" sz="1800" spc="-209">
                <a:latin typeface="Palatino Linotype"/>
                <a:cs typeface="Palatino Linotype"/>
              </a:rPr>
              <a:t> </a:t>
            </a:r>
            <a:r>
              <a:rPr dirty="0" baseline="4830" sz="1725" spc="89">
                <a:latin typeface="Times New Roman"/>
                <a:cs typeface="Times New Roman"/>
              </a:rPr>
              <a:t>a</a:t>
            </a:r>
            <a:r>
              <a:rPr dirty="0" sz="1550" spc="60">
                <a:latin typeface="Symbol"/>
                <a:cs typeface="Symbol"/>
              </a:rPr>
              <a:t></a:t>
            </a:r>
            <a:r>
              <a:rPr dirty="0" baseline="4830" sz="1725" spc="89">
                <a:latin typeface="Times New Roman"/>
                <a:cs typeface="Times New Roman"/>
              </a:rPr>
              <a:t>x</a:t>
            </a:r>
            <a:r>
              <a:rPr dirty="0" baseline="4830" sz="1725" spc="-127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Symbol"/>
                <a:cs typeface="Symbol"/>
              </a:rPr>
              <a:t></a:t>
            </a:r>
            <a:r>
              <a:rPr dirty="0" baseline="4830" sz="1725">
                <a:latin typeface="Times New Roman"/>
                <a:cs typeface="Times New Roman"/>
              </a:rPr>
              <a:t>1</a:t>
            </a:r>
            <a:r>
              <a:rPr dirty="0" sz="1550">
                <a:latin typeface="Symbol"/>
                <a:cs typeface="Symbol"/>
              </a:rPr>
              <a:t>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35">
                <a:latin typeface="Times New Roman"/>
                <a:cs typeface="Times New Roman"/>
              </a:rPr>
              <a:t> </a:t>
            </a:r>
            <a:r>
              <a:rPr dirty="0" baseline="4830" sz="1725" spc="82">
                <a:latin typeface="Symbol"/>
                <a:cs typeface="Symbol"/>
              </a:rPr>
              <a:t></a:t>
            </a:r>
            <a:r>
              <a:rPr dirty="0" baseline="4830" sz="1725" spc="-187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2</a:t>
            </a:r>
            <a:r>
              <a:rPr dirty="0" sz="1550">
                <a:latin typeface="Symbol"/>
                <a:cs typeface="Symbol"/>
              </a:rPr>
              <a:t>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27">
                <a:latin typeface="Times New Roman"/>
                <a:cs typeface="Times New Roman"/>
              </a:rPr>
              <a:t> </a:t>
            </a:r>
            <a:r>
              <a:rPr dirty="0" baseline="4830" sz="1725" spc="82">
                <a:latin typeface="Symbol"/>
                <a:cs typeface="Symbol"/>
              </a:rPr>
              <a:t></a:t>
            </a:r>
            <a:r>
              <a:rPr dirty="0" baseline="4830" sz="1725" spc="-225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3</a:t>
            </a:r>
            <a:r>
              <a:rPr dirty="0" sz="1550">
                <a:latin typeface="Symbol"/>
                <a:cs typeface="Symbol"/>
              </a:rPr>
              <a:t></a:t>
            </a:r>
            <a:r>
              <a:rPr dirty="0" sz="1550" spc="50">
                <a:latin typeface="Times New Roman"/>
                <a:cs typeface="Times New Roman"/>
              </a:rPr>
              <a:t> </a:t>
            </a:r>
            <a:r>
              <a:rPr dirty="0" baseline="4629" sz="1800" spc="-75">
                <a:latin typeface="Palatino Linotype"/>
                <a:cs typeface="Palatino Linotype"/>
              </a:rPr>
              <a:t>.</a:t>
            </a:r>
            <a:endParaRPr baseline="4629" sz="18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1000"/>
              </a:spcBef>
            </a:pP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 = -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 ta được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P(-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6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 24a, do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 18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6 – 24a</a:t>
            </a:r>
            <a:r>
              <a:rPr dirty="0" sz="1200" spc="2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 ra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 =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560"/>
              </a:spcBef>
            </a:pPr>
            <a:r>
              <a:rPr dirty="0" baseline="4629" sz="1800">
                <a:latin typeface="Palatino Linotype"/>
                <a:cs typeface="Palatino Linotype"/>
              </a:rPr>
              <a:t>Vậy</a:t>
            </a:r>
            <a:r>
              <a:rPr dirty="0" baseline="4629" sz="1800" spc="3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P(x)</a:t>
            </a:r>
            <a:r>
              <a:rPr dirty="0" baseline="4629" sz="1800" spc="3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=</a:t>
            </a:r>
            <a:r>
              <a:rPr dirty="0" baseline="4629" sz="1800" spc="3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6</a:t>
            </a:r>
            <a:r>
              <a:rPr dirty="0" baseline="4629" sz="1800" spc="3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+</a:t>
            </a:r>
            <a:r>
              <a:rPr dirty="0" baseline="4629" sz="1800" spc="135">
                <a:latin typeface="Palatino Linotype"/>
                <a:cs typeface="Palatino Linotype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1.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20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Symbol"/>
                <a:cs typeface="Symbol"/>
              </a:rPr>
              <a:t></a:t>
            </a:r>
            <a:r>
              <a:rPr dirty="0" baseline="4830" sz="1725">
                <a:latin typeface="Times New Roman"/>
                <a:cs typeface="Times New Roman"/>
              </a:rPr>
              <a:t>1</a:t>
            </a:r>
            <a:r>
              <a:rPr dirty="0" sz="1550">
                <a:latin typeface="Symbol"/>
                <a:cs typeface="Symbol"/>
              </a:rPr>
              <a:t>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12">
                <a:latin typeface="Times New Roman"/>
                <a:cs typeface="Times New Roman"/>
              </a:rPr>
              <a:t> </a:t>
            </a:r>
            <a:r>
              <a:rPr dirty="0" baseline="4830" sz="1725" spc="82">
                <a:latin typeface="Symbol"/>
                <a:cs typeface="Symbol"/>
              </a:rPr>
              <a:t></a:t>
            </a:r>
            <a:r>
              <a:rPr dirty="0" baseline="4830" sz="1725" spc="-179">
                <a:latin typeface="Times New Roman"/>
                <a:cs typeface="Times New Roman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2</a:t>
            </a:r>
            <a:r>
              <a:rPr dirty="0" sz="1550">
                <a:latin typeface="Symbol"/>
                <a:cs typeface="Symbol"/>
              </a:rPr>
              <a:t>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baseline="4830" sz="1725" spc="-112">
                <a:latin typeface="Times New Roman"/>
                <a:cs typeface="Times New Roman"/>
              </a:rPr>
              <a:t> </a:t>
            </a:r>
            <a:r>
              <a:rPr dirty="0" baseline="4830" sz="1725" spc="82">
                <a:latin typeface="Symbol"/>
                <a:cs typeface="Symbol"/>
              </a:rPr>
              <a:t></a:t>
            </a:r>
            <a:r>
              <a:rPr dirty="0" baseline="4830" sz="1725" spc="-217">
                <a:latin typeface="Times New Roman"/>
                <a:cs typeface="Times New Roman"/>
              </a:rPr>
              <a:t> </a:t>
            </a:r>
            <a:r>
              <a:rPr dirty="0" baseline="4830" sz="1725" spc="-52">
                <a:latin typeface="Times New Roman"/>
                <a:cs typeface="Times New Roman"/>
              </a:rPr>
              <a:t>3</a:t>
            </a:r>
            <a:r>
              <a:rPr dirty="0" sz="1550" spc="-35">
                <a:latin typeface="Symbol"/>
                <a:cs typeface="Symbol"/>
              </a:rPr>
              <a:t></a:t>
            </a:r>
            <a:r>
              <a:rPr dirty="0" sz="1550" spc="-17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.</a:t>
            </a:r>
            <a:r>
              <a:rPr dirty="0" baseline="4629" sz="1800" spc="3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Rút</a:t>
            </a:r>
            <a:r>
              <a:rPr dirty="0" baseline="4629" sz="1800" spc="3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gọn</a:t>
            </a:r>
            <a:r>
              <a:rPr dirty="0" baseline="4629" sz="1800" spc="3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ta</a:t>
            </a:r>
            <a:r>
              <a:rPr dirty="0" baseline="4629" sz="1800" spc="37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được</a:t>
            </a:r>
            <a:r>
              <a:rPr dirty="0" baseline="4629" sz="1800" spc="22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:</a:t>
            </a:r>
            <a:r>
              <a:rPr dirty="0" baseline="4629" sz="1800" spc="330">
                <a:latin typeface="Palatino Linotype"/>
                <a:cs typeface="Palatino Linotype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P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830" sz="1725">
                <a:latin typeface="Times New Roman"/>
                <a:cs typeface="Times New Roman"/>
              </a:rPr>
              <a:t>x</a:t>
            </a:r>
            <a:r>
              <a:rPr dirty="0" sz="1550">
                <a:latin typeface="Symbol"/>
                <a:cs typeface="Symbol"/>
              </a:rPr>
              <a:t></a:t>
            </a:r>
            <a:r>
              <a:rPr dirty="0" sz="1550" spc="-125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</a:t>
            </a:r>
            <a:r>
              <a:rPr dirty="0" baseline="4830" sz="1725" spc="-60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Times New Roman"/>
                <a:cs typeface="Times New Roman"/>
              </a:rPr>
              <a:t>x</a:t>
            </a:r>
            <a:r>
              <a:rPr dirty="0" baseline="51282" sz="975" spc="75">
                <a:latin typeface="Times New Roman"/>
                <a:cs typeface="Times New Roman"/>
              </a:rPr>
              <a:t>3</a:t>
            </a:r>
            <a:r>
              <a:rPr dirty="0" baseline="51282" sz="975" spc="209">
                <a:latin typeface="Times New Roman"/>
                <a:cs typeface="Times New Roman"/>
              </a:rPr>
              <a:t> </a:t>
            </a:r>
            <a:r>
              <a:rPr dirty="0" baseline="4830" sz="1725" spc="89">
                <a:latin typeface="Symbol"/>
                <a:cs typeface="Symbol"/>
              </a:rPr>
              <a:t></a:t>
            </a:r>
            <a:r>
              <a:rPr dirty="0" baseline="4830" sz="1725" spc="-209">
                <a:latin typeface="Times New Roman"/>
                <a:cs typeface="Times New Roman"/>
              </a:rPr>
              <a:t> </a:t>
            </a:r>
            <a:r>
              <a:rPr dirty="0" baseline="4830" sz="1725" spc="75">
                <a:latin typeface="Times New Roman"/>
                <a:cs typeface="Times New Roman"/>
              </a:rPr>
              <a:t>6x</a:t>
            </a:r>
            <a:r>
              <a:rPr dirty="0" baseline="51282" sz="975" spc="75">
                <a:latin typeface="Times New Roman"/>
                <a:cs typeface="Times New Roman"/>
              </a:rPr>
              <a:t>2</a:t>
            </a:r>
            <a:r>
              <a:rPr dirty="0" baseline="51282" sz="975" spc="262">
                <a:latin typeface="Times New Roman"/>
                <a:cs typeface="Times New Roman"/>
              </a:rPr>
              <a:t> </a:t>
            </a:r>
            <a:r>
              <a:rPr dirty="0" baseline="4830" sz="1725" spc="-15">
                <a:latin typeface="Symbol"/>
                <a:cs typeface="Symbol"/>
              </a:rPr>
              <a:t></a:t>
            </a:r>
            <a:r>
              <a:rPr dirty="0" baseline="4830" sz="1725" spc="-15">
                <a:latin typeface="Times New Roman"/>
                <a:cs typeface="Times New Roman"/>
              </a:rPr>
              <a:t>11x.</a:t>
            </a:r>
            <a:endParaRPr baseline="4830" sz="1725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06627" y="8170926"/>
            <a:ext cx="457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9.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27124" y="8081087"/>
            <a:ext cx="388683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2314" sz="1800">
                <a:latin typeface="Times New Roman"/>
                <a:cs typeface="Times New Roman"/>
              </a:rPr>
              <a:t>Ta</a:t>
            </a:r>
            <a:r>
              <a:rPr dirty="0" baseline="2314" sz="1800" spc="-22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có</a:t>
            </a:r>
            <a:r>
              <a:rPr dirty="0" baseline="2314" sz="1800" spc="270">
                <a:latin typeface="Times New Roman"/>
                <a:cs typeface="Times New Roman"/>
              </a:rPr>
              <a:t> </a:t>
            </a:r>
            <a:r>
              <a:rPr dirty="0" baseline="2314" sz="1800" spc="75">
                <a:latin typeface="Cambria"/>
                <a:cs typeface="Cambria"/>
              </a:rPr>
              <a:t>f</a:t>
            </a:r>
            <a:r>
              <a:rPr dirty="0" baseline="2314" sz="1800" spc="-52">
                <a:latin typeface="Cambria"/>
                <a:cs typeface="Cambria"/>
              </a:rPr>
              <a:t> </a:t>
            </a:r>
            <a:r>
              <a:rPr dirty="0" baseline="-2849" sz="2925" spc="-240">
                <a:latin typeface="Symbol"/>
                <a:cs typeface="Symbol"/>
              </a:rPr>
              <a:t></a:t>
            </a:r>
            <a:r>
              <a:rPr dirty="0" baseline="2314" sz="1800" spc="-240">
                <a:latin typeface="Cambria"/>
                <a:cs typeface="Cambria"/>
              </a:rPr>
              <a:t>2</a:t>
            </a:r>
            <a:r>
              <a:rPr dirty="0" baseline="-2849" sz="2925" spc="-240">
                <a:latin typeface="Symbol"/>
                <a:cs typeface="Symbol"/>
              </a:rPr>
              <a:t></a:t>
            </a:r>
            <a:r>
              <a:rPr dirty="0" baseline="-2849" sz="2925" spc="-19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44">
                <a:latin typeface="Times New Roman"/>
                <a:cs typeface="Times New Roman"/>
              </a:rPr>
              <a:t> </a:t>
            </a:r>
            <a:r>
              <a:rPr dirty="0" baseline="-2849" sz="2925" spc="-142">
                <a:latin typeface="Symbol"/>
                <a:cs typeface="Symbol"/>
              </a:rPr>
              <a:t></a:t>
            </a:r>
            <a:r>
              <a:rPr dirty="0" baseline="2314" sz="1800" spc="-142">
                <a:latin typeface="Cambria"/>
                <a:cs typeface="Cambria"/>
              </a:rPr>
              <a:t>2</a:t>
            </a:r>
            <a:r>
              <a:rPr dirty="0" baseline="2314" sz="1800" spc="-75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</a:t>
            </a:r>
            <a:r>
              <a:rPr dirty="0" baseline="2314" sz="1800" spc="-104">
                <a:latin typeface="Times New Roman"/>
                <a:cs typeface="Times New Roman"/>
              </a:rPr>
              <a:t> </a:t>
            </a:r>
            <a:r>
              <a:rPr dirty="0" baseline="2314" sz="1800" spc="-37">
                <a:latin typeface="Cambria"/>
                <a:cs typeface="Cambria"/>
              </a:rPr>
              <a:t>3</a:t>
            </a:r>
            <a:r>
              <a:rPr dirty="0" baseline="-2849" sz="2925" spc="-37">
                <a:latin typeface="Symbol"/>
                <a:cs typeface="Symbol"/>
              </a:rPr>
              <a:t></a:t>
            </a:r>
            <a:r>
              <a:rPr dirty="0" baseline="75396" sz="1050" spc="-37">
                <a:latin typeface="Cambria"/>
                <a:cs typeface="Cambria"/>
              </a:rPr>
              <a:t>200</a:t>
            </a:r>
            <a:r>
              <a:rPr dirty="0" baseline="75396" sz="1050" spc="359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37">
                <a:latin typeface="Times New Roman"/>
                <a:cs typeface="Times New Roman"/>
              </a:rPr>
              <a:t> </a:t>
            </a:r>
            <a:r>
              <a:rPr dirty="0" baseline="-2849" sz="2925" spc="-157">
                <a:latin typeface="Symbol"/>
                <a:cs typeface="Symbol"/>
              </a:rPr>
              <a:t></a:t>
            </a:r>
            <a:r>
              <a:rPr dirty="0" baseline="2314" sz="1800" spc="-157">
                <a:latin typeface="Cambria"/>
                <a:cs typeface="Cambria"/>
              </a:rPr>
              <a:t>2</a:t>
            </a:r>
            <a:r>
              <a:rPr dirty="0" baseline="2314" sz="1800" spc="-67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</a:t>
            </a:r>
            <a:r>
              <a:rPr dirty="0" baseline="2314" sz="1800" spc="-104">
                <a:latin typeface="Times New Roman"/>
                <a:cs typeface="Times New Roman"/>
              </a:rPr>
              <a:t> </a:t>
            </a:r>
            <a:r>
              <a:rPr dirty="0" baseline="2314" sz="1800" spc="-44">
                <a:latin typeface="Cambria"/>
                <a:cs typeface="Cambria"/>
              </a:rPr>
              <a:t>2</a:t>
            </a:r>
            <a:r>
              <a:rPr dirty="0" baseline="-2849" sz="2925" spc="-44">
                <a:latin typeface="Symbol"/>
                <a:cs typeface="Symbol"/>
              </a:rPr>
              <a:t></a:t>
            </a:r>
            <a:r>
              <a:rPr dirty="0" baseline="75396" sz="1050" spc="-44">
                <a:latin typeface="Cambria"/>
                <a:cs typeface="Cambria"/>
              </a:rPr>
              <a:t>100</a:t>
            </a:r>
            <a:r>
              <a:rPr dirty="0" baseline="75396" sz="1050" spc="359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</a:t>
            </a:r>
            <a:r>
              <a:rPr dirty="0" baseline="2314" sz="1800" spc="-13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Cambria"/>
                <a:cs typeface="Cambria"/>
              </a:rPr>
              <a:t>1</a:t>
            </a:r>
            <a:r>
              <a:rPr dirty="0" baseline="2314" sz="1800" spc="15">
                <a:latin typeface="Cambria"/>
                <a:cs typeface="Cambria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3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Cambria"/>
                <a:cs typeface="Cambria"/>
              </a:rPr>
              <a:t>0</a:t>
            </a:r>
            <a:r>
              <a:rPr dirty="0" baseline="2314" sz="1800" spc="-75">
                <a:latin typeface="Cambria"/>
                <a:cs typeface="Cambria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nên</a:t>
            </a:r>
            <a:r>
              <a:rPr dirty="0" baseline="2314" sz="1800" spc="254">
                <a:latin typeface="Times New Roman"/>
                <a:cs typeface="Times New Roman"/>
              </a:rPr>
              <a:t> </a:t>
            </a:r>
            <a:r>
              <a:rPr dirty="0" sz="1150" spc="70">
                <a:latin typeface="Cambria"/>
                <a:cs typeface="Cambria"/>
              </a:rPr>
              <a:t>f</a:t>
            </a:r>
            <a:r>
              <a:rPr dirty="0" sz="1150" spc="-15">
                <a:latin typeface="Cambria"/>
                <a:cs typeface="Cambria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baseline="-4629" sz="2700">
                <a:latin typeface="Symbol"/>
                <a:cs typeface="Symbol"/>
              </a:rPr>
              <a:t></a:t>
            </a:r>
            <a:r>
              <a:rPr dirty="0" baseline="-4629" sz="2700" spc="127">
                <a:latin typeface="Times New Roman"/>
                <a:cs typeface="Times New Roman"/>
              </a:rPr>
              <a:t> 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150">
                <a:latin typeface="Cambria"/>
                <a:cs typeface="Cambria"/>
              </a:rPr>
              <a:t>x</a:t>
            </a:r>
            <a:r>
              <a:rPr dirty="0" sz="1150" spc="45">
                <a:latin typeface="Cambria"/>
                <a:cs typeface="Cambria"/>
              </a:rPr>
              <a:t> </a:t>
            </a:r>
            <a:r>
              <a:rPr dirty="0" sz="1150" spc="60">
                <a:latin typeface="Symbol"/>
                <a:cs typeface="Symbol"/>
              </a:rPr>
              <a:t>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Cambria"/>
                <a:cs typeface="Cambria"/>
              </a:rPr>
              <a:t>2</a:t>
            </a:r>
            <a:r>
              <a:rPr dirty="0" baseline="-4629" sz="2700" spc="-37">
                <a:latin typeface="Symbol"/>
                <a:cs typeface="Symbol"/>
              </a:rPr>
              <a:t></a:t>
            </a:r>
            <a:endParaRPr baseline="-4629" sz="2700">
              <a:latin typeface="Symbol"/>
              <a:cs typeface="Symbo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8527" y="8466484"/>
            <a:ext cx="4523740" cy="126682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50800" marR="1110615" indent="20955">
              <a:lnSpc>
                <a:spcPts val="2520"/>
              </a:lnSpc>
              <a:spcBef>
                <a:spcPts val="25"/>
              </a:spcBef>
            </a:pPr>
            <a:r>
              <a:rPr dirty="0" sz="1200" spc="50">
                <a:latin typeface="Cambria"/>
                <a:cs typeface="Cambria"/>
              </a:rPr>
              <a:t>f</a:t>
            </a:r>
            <a:r>
              <a:rPr dirty="0" sz="1200" spc="-50">
                <a:latin typeface="Cambria"/>
                <a:cs typeface="Cambria"/>
              </a:rPr>
              <a:t> </a:t>
            </a:r>
            <a:r>
              <a:rPr dirty="0" baseline="-4273" sz="2925" spc="-240">
                <a:latin typeface="Symbol"/>
                <a:cs typeface="Symbol"/>
              </a:rPr>
              <a:t></a:t>
            </a:r>
            <a:r>
              <a:rPr dirty="0" sz="1200" spc="-160">
                <a:latin typeface="Cambria"/>
                <a:cs typeface="Cambria"/>
              </a:rPr>
              <a:t>3</a:t>
            </a:r>
            <a:r>
              <a:rPr dirty="0" baseline="-4273" sz="2925" spc="-240">
                <a:latin typeface="Symbol"/>
                <a:cs typeface="Symbol"/>
              </a:rPr>
              <a:t></a:t>
            </a:r>
            <a:r>
              <a:rPr dirty="0" baseline="-4273" sz="2925" spc="-19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baseline="-4273" sz="2925" spc="-142">
                <a:latin typeface="Symbol"/>
                <a:cs typeface="Symbol"/>
              </a:rPr>
              <a:t></a:t>
            </a:r>
            <a:r>
              <a:rPr dirty="0" sz="1200" spc="-95">
                <a:latin typeface="Cambria"/>
                <a:cs typeface="Cambria"/>
              </a:rPr>
              <a:t>3</a:t>
            </a:r>
            <a:r>
              <a:rPr dirty="0" sz="1200" spc="-5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Cambria"/>
                <a:cs typeface="Cambria"/>
              </a:rPr>
              <a:t>3</a:t>
            </a:r>
            <a:r>
              <a:rPr dirty="0" baseline="-4273" sz="2925" spc="-37">
                <a:latin typeface="Symbol"/>
                <a:cs typeface="Symbol"/>
              </a:rPr>
              <a:t></a:t>
            </a:r>
            <a:r>
              <a:rPr dirty="0" baseline="71428" sz="1050" spc="-37">
                <a:latin typeface="Cambria"/>
                <a:cs typeface="Cambria"/>
              </a:rPr>
              <a:t>200</a:t>
            </a:r>
            <a:r>
              <a:rPr dirty="0" baseline="71428" sz="1050" spc="352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baseline="-4273" sz="2925" spc="-157">
                <a:latin typeface="Symbol"/>
                <a:cs typeface="Symbol"/>
              </a:rPr>
              <a:t></a:t>
            </a:r>
            <a:r>
              <a:rPr dirty="0" sz="1200" spc="-105">
                <a:latin typeface="Cambria"/>
                <a:cs typeface="Cambria"/>
              </a:rPr>
              <a:t>3</a:t>
            </a:r>
            <a:r>
              <a:rPr dirty="0" sz="1200" spc="-45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Cambria"/>
                <a:cs typeface="Cambria"/>
              </a:rPr>
              <a:t>1</a:t>
            </a:r>
            <a:r>
              <a:rPr dirty="0" baseline="-4273" sz="2925" spc="-44">
                <a:latin typeface="Symbol"/>
                <a:cs typeface="Symbol"/>
              </a:rPr>
              <a:t></a:t>
            </a:r>
            <a:r>
              <a:rPr dirty="0" baseline="71428" sz="1050" spc="-44">
                <a:latin typeface="Cambria"/>
                <a:cs typeface="Cambria"/>
              </a:rPr>
              <a:t>100</a:t>
            </a:r>
            <a:r>
              <a:rPr dirty="0" baseline="71428" sz="1050" spc="352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1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Cambria"/>
                <a:cs typeface="Cambria"/>
              </a:rPr>
              <a:t>0</a:t>
            </a:r>
            <a:r>
              <a:rPr dirty="0" sz="1200" spc="275">
                <a:latin typeface="Cambria"/>
                <a:cs typeface="Cambria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nên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f(x)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Cambria Math"/>
                <a:cs typeface="Cambria Math"/>
              </a:rPr>
              <a:t>⋮</a:t>
            </a:r>
            <a:r>
              <a:rPr dirty="0" sz="1200" spc="30">
                <a:latin typeface="Cambria Math"/>
                <a:cs typeface="Cambria Math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(x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3) </a:t>
            </a:r>
            <a:r>
              <a:rPr dirty="0" sz="1200">
                <a:latin typeface="Times New Roman"/>
                <a:cs typeface="Times New Roman"/>
              </a:rPr>
              <a:t>Nên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f(x)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chia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hết cho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(x –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2)(x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3)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=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x</a:t>
            </a:r>
            <a:r>
              <a:rPr dirty="0" baseline="38194" sz="1200">
                <a:latin typeface="Times New Roman"/>
                <a:cs typeface="Times New Roman"/>
              </a:rPr>
              <a:t>2</a:t>
            </a:r>
            <a:r>
              <a:rPr dirty="0" baseline="38194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5x +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4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10.</a:t>
            </a:r>
            <a:r>
              <a:rPr dirty="0" sz="1200" spc="130" b="1">
                <a:solidFill>
                  <a:srgbClr val="00AFEF"/>
                </a:solidFill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Vì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508000">
              <a:lnSpc>
                <a:spcPct val="100000"/>
              </a:lnSpc>
              <a:spcBef>
                <a:spcPts val="1480"/>
              </a:spcBef>
            </a:pPr>
            <a:r>
              <a:rPr dirty="0" sz="1200">
                <a:latin typeface="Cambria Math"/>
                <a:cs typeface="Cambria Math"/>
              </a:rPr>
              <a:t>⇒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f(x).(x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1)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7717" y="8172775"/>
            <a:ext cx="538168" cy="251140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64132" y="715771"/>
            <a:ext cx="2497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Thay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đẳng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64132" y="1086357"/>
            <a:ext cx="2625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P(–1)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f(–1).(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Cambria Math"/>
                <a:cs typeface="Cambria Math"/>
              </a:rPr>
              <a:t>⇒</a:t>
            </a:r>
            <a:r>
              <a:rPr dirty="0" sz="1200" spc="35">
                <a:latin typeface="Cambria Math"/>
                <a:cs typeface="Cambria Math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P(–1)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22316" y="1086357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(1)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64132" y="1455165"/>
            <a:ext cx="2887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P(0)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22316" y="1455165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(2)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64132" y="1823973"/>
            <a:ext cx="24022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P(1)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5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65116" y="1823973"/>
            <a:ext cx="20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Palatino Linotype"/>
                <a:cs typeface="Palatino Linotype"/>
              </a:rPr>
              <a:t>(3)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64132" y="2192781"/>
            <a:ext cx="2477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(1),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(2),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trình: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58389" y="2827340"/>
            <a:ext cx="70485" cy="131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Palatino Linotype"/>
                <a:cs typeface="Palatino Linotype"/>
              </a:rPr>
              <a:t>2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62429" y="2588459"/>
            <a:ext cx="15398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4629" sz="1800">
                <a:latin typeface="Symbol"/>
                <a:cs typeface="Symbol"/>
              </a:rPr>
              <a:t></a:t>
            </a:r>
            <a:r>
              <a:rPr dirty="0" sz="1200">
                <a:latin typeface="Palatino Linotype"/>
                <a:cs typeface="Palatino Linotype"/>
              </a:rPr>
              <a:t>a.(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1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b.(</a:t>
            </a:r>
            <a:r>
              <a:rPr dirty="0" sz="1200" spc="-10">
                <a:latin typeface="Symbol"/>
                <a:cs typeface="Symbol"/>
              </a:rPr>
              <a:t></a:t>
            </a:r>
            <a:r>
              <a:rPr dirty="0" sz="1200" spc="-10">
                <a:latin typeface="Palatino Linotype"/>
                <a:cs typeface="Palatino Linotype"/>
              </a:rPr>
              <a:t>1)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82113" y="2602490"/>
            <a:ext cx="8356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ymbol"/>
                <a:cs typeface="Symbol"/>
              </a:rPr>
              <a:t>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924622" y="2602490"/>
            <a:ext cx="41020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ymbol"/>
                <a:cs typeface="Symbol"/>
              </a:rPr>
              <a:t>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856545" y="3060126"/>
            <a:ext cx="14897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80135" algn="l"/>
              </a:tabLst>
            </a:pP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5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87829" y="2720870"/>
            <a:ext cx="101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62429" y="2831308"/>
            <a:ext cx="11715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9259" sz="1800">
                <a:latin typeface="Symbol"/>
                <a:cs typeface="Symbol"/>
              </a:rPr>
              <a:t></a:t>
            </a:r>
            <a:r>
              <a:rPr dirty="0" sz="1200">
                <a:latin typeface="Palatino Linotype"/>
                <a:cs typeface="Palatino Linotype"/>
              </a:rPr>
              <a:t>a.0</a:t>
            </a:r>
            <a:r>
              <a:rPr dirty="0" sz="1200" spc="4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b.0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37029" y="3005825"/>
            <a:ext cx="121094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ts val="990"/>
              </a:lnSpc>
              <a:spcBef>
                <a:spcPts val="100"/>
              </a:spcBef>
              <a:tabLst>
                <a:tab pos="324485" algn="l"/>
              </a:tabLst>
            </a:pPr>
            <a:r>
              <a:rPr dirty="0" sz="1200" spc="-50">
                <a:latin typeface="Symbol"/>
                <a:cs typeface="Symbol"/>
              </a:rPr>
              <a:t>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700" spc="-50">
                <a:latin typeface="Palatino Linotype"/>
                <a:cs typeface="Palatino Linotype"/>
              </a:rPr>
              <a:t>2</a:t>
            </a:r>
            <a:endParaRPr sz="700">
              <a:latin typeface="Palatino Linotype"/>
              <a:cs typeface="Palatino Linotype"/>
            </a:endParaRPr>
          </a:p>
          <a:p>
            <a:pPr marL="63500">
              <a:lnSpc>
                <a:spcPts val="990"/>
              </a:lnSpc>
            </a:pPr>
            <a:r>
              <a:rPr dirty="0" baseline="-23148" sz="1800">
                <a:latin typeface="Symbol"/>
                <a:cs typeface="Symbol"/>
              </a:rPr>
              <a:t></a:t>
            </a:r>
            <a:r>
              <a:rPr dirty="0" sz="1200">
                <a:latin typeface="Palatino Linotype"/>
                <a:cs typeface="Palatino Linotype"/>
              </a:rPr>
              <a:t>a.1</a:t>
            </a:r>
            <a:r>
              <a:rPr dirty="0" sz="1200" spc="3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b.1</a:t>
            </a:r>
            <a:r>
              <a:rPr dirty="0" sz="1200" spc="-1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5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882113" y="2743130"/>
            <a:ext cx="101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659005" y="2831308"/>
            <a:ext cx="6438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baseline="-9259" sz="1800">
                <a:latin typeface="Symbol"/>
                <a:cs typeface="Symbol"/>
              </a:rPr>
              <a:t>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924927" y="2743130"/>
            <a:ext cx="101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701515" y="2831308"/>
            <a:ext cx="6629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baseline="-9259" sz="1800">
                <a:latin typeface="Symbol"/>
                <a:cs typeface="Symbol"/>
              </a:rPr>
              <a:t>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882113" y="3112603"/>
            <a:ext cx="11449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5370" algn="l"/>
              </a:tabLst>
            </a:pPr>
            <a:r>
              <a:rPr dirty="0" sz="1200" spc="-50">
                <a:latin typeface="Symbol"/>
                <a:cs typeface="Symbol"/>
              </a:rPr>
              <a:t>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4198" y="4256054"/>
            <a:ext cx="496541" cy="26130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9860" y="5138404"/>
            <a:ext cx="1577855" cy="261011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668527" y="3512946"/>
            <a:ext cx="5981700" cy="2168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 Math"/>
                <a:cs typeface="Cambria Math"/>
              </a:rPr>
              <a:t>⇒</a:t>
            </a:r>
            <a:r>
              <a:rPr dirty="0" sz="1200" spc="25">
                <a:latin typeface="Cambria Math"/>
                <a:cs typeface="Cambria Math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1.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Thử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lại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thấy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bài.</a:t>
            </a:r>
            <a:endParaRPr sz="1200">
              <a:latin typeface="Palatino Linotype"/>
              <a:cs typeface="Palatino Linotype"/>
            </a:endParaRPr>
          </a:p>
          <a:p>
            <a:pPr marL="508000">
              <a:lnSpc>
                <a:spcPct val="100000"/>
              </a:lnSpc>
              <a:spcBef>
                <a:spcPts val="1460"/>
              </a:spcBef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103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11.</a:t>
            </a:r>
            <a:r>
              <a:rPr dirty="0" sz="1200" spc="28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Vì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f(x)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baseline="-4761" sz="2625" spc="-75">
                <a:latin typeface="Symbol"/>
                <a:cs typeface="Symbol"/>
              </a:rPr>
              <a:t>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3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28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f(2)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=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spc="-50" i="1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508000">
              <a:lnSpc>
                <a:spcPct val="100000"/>
              </a:lnSpc>
              <a:spcBef>
                <a:spcPts val="1370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đó:</a:t>
            </a:r>
            <a:r>
              <a:rPr dirty="0" sz="1200" spc="229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3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r>
              <a:rPr dirty="0" sz="1200" spc="-10">
                <a:latin typeface="Palatino Linotype"/>
                <a:cs typeface="Palatino Linotype"/>
              </a:rPr>
              <a:t>.2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1380"/>
              </a:spcBef>
              <a:tabLst>
                <a:tab pos="2132965" algn="l"/>
              </a:tabLst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12</a:t>
            </a:r>
            <a:r>
              <a:rPr dirty="0" sz="1200">
                <a:solidFill>
                  <a:srgbClr val="00AFEF"/>
                </a:solidFill>
                <a:latin typeface="Palatino Linotype"/>
                <a:cs typeface="Palatino Linotype"/>
              </a:rPr>
              <a:t>.</a:t>
            </a:r>
            <a:r>
              <a:rPr dirty="0" sz="1200" spc="-10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35">
                <a:latin typeface="Palatino Linotype"/>
                <a:cs typeface="Palatino Linotype"/>
              </a:rPr>
              <a:t> </a:t>
            </a:r>
            <a:r>
              <a:rPr dirty="0" baseline="-4761" sz="2625" spc="-67">
                <a:latin typeface="Symbol"/>
                <a:cs typeface="Symbol"/>
              </a:rPr>
              <a:t></a:t>
            </a:r>
            <a:r>
              <a:rPr dirty="0" sz="1200" spc="-45">
                <a:latin typeface="Palatino Linotype"/>
                <a:cs typeface="Palatino Linotype"/>
              </a:rPr>
              <a:t>x</a:t>
            </a:r>
            <a:r>
              <a:rPr dirty="0" baseline="-4761" sz="2625" spc="-67">
                <a:latin typeface="Symbol"/>
                <a:cs typeface="Symbol"/>
              </a:rPr>
              <a:t></a:t>
            </a:r>
            <a:r>
              <a:rPr dirty="0" baseline="-4761" sz="2625" spc="-7">
                <a:latin typeface="Times New Roman"/>
                <a:cs typeface="Times New Roman"/>
              </a:rPr>
              <a:t> </a:t>
            </a:r>
            <a:r>
              <a:rPr dirty="0" baseline="-4761" sz="2625" spc="-75">
                <a:latin typeface="Symbol"/>
                <a:cs typeface="Symbol"/>
              </a:rPr>
              <a:t>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sz="1200" spc="-25">
                <a:latin typeface="Palatino Linotype"/>
                <a:cs typeface="Palatino Linotype"/>
              </a:rPr>
              <a:t>;</a:t>
            </a:r>
            <a:r>
              <a:rPr dirty="0" sz="1200">
                <a:latin typeface="Palatino Linotype"/>
                <a:cs typeface="Palatino Linotype"/>
              </a:rPr>
              <a:t>	f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baseline="-4761" sz="2625" spc="-67">
                <a:latin typeface="Symbol"/>
                <a:cs typeface="Symbol"/>
              </a:rPr>
              <a:t></a:t>
            </a:r>
            <a:r>
              <a:rPr dirty="0" sz="1200" spc="-45">
                <a:latin typeface="Palatino Linotype"/>
                <a:cs typeface="Palatino Linotype"/>
              </a:rPr>
              <a:t>x</a:t>
            </a:r>
            <a:r>
              <a:rPr dirty="0" baseline="-4761" sz="2625" spc="-67">
                <a:latin typeface="Symbol"/>
                <a:cs typeface="Symbol"/>
              </a:rPr>
              <a:t></a:t>
            </a:r>
            <a:r>
              <a:rPr dirty="0" baseline="-4761" sz="2625" spc="-60">
                <a:latin typeface="Times New Roman"/>
                <a:cs typeface="Times New Roman"/>
              </a:rPr>
              <a:t> </a:t>
            </a:r>
            <a:r>
              <a:rPr dirty="0" baseline="-4761" sz="2625" spc="-82">
                <a:latin typeface="Symbol"/>
                <a:cs typeface="Symbol"/>
              </a:rPr>
              <a:t></a:t>
            </a:r>
            <a:r>
              <a:rPr dirty="0" sz="1200" spc="-55">
                <a:latin typeface="Palatino Linotype"/>
                <a:cs typeface="Palatino Linotype"/>
              </a:rPr>
              <a:t>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-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0" i="1">
                <a:latin typeface="Palatino Linotype"/>
                <a:cs typeface="Palatino Linotype"/>
              </a:rPr>
              <a:t>f(x)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1005"/>
              </a:spcBef>
            </a:pP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f(1)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=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0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và</a:t>
            </a:r>
            <a:r>
              <a:rPr dirty="0" sz="1200" spc="-10" i="1">
                <a:latin typeface="Palatino Linotype"/>
                <a:cs typeface="Palatino Linotype"/>
              </a:rPr>
              <a:t> f(-</a:t>
            </a:r>
            <a:r>
              <a:rPr dirty="0" sz="1200" i="1">
                <a:latin typeface="Palatino Linotype"/>
                <a:cs typeface="Palatino Linotype"/>
              </a:rPr>
              <a:t>2)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=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. Do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đó: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7" name="object 5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58" name="object 5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31" name="object 31" descr=""/>
          <p:cNvSpPr txBox="1"/>
          <p:nvPr/>
        </p:nvSpPr>
        <p:spPr>
          <a:xfrm>
            <a:off x="1548895" y="6117778"/>
            <a:ext cx="70485" cy="130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00" spc="-50">
                <a:latin typeface="Palatino Linotype"/>
                <a:cs typeface="Palatino Linotype"/>
              </a:rPr>
              <a:t>2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801171" y="5912673"/>
            <a:ext cx="113664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454630" y="5789183"/>
            <a:ext cx="159829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baseline="-4761" sz="2625" spc="-104">
                <a:latin typeface="Symbol"/>
                <a:cs typeface="Symbol"/>
              </a:rPr>
              <a:t></a:t>
            </a:r>
            <a:r>
              <a:rPr dirty="0" sz="1200" spc="-70">
                <a:latin typeface="Palatino Linotype"/>
                <a:cs typeface="Palatino Linotype"/>
              </a:rPr>
              <a:t>a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1</a:t>
            </a:r>
            <a:r>
              <a:rPr dirty="0" baseline="-4761" sz="2625" spc="-52">
                <a:latin typeface="Symbol"/>
                <a:cs typeface="Symbol"/>
              </a:rPr>
              <a:t></a:t>
            </a:r>
            <a:r>
              <a:rPr dirty="0" sz="1200" spc="-35">
                <a:latin typeface="Palatino Linotype"/>
                <a:cs typeface="Palatino Linotype"/>
              </a:rPr>
              <a:t>.1</a:t>
            </a:r>
            <a:r>
              <a:rPr dirty="0" sz="1200" spc="-1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454369" y="5897908"/>
            <a:ext cx="80073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>
                <a:latin typeface="Symbol"/>
                <a:cs typeface="Symbol"/>
              </a:rPr>
              <a:t></a:t>
            </a:r>
            <a:r>
              <a:rPr dirty="0" sz="1200">
                <a:latin typeface="Palatino Linotype"/>
                <a:cs typeface="Palatino Linotype"/>
              </a:rPr>
              <a:t>2a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267401" y="6008140"/>
            <a:ext cx="1137285" cy="32575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555625" marR="5080" indent="-543560">
              <a:lnSpc>
                <a:spcPct val="64700"/>
              </a:lnSpc>
              <a:spcBef>
                <a:spcPts val="600"/>
              </a:spcBef>
              <a:tabLst>
                <a:tab pos="662305" algn="l"/>
              </a:tabLst>
            </a:pP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</a:t>
            </a:r>
            <a:r>
              <a:rPr dirty="0" sz="1200">
                <a:latin typeface="Times New Roman"/>
                <a:cs typeface="Times New Roman"/>
              </a:rPr>
              <a:t>		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1 </a:t>
            </a: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62479" y="5848219"/>
            <a:ext cx="15303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200" spc="-315">
                <a:latin typeface="Symbol"/>
                <a:cs typeface="Symbol"/>
              </a:rPr>
              <a:t></a:t>
            </a:r>
            <a:r>
              <a:rPr dirty="0" baseline="-25462" sz="1800" spc="-472">
                <a:latin typeface="Symbol"/>
                <a:cs typeface="Symbol"/>
              </a:rPr>
              <a:t></a:t>
            </a:r>
            <a:endParaRPr baseline="-25462" sz="1800">
              <a:latin typeface="Symbol"/>
              <a:cs typeface="Symbo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231360" y="6008140"/>
            <a:ext cx="35115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baseline="-9259" sz="1800" spc="-75">
                <a:latin typeface="Symbol"/>
                <a:cs typeface="Symbol"/>
              </a:rPr>
              <a:t></a:t>
            </a:r>
            <a:endParaRPr baseline="-9259" sz="1800">
              <a:latin typeface="Symbol"/>
              <a:cs typeface="Symbo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635517" y="6083739"/>
            <a:ext cx="161226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baseline="-3174" sz="2625" spc="-104">
                <a:latin typeface="Symbol"/>
                <a:cs typeface="Symbol"/>
              </a:rPr>
              <a:t></a:t>
            </a:r>
            <a:r>
              <a:rPr dirty="0" sz="1200" spc="-70">
                <a:latin typeface="Palatino Linotype"/>
                <a:cs typeface="Palatino Linotype"/>
              </a:rPr>
              <a:t>a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5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Palatino Linotype"/>
                <a:cs typeface="Palatino Linotype"/>
              </a:rPr>
              <a:t>1</a:t>
            </a:r>
            <a:r>
              <a:rPr dirty="0" baseline="-3174" sz="2625" spc="-67">
                <a:latin typeface="Symbol"/>
                <a:cs typeface="Symbol"/>
              </a:rPr>
              <a:t></a:t>
            </a:r>
            <a:r>
              <a:rPr dirty="0" sz="1200" spc="-45">
                <a:latin typeface="Palatino Linotype"/>
                <a:cs typeface="Palatino Linotype"/>
              </a:rPr>
              <a:t>.</a:t>
            </a:r>
            <a:r>
              <a:rPr dirty="0" baseline="-3174" sz="2625" spc="-67">
                <a:latin typeface="Symbol"/>
                <a:cs typeface="Symbol"/>
              </a:rPr>
              <a:t></a:t>
            </a:r>
            <a:r>
              <a:rPr dirty="0" sz="1200" spc="-45">
                <a:latin typeface="Symbol"/>
                <a:cs typeface="Symbol"/>
              </a:rPr>
              <a:t></a:t>
            </a:r>
            <a:r>
              <a:rPr dirty="0" sz="1200" spc="-45">
                <a:latin typeface="Palatino Linotype"/>
                <a:cs typeface="Palatino Linotype"/>
              </a:rPr>
              <a:t>2</a:t>
            </a:r>
            <a:r>
              <a:rPr dirty="0" baseline="-3174" sz="2625" spc="-67">
                <a:latin typeface="Symbol"/>
                <a:cs typeface="Symbol"/>
              </a:rPr>
              <a:t></a:t>
            </a:r>
            <a:r>
              <a:rPr dirty="0" baseline="-3174" sz="2625" spc="-38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428969" y="6125297"/>
            <a:ext cx="85026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6203" sz="1800">
                <a:latin typeface="Symbol"/>
                <a:cs typeface="Symbol"/>
              </a:rPr>
              <a:t></a:t>
            </a:r>
            <a:r>
              <a:rPr dirty="0" sz="1200">
                <a:latin typeface="Palatino Linotype"/>
                <a:cs typeface="Palatino Linotype"/>
              </a:rPr>
              <a:t>4a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7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187879" y="6034040"/>
            <a:ext cx="10223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162479" y="6106628"/>
            <a:ext cx="43497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3888" sz="1800" spc="-142">
                <a:latin typeface="Symbol"/>
                <a:cs typeface="Symbol"/>
              </a:rPr>
              <a:t></a:t>
            </a:r>
            <a:r>
              <a:rPr dirty="0" sz="1200" spc="-95">
                <a:latin typeface="Symbol"/>
                <a:cs typeface="Symbol"/>
              </a:rPr>
              <a:t></a:t>
            </a:r>
            <a:r>
              <a:rPr dirty="0" baseline="1587" sz="2625" spc="-142">
                <a:latin typeface="Symbol"/>
                <a:cs typeface="Symbol"/>
              </a:rPr>
              <a:t></a:t>
            </a:r>
            <a:r>
              <a:rPr dirty="0" baseline="9259" sz="1800" spc="-142">
                <a:latin typeface="Symbol"/>
                <a:cs typeface="Symbol"/>
              </a:rPr>
              <a:t></a:t>
            </a:r>
            <a:r>
              <a:rPr dirty="0" baseline="9259" sz="1800" spc="-142">
                <a:latin typeface="Palatino Linotype"/>
                <a:cs typeface="Palatino Linotype"/>
              </a:rPr>
              <a:t>2</a:t>
            </a:r>
            <a:r>
              <a:rPr dirty="0" baseline="1587" sz="2625" spc="-142">
                <a:latin typeface="Symbol"/>
                <a:cs typeface="Symbol"/>
              </a:rPr>
              <a:t></a:t>
            </a:r>
            <a:endParaRPr baseline="1587" sz="2625">
              <a:latin typeface="Symbol"/>
              <a:cs typeface="Symbo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06627" y="6585584"/>
            <a:ext cx="6031230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2).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13.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270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28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f(2)</a:t>
            </a:r>
            <a:r>
              <a:rPr dirty="0" sz="1200" spc="-2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=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0.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Do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81227" y="7235982"/>
            <a:ext cx="2872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đó:</a:t>
            </a:r>
            <a:r>
              <a:rPr dirty="0" sz="1200" spc="2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baseline="47008" sz="975">
                <a:latin typeface="Palatino Linotype"/>
                <a:cs typeface="Palatino Linotype"/>
              </a:rPr>
              <a:t>3</a:t>
            </a:r>
            <a:r>
              <a:rPr dirty="0" baseline="47008" sz="975" spc="2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a.2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8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b.2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50">
                <a:latin typeface="Symbol"/>
                <a:cs typeface="Symbol"/>
              </a:rPr>
              <a:t>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4a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2b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8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654238" y="7180050"/>
            <a:ext cx="26162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750" spc="-30">
                <a:latin typeface="Symbol"/>
                <a:cs typeface="Symbol"/>
              </a:rPr>
              <a:t></a:t>
            </a:r>
            <a:r>
              <a:rPr dirty="0" baseline="6944" sz="1800" spc="-44">
                <a:latin typeface="Palatino Linotype"/>
                <a:cs typeface="Palatino Linotype"/>
              </a:rPr>
              <a:t>1</a:t>
            </a:r>
            <a:r>
              <a:rPr dirty="0" sz="1750" spc="-30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138732" y="7579614"/>
            <a:ext cx="545782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458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Mặt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khác:</a:t>
            </a:r>
            <a:r>
              <a:rPr dirty="0" sz="1200" spc="28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-20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2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2x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28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g(x)</a:t>
            </a:r>
            <a:r>
              <a:rPr dirty="0" sz="1200" spc="-2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=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f(x)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–</a:t>
            </a:r>
            <a:r>
              <a:rPr dirty="0" sz="1200" spc="-15" i="1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2x</a:t>
            </a:r>
            <a:r>
              <a:rPr dirty="0" sz="1200" spc="-10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nhận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(x</a:t>
            </a:r>
            <a:r>
              <a:rPr dirty="0" baseline="27777" sz="1050">
                <a:latin typeface="Palatino Linotype"/>
                <a:cs typeface="Palatino Linotype"/>
              </a:rPr>
              <a:t>2</a:t>
            </a:r>
            <a:r>
              <a:rPr dirty="0" baseline="27777" sz="1050" spc="17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nghiệm </a:t>
            </a: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-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Palatino Linotype"/>
                <a:cs typeface="Palatino Linotype"/>
              </a:rPr>
              <a:t>g(x).</a:t>
            </a:r>
            <a:r>
              <a:rPr dirty="0" sz="1200" spc="-5" i="1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đó: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412634" y="8258777"/>
            <a:ext cx="20955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>
                <a:latin typeface="Symbol"/>
                <a:cs typeface="Symbol"/>
              </a:rPr>
              <a:t></a:t>
            </a:r>
            <a:r>
              <a:rPr dirty="0" sz="1750" spc="15">
                <a:latin typeface="Times New Roman"/>
                <a:cs typeface="Times New Roman"/>
              </a:rPr>
              <a:t> </a:t>
            </a:r>
            <a:r>
              <a:rPr dirty="0" sz="1750" spc="-13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187844" y="8316568"/>
            <a:ext cx="6610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629" sz="1800">
                <a:latin typeface="Symbol"/>
                <a:cs typeface="Symbol"/>
              </a:rPr>
              <a:t></a:t>
            </a:r>
            <a:r>
              <a:rPr dirty="0" baseline="4629" sz="18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sz="1200" spc="2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36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100582" y="8325646"/>
            <a:ext cx="13023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629" sz="1800">
                <a:latin typeface="Symbol"/>
                <a:cs typeface="Symbol"/>
              </a:rPr>
              <a:t></a:t>
            </a:r>
            <a:r>
              <a:rPr dirty="0" baseline="4629" sz="1800" spc="15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187844" y="8351974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100612" y="8351974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902920" y="8440012"/>
            <a:ext cx="1879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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187844" y="8466328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100612" y="8466328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2062482" y="8218092"/>
            <a:ext cx="1798320" cy="56388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r" marR="97155">
              <a:lnSpc>
                <a:spcPct val="100000"/>
              </a:lnSpc>
              <a:spcBef>
                <a:spcPts val="520"/>
              </a:spcBef>
            </a:pPr>
            <a:r>
              <a:rPr dirty="0" sz="1750" spc="-25">
                <a:latin typeface="Symbol"/>
                <a:cs typeface="Symbol"/>
              </a:rPr>
              <a:t></a:t>
            </a:r>
            <a:r>
              <a:rPr dirty="0" baseline="6944" sz="1800" spc="-37">
                <a:latin typeface="Palatino Linotype"/>
                <a:cs typeface="Palatino Linotype"/>
              </a:rPr>
              <a:t>2</a:t>
            </a:r>
            <a:r>
              <a:rPr dirty="0" sz="1750" spc="-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  <a:tabLst>
                <a:tab pos="1562100" algn="l"/>
              </a:tabLst>
            </a:pPr>
            <a:r>
              <a:rPr dirty="0" baseline="-9259" sz="1800" spc="-225">
                <a:latin typeface="Symbol"/>
                <a:cs typeface="Symbol"/>
              </a:rPr>
              <a:t></a:t>
            </a:r>
            <a:r>
              <a:rPr dirty="0" baseline="-16203" sz="1800" spc="-225">
                <a:latin typeface="Symbol"/>
                <a:cs typeface="Symbol"/>
              </a:rPr>
              <a:t></a:t>
            </a:r>
            <a:r>
              <a:rPr dirty="0" sz="1200" spc="-150">
                <a:latin typeface="Symbol"/>
                <a:cs typeface="Symbol"/>
              </a:rPr>
              <a:t></a:t>
            </a:r>
            <a:r>
              <a:rPr dirty="0" sz="1200" spc="-150">
                <a:latin typeface="Palatino Linotype"/>
                <a:cs typeface="Palatino Linotype"/>
              </a:rPr>
              <a:t>1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-25">
                <a:latin typeface="Palatino Linotype"/>
                <a:cs typeface="Palatino Linotype"/>
              </a:rPr>
              <a:t>(3)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162444" y="8490527"/>
            <a:ext cx="75692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13888" sz="1800" spc="-300">
                <a:latin typeface="Symbol"/>
                <a:cs typeface="Symbol"/>
              </a:rPr>
              <a:t></a:t>
            </a:r>
            <a:r>
              <a:rPr dirty="0" baseline="-23148" sz="1800" spc="-300">
                <a:latin typeface="Symbol"/>
                <a:cs typeface="Symbol"/>
              </a:rPr>
              <a:t></a:t>
            </a:r>
            <a:r>
              <a:rPr dirty="0" sz="1200" spc="-200">
                <a:latin typeface="Palatino Linotype"/>
                <a:cs typeface="Palatino Linotype"/>
              </a:rPr>
              <a:t>g</a:t>
            </a:r>
            <a:r>
              <a:rPr dirty="0" sz="1200" spc="-145">
                <a:latin typeface="Palatino Linotype"/>
                <a:cs typeface="Palatino Linotype"/>
              </a:rPr>
              <a:t> 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Symbol"/>
                <a:cs typeface="Symbol"/>
              </a:rPr>
              <a:t></a:t>
            </a:r>
            <a:r>
              <a:rPr dirty="0" sz="1200" spc="-80">
                <a:latin typeface="Palatino Linotype"/>
                <a:cs typeface="Palatino Linotype"/>
              </a:rPr>
              <a:t>1</a:t>
            </a:r>
            <a:r>
              <a:rPr dirty="0" baseline="-3174" sz="2625" spc="-120">
                <a:latin typeface="Symbol"/>
                <a:cs typeface="Symbol"/>
              </a:rPr>
              <a:t></a:t>
            </a:r>
            <a:r>
              <a:rPr dirty="0" baseline="-3174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126032" y="9086850"/>
            <a:ext cx="2906395" cy="327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19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(1), (2), (3)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10</a:t>
            </a:r>
            <a:r>
              <a:rPr dirty="0" baseline="34722" sz="1800" spc="-10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4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1;</a:t>
            </a:r>
            <a:r>
              <a:rPr dirty="0" sz="1200" spc="-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10</a:t>
            </a:r>
            <a:r>
              <a:rPr dirty="0" baseline="34722" sz="1800" spc="434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1799589">
              <a:lnSpc>
                <a:spcPts val="1190"/>
              </a:lnSpc>
              <a:tabLst>
                <a:tab pos="2630805" algn="l"/>
              </a:tabLst>
            </a:pPr>
            <a:r>
              <a:rPr dirty="0" sz="1200" spc="-50">
                <a:latin typeface="Palatino Linotype"/>
                <a:cs typeface="Palatino Linotype"/>
              </a:rPr>
              <a:t>3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-50"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68527" y="735360"/>
            <a:ext cx="6068695" cy="400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ts val="1795"/>
              </a:lnSpc>
              <a:spcBef>
                <a:spcPts val="12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14.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 có: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3174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n</a:t>
            </a:r>
            <a:r>
              <a:rPr dirty="0" baseline="-3174" sz="2625" spc="-112">
                <a:latin typeface="Symbol"/>
                <a:cs typeface="Symbol"/>
              </a:rPr>
              <a:t></a:t>
            </a:r>
            <a:r>
              <a:rPr dirty="0" baseline="-3174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u="sng" baseline="34722" sz="1800" spc="-247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baseline="34722" sz="18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baseline="-3174" sz="2625" spc="-104">
                <a:latin typeface="Symbol"/>
                <a:cs typeface="Symbol"/>
              </a:rPr>
              <a:t></a:t>
            </a:r>
            <a:r>
              <a:rPr dirty="0" sz="1200" spc="-70">
                <a:latin typeface="Palatino Linotype"/>
                <a:cs typeface="Palatino Linotype"/>
              </a:rPr>
              <a:t>n</a:t>
            </a:r>
            <a:r>
              <a:rPr dirty="0" baseline="-3174" sz="2625" spc="-104">
                <a:latin typeface="Symbol"/>
                <a:cs typeface="Symbol"/>
              </a:rPr>
              <a:t></a:t>
            </a:r>
            <a:r>
              <a:rPr dirty="0" baseline="-3174" sz="2625" spc="-39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u="sng" baseline="34722" sz="1800" spc="-254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baseline="34722" sz="1800" spc="15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1; 2; 3;....;2001.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 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1; 2; 3;....;2001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là</a:t>
            </a:r>
            <a:endParaRPr sz="1200">
              <a:latin typeface="Palatino Linotype"/>
              <a:cs typeface="Palatino Linotype"/>
            </a:endParaRPr>
          </a:p>
          <a:p>
            <a:pPr marL="1504950">
              <a:lnSpc>
                <a:spcPts val="1135"/>
              </a:lnSpc>
              <a:tabLst>
                <a:tab pos="2369185" algn="l"/>
              </a:tabLst>
            </a:pPr>
            <a:r>
              <a:rPr dirty="0" sz="1200" spc="-50">
                <a:latin typeface="Palatino Linotype"/>
                <a:cs typeface="Palatino Linotype"/>
              </a:rPr>
              <a:t>n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-50">
                <a:latin typeface="Palatino Linotype"/>
                <a:cs typeface="Palatino Linotype"/>
              </a:rPr>
              <a:t>n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36" name="object 3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950808" y="1180893"/>
            <a:ext cx="11493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200" spc="-21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60274" y="1395593"/>
            <a:ext cx="10541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Palatino Linotype"/>
                <a:cs typeface="Palatino Linotype"/>
              </a:rPr>
              <a:t>x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6627" y="1203354"/>
            <a:ext cx="2912745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92045" algn="l"/>
              </a:tabLst>
            </a:pP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trình: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x</a:t>
            </a:r>
            <a:r>
              <a:rPr dirty="0" baseline="-3174" sz="2625" spc="-120">
                <a:latin typeface="Symbol"/>
                <a:cs typeface="Symbol"/>
              </a:rPr>
              <a:t></a:t>
            </a:r>
            <a:r>
              <a:rPr dirty="0" baseline="-3174" sz="2625" spc="-39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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20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hay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57139" y="1148725"/>
            <a:ext cx="613410" cy="455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marR="5080" indent="-254000">
              <a:lnSpc>
                <a:spcPct val="117400"/>
              </a:lnSpc>
              <a:spcBef>
                <a:spcPts val="100"/>
              </a:spcBef>
            </a:pPr>
            <a:r>
              <a:rPr dirty="0" u="sng" sz="1200" spc="-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x.f(x)</a:t>
            </a:r>
            <a:r>
              <a:rPr dirty="0" u="sng" sz="1200" spc="-6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11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 spc="-50">
                <a:latin typeface="Palatino Linotype"/>
                <a:cs typeface="Palatino Linotype"/>
              </a:rPr>
              <a:t> x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281987" y="1276715"/>
            <a:ext cx="220979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20913" y="3784121"/>
            <a:ext cx="7880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Palatino Linotype"/>
                <a:cs typeface="Palatino Linotype"/>
              </a:rPr>
              <a:t>1.2.3....2001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35409" y="4185283"/>
            <a:ext cx="8261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Palatino Linotype"/>
                <a:cs typeface="Palatino Linotype"/>
              </a:rPr>
              <a:t>1.2.3.....2001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90125" y="1697445"/>
            <a:ext cx="5831840" cy="21907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Xét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trình: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G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28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x.f</a:t>
            </a:r>
            <a:r>
              <a:rPr dirty="0" sz="1200" spc="-135">
                <a:latin typeface="Palatino Linotype"/>
                <a:cs typeface="Palatino Linotype"/>
              </a:rPr>
              <a:t> </a:t>
            </a:r>
            <a:r>
              <a:rPr dirty="0" baseline="-4761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x</a:t>
            </a:r>
            <a:r>
              <a:rPr dirty="0" baseline="-4761" sz="2625" spc="-112">
                <a:latin typeface="Symbol"/>
                <a:cs typeface="Symbol"/>
              </a:rPr>
              <a:t></a:t>
            </a:r>
            <a:r>
              <a:rPr dirty="0" baseline="-4761" sz="2625" spc="-39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8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 là x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1;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2; 3;....;2001 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G(0)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  <a:p>
            <a:pPr marL="486409">
              <a:lnSpc>
                <a:spcPct val="100000"/>
              </a:lnSpc>
              <a:spcBef>
                <a:spcPts val="1370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dạng:</a:t>
            </a:r>
            <a:r>
              <a:rPr dirty="0" sz="1200" spc="19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G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8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r>
              <a:rPr dirty="0" baseline="-4761" sz="2625" spc="-75">
                <a:latin typeface="Symbol"/>
                <a:cs typeface="Symbol"/>
              </a:rPr>
              <a:t>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2</a:t>
            </a:r>
            <a:r>
              <a:rPr dirty="0" baseline="-4761" sz="2625" spc="-44">
                <a:latin typeface="Symbol"/>
                <a:cs typeface="Symbol"/>
              </a:rPr>
              <a:t>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3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r>
              <a:rPr dirty="0" sz="1200" spc="-10">
                <a:latin typeface="Palatino Linotype"/>
                <a:cs typeface="Palatino Linotype"/>
              </a:rPr>
              <a:t>...</a:t>
            </a:r>
            <a:r>
              <a:rPr dirty="0" baseline="-4761" sz="2625" spc="-15">
                <a:latin typeface="Symbol"/>
                <a:cs typeface="Symbol"/>
              </a:rPr>
              <a:t></a:t>
            </a:r>
            <a:r>
              <a:rPr dirty="0" sz="1200" spc="-10">
                <a:latin typeface="Palatino Linotype"/>
                <a:cs typeface="Palatino Linotype"/>
              </a:rPr>
              <a:t>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2001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endParaRPr baseline="-4761" sz="2625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>
              <a:latin typeface="Symbol"/>
              <a:cs typeface="Symbol"/>
            </a:endParaRPr>
          </a:p>
          <a:p>
            <a:pPr marL="486409">
              <a:lnSpc>
                <a:spcPts val="1190"/>
              </a:lnSpc>
              <a:spcBef>
                <a:spcPts val="5"/>
              </a:spcBef>
              <a:tabLst>
                <a:tab pos="4250055" algn="l"/>
                <a:tab pos="4669155" algn="l"/>
              </a:tabLst>
            </a:pPr>
            <a:r>
              <a:rPr dirty="0" sz="1200">
                <a:latin typeface="Palatino Linotype"/>
                <a:cs typeface="Palatino Linotype"/>
              </a:rPr>
              <a:t>Suy ra: G(0) = </a:t>
            </a:r>
            <a:r>
              <a:rPr dirty="0" sz="1200" spc="-10">
                <a:latin typeface="Palatino Linotype"/>
                <a:cs typeface="Palatino Linotype"/>
              </a:rPr>
              <a:t>a.(-1)(-2)(-3)....(-</a:t>
            </a:r>
            <a:r>
              <a:rPr dirty="0" sz="1200">
                <a:latin typeface="Palatino Linotype"/>
                <a:cs typeface="Palatino Linotype"/>
              </a:rPr>
              <a:t>2001) = </a:t>
            </a: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1 Vì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thế: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dirty="0" u="sng" baseline="34722" sz="1800" spc="-7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dirty="0" baseline="34722" sz="1800" spc="-2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algn="r" marR="1149985">
              <a:lnSpc>
                <a:spcPts val="1190"/>
              </a:lnSpc>
            </a:pPr>
            <a:r>
              <a:rPr dirty="0" sz="1200" spc="-10">
                <a:latin typeface="Palatino Linotype"/>
                <a:cs typeface="Palatino Linotype"/>
              </a:rPr>
              <a:t>1.2.3....2001</a:t>
            </a:r>
            <a:endParaRPr sz="1200">
              <a:latin typeface="Palatino Linotype"/>
              <a:cs typeface="Palatino Linotype"/>
            </a:endParaRPr>
          </a:p>
          <a:p>
            <a:pPr marL="486409">
              <a:lnSpc>
                <a:spcPct val="100000"/>
              </a:lnSpc>
              <a:spcBef>
                <a:spcPts val="1375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đó: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tabLst>
                <a:tab pos="886460" algn="l"/>
                <a:tab pos="1303020" algn="l"/>
              </a:tabLst>
            </a:pPr>
            <a:r>
              <a:rPr dirty="0" sz="1200" spc="-30">
                <a:latin typeface="Palatino Linotype"/>
                <a:cs typeface="Palatino Linotype"/>
              </a:rPr>
              <a:t>G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19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dirty="0" u="sng" baseline="34722" sz="1800" spc="-7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dirty="0" baseline="34722" sz="1800" spc="-187">
                <a:latin typeface="Palatino Linotype"/>
                <a:cs typeface="Palatino Linotype"/>
              </a:rPr>
              <a:t> </a:t>
            </a:r>
            <a:r>
              <a:rPr dirty="0" baseline="-4761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50">
                <a:latin typeface="Times New Roman"/>
                <a:cs typeface="Times New Roman"/>
              </a:rPr>
              <a:t> </a:t>
            </a:r>
            <a:r>
              <a:rPr dirty="0" sz="1200" spc="-55">
                <a:latin typeface="Palatino Linotype"/>
                <a:cs typeface="Palatino Linotype"/>
              </a:rPr>
              <a:t>1</a:t>
            </a:r>
            <a:r>
              <a:rPr dirty="0" baseline="-4761" sz="2625" spc="-82">
                <a:latin typeface="Symbol"/>
                <a:cs typeface="Symbol"/>
              </a:rPr>
              <a:t></a:t>
            </a:r>
            <a:r>
              <a:rPr dirty="0" sz="1200" spc="-55">
                <a:latin typeface="Palatino Linotype"/>
                <a:cs typeface="Palatino Linotype"/>
              </a:rPr>
              <a:t>x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2</a:t>
            </a:r>
            <a:r>
              <a:rPr dirty="0" baseline="-4761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x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3</a:t>
            </a:r>
            <a:r>
              <a:rPr dirty="0" baseline="-4761" sz="2625" spc="-30">
                <a:latin typeface="Symbol"/>
                <a:cs typeface="Symbol"/>
              </a:rPr>
              <a:t></a:t>
            </a:r>
            <a:r>
              <a:rPr dirty="0" sz="1200" spc="-20">
                <a:latin typeface="Palatino Linotype"/>
                <a:cs typeface="Palatino Linotype"/>
              </a:rPr>
              <a:t>...</a:t>
            </a:r>
            <a:r>
              <a:rPr dirty="0" baseline="-4761" sz="2625" spc="-30">
                <a:latin typeface="Symbol"/>
                <a:cs typeface="Symbol"/>
              </a:rPr>
              <a:t></a:t>
            </a:r>
            <a:r>
              <a:rPr dirty="0" sz="1200" spc="-20">
                <a:latin typeface="Palatino Linotype"/>
                <a:cs typeface="Palatino Linotype"/>
              </a:rPr>
              <a:t>x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2001</a:t>
            </a:r>
            <a:r>
              <a:rPr dirty="0" baseline="-4761" sz="2625">
                <a:latin typeface="Symbol"/>
                <a:cs typeface="Symbol"/>
              </a:rPr>
              <a:t></a:t>
            </a:r>
            <a:endParaRPr baseline="-4761" sz="2625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4989" y="3992376"/>
            <a:ext cx="3822065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304925" algn="l"/>
                <a:tab pos="1740535" algn="l"/>
              </a:tabLst>
            </a:pPr>
            <a:r>
              <a:rPr dirty="0" sz="1200">
                <a:latin typeface="Symbol"/>
                <a:cs typeface="Symbol"/>
              </a:rPr>
              <a:t>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xf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baseline="-4761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x</a:t>
            </a:r>
            <a:r>
              <a:rPr dirty="0" baseline="-4761" sz="2625" spc="-120">
                <a:latin typeface="Symbol"/>
                <a:cs typeface="Symbol"/>
              </a:rPr>
              <a:t></a:t>
            </a:r>
            <a:r>
              <a:rPr dirty="0" baseline="-4761" sz="2625" spc="-359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dirty="0" u="sng" baseline="34722" sz="1800" spc="-7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dirty="0" baseline="34722" sz="1800" spc="-187">
                <a:latin typeface="Palatino Linotype"/>
                <a:cs typeface="Palatino Linotype"/>
              </a:rPr>
              <a:t> </a:t>
            </a:r>
            <a:r>
              <a:rPr dirty="0" baseline="-4761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50">
                <a:latin typeface="Times New Roman"/>
                <a:cs typeface="Times New Roman"/>
              </a:rPr>
              <a:t> </a:t>
            </a:r>
            <a:r>
              <a:rPr dirty="0" sz="1200" spc="-55">
                <a:latin typeface="Palatino Linotype"/>
                <a:cs typeface="Palatino Linotype"/>
              </a:rPr>
              <a:t>1</a:t>
            </a:r>
            <a:r>
              <a:rPr dirty="0" baseline="-4761" sz="2625" spc="-82">
                <a:latin typeface="Symbol"/>
                <a:cs typeface="Symbol"/>
              </a:rPr>
              <a:t></a:t>
            </a:r>
            <a:r>
              <a:rPr dirty="0" sz="1200" spc="-55">
                <a:latin typeface="Palatino Linotype"/>
                <a:cs typeface="Palatino Linotype"/>
              </a:rPr>
              <a:t>x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2</a:t>
            </a:r>
            <a:r>
              <a:rPr dirty="0" baseline="-4761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x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3</a:t>
            </a:r>
            <a:r>
              <a:rPr dirty="0" baseline="-4761" sz="2625" spc="-30">
                <a:latin typeface="Symbol"/>
                <a:cs typeface="Symbol"/>
              </a:rPr>
              <a:t></a:t>
            </a:r>
            <a:r>
              <a:rPr dirty="0" sz="1200" spc="-20">
                <a:latin typeface="Palatino Linotype"/>
                <a:cs typeface="Palatino Linotype"/>
              </a:rPr>
              <a:t>...</a:t>
            </a:r>
            <a:r>
              <a:rPr dirty="0" baseline="-4761" sz="2625" spc="-30">
                <a:latin typeface="Symbol"/>
                <a:cs typeface="Symbol"/>
              </a:rPr>
              <a:t></a:t>
            </a:r>
            <a:r>
              <a:rPr dirty="0" sz="1200" spc="-20">
                <a:latin typeface="Palatino Linotype"/>
                <a:cs typeface="Palatino Linotype"/>
              </a:rPr>
              <a:t>x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2001</a:t>
            </a:r>
            <a:r>
              <a:rPr dirty="0" baseline="-4761" sz="2625">
                <a:latin typeface="Symbol"/>
                <a:cs typeface="Symbol"/>
              </a:rPr>
              <a:t></a:t>
            </a:r>
            <a:endParaRPr baseline="-4761" sz="2625">
              <a:latin typeface="Symbol"/>
              <a:cs typeface="Symbo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4989" y="4309260"/>
            <a:ext cx="3580765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43981" sz="1800">
                <a:latin typeface="Symbol"/>
                <a:cs typeface="Symbol"/>
              </a:rPr>
              <a:t></a:t>
            </a:r>
            <a:r>
              <a:rPr dirty="0" baseline="-43981" sz="1800" spc="-7">
                <a:latin typeface="Times New Roman"/>
                <a:cs typeface="Times New Roman"/>
              </a:rPr>
              <a:t> </a:t>
            </a:r>
            <a:r>
              <a:rPr dirty="0" baseline="-43981" sz="1800">
                <a:latin typeface="Palatino Linotype"/>
                <a:cs typeface="Palatino Linotype"/>
              </a:rPr>
              <a:t>f</a:t>
            </a:r>
            <a:r>
              <a:rPr dirty="0" baseline="-43981" sz="1800" spc="-172">
                <a:latin typeface="Palatino Linotype"/>
                <a:cs typeface="Palatino Linotype"/>
              </a:rPr>
              <a:t> </a:t>
            </a:r>
            <a:r>
              <a:rPr dirty="0" baseline="-34920" sz="2625" spc="-120">
                <a:latin typeface="Symbol"/>
                <a:cs typeface="Symbol"/>
              </a:rPr>
              <a:t></a:t>
            </a:r>
            <a:r>
              <a:rPr dirty="0" baseline="-43981" sz="1800" spc="-120">
                <a:latin typeface="Palatino Linotype"/>
                <a:cs typeface="Palatino Linotype"/>
              </a:rPr>
              <a:t>x</a:t>
            </a:r>
            <a:r>
              <a:rPr dirty="0" baseline="-34920" sz="2625" spc="-120">
                <a:latin typeface="Symbol"/>
                <a:cs typeface="Symbol"/>
              </a:rPr>
              <a:t></a:t>
            </a:r>
            <a:r>
              <a:rPr dirty="0" baseline="-34920" sz="2625" spc="-247">
                <a:latin typeface="Times New Roman"/>
                <a:cs typeface="Times New Roman"/>
              </a:rPr>
              <a:t> </a:t>
            </a:r>
            <a:r>
              <a:rPr dirty="0" baseline="-43981" sz="1800">
                <a:latin typeface="Symbol"/>
                <a:cs typeface="Symbol"/>
              </a:rPr>
              <a:t></a:t>
            </a:r>
            <a:r>
              <a:rPr dirty="0" baseline="-43981" sz="1800" spc="75">
                <a:latin typeface="Times New Roman"/>
                <a:cs typeface="Times New Roman"/>
              </a:rPr>
              <a:t> </a:t>
            </a:r>
            <a:r>
              <a:rPr dirty="0" u="sng" baseline="-3174" sz="2625" spc="-89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sz="1200" spc="-6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x</a:t>
            </a:r>
            <a:r>
              <a:rPr dirty="0" u="sng" sz="1200" spc="-8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baseline="-3174" sz="2625" spc="-82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</a:t>
            </a:r>
            <a:r>
              <a:rPr dirty="0" u="sng" sz="1200" spc="-5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x</a:t>
            </a:r>
            <a:r>
              <a:rPr dirty="0" u="sng" sz="1200" spc="-8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</a:t>
            </a:r>
            <a:r>
              <a:rPr dirty="0" u="sng" baseline="-3174" sz="2625" spc="-52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</a:t>
            </a: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x</a:t>
            </a:r>
            <a:r>
              <a:rPr dirty="0" u="sng" sz="1200" spc="-8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</a:t>
            </a:r>
            <a:r>
              <a:rPr dirty="0" u="sng" baseline="-3174" sz="2625" spc="-3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...</a:t>
            </a:r>
            <a:r>
              <a:rPr dirty="0" u="sng" baseline="-3174" sz="2625" spc="-3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x</a:t>
            </a:r>
            <a:r>
              <a:rPr dirty="0" u="sng" sz="1200" spc="-8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4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2001</a:t>
            </a:r>
            <a:r>
              <a:rPr dirty="0" u="sng" baseline="-3174" sz="2625" spc="-67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r>
              <a:rPr dirty="0" u="sng" baseline="-3174" sz="2625" spc="-38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dirty="0" u="sng" sz="1200" spc="-1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1.2.3...2001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334837" y="4623067"/>
            <a:ext cx="94106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Palatino Linotype"/>
                <a:cs typeface="Palatino Linotype"/>
              </a:rPr>
              <a:t>1.2.3.....2001.x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55827" y="4684130"/>
            <a:ext cx="5692140" cy="133794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625"/>
              </a:spcBef>
            </a:pPr>
            <a:r>
              <a:rPr dirty="0" baseline="-43981" sz="1800">
                <a:latin typeface="Symbol"/>
                <a:cs typeface="Symbol"/>
              </a:rPr>
              <a:t></a:t>
            </a:r>
            <a:r>
              <a:rPr dirty="0" baseline="-43981" sz="1800" spc="-30">
                <a:latin typeface="Times New Roman"/>
                <a:cs typeface="Times New Roman"/>
              </a:rPr>
              <a:t> </a:t>
            </a:r>
            <a:r>
              <a:rPr dirty="0" baseline="-43981" sz="1800">
                <a:latin typeface="Palatino Linotype"/>
                <a:cs typeface="Palatino Linotype"/>
              </a:rPr>
              <a:t>f</a:t>
            </a:r>
            <a:r>
              <a:rPr dirty="0" baseline="-43981" sz="1800" spc="-179">
                <a:latin typeface="Palatino Linotype"/>
                <a:cs typeface="Palatino Linotype"/>
              </a:rPr>
              <a:t> </a:t>
            </a:r>
            <a:r>
              <a:rPr dirty="0" baseline="-34920" sz="2625" spc="-67">
                <a:latin typeface="Symbol"/>
                <a:cs typeface="Symbol"/>
              </a:rPr>
              <a:t></a:t>
            </a:r>
            <a:r>
              <a:rPr dirty="0" baseline="-43981" sz="1800" spc="-67">
                <a:latin typeface="Palatino Linotype"/>
                <a:cs typeface="Palatino Linotype"/>
              </a:rPr>
              <a:t>2002</a:t>
            </a:r>
            <a:r>
              <a:rPr dirty="0" baseline="-34920" sz="2625" spc="-67">
                <a:latin typeface="Symbol"/>
                <a:cs typeface="Symbol"/>
              </a:rPr>
              <a:t></a:t>
            </a:r>
            <a:r>
              <a:rPr dirty="0" baseline="-34920" sz="2625" spc="-262">
                <a:latin typeface="Times New Roman"/>
                <a:cs typeface="Times New Roman"/>
              </a:rPr>
              <a:t> </a:t>
            </a:r>
            <a:r>
              <a:rPr dirty="0" baseline="-43981" sz="1800">
                <a:latin typeface="Symbol"/>
                <a:cs typeface="Symbol"/>
              </a:rPr>
              <a:t></a:t>
            </a:r>
            <a:r>
              <a:rPr dirty="0" baseline="-43981" sz="1800" spc="52">
                <a:latin typeface="Times New Roman"/>
                <a:cs typeface="Times New Roman"/>
              </a:rPr>
              <a:t> </a:t>
            </a:r>
            <a:r>
              <a:rPr dirty="0" u="sng" baseline="-4761" sz="2625" spc="-44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sz="1200" spc="-3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2002</a:t>
            </a:r>
            <a:r>
              <a:rPr dirty="0" u="sng" sz="1200" spc="-1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1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baseline="-4761" sz="2625" spc="-37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r>
              <a:rPr dirty="0" u="sng" sz="1200" spc="-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.</a:t>
            </a:r>
            <a:r>
              <a:rPr dirty="0" u="sng" baseline="-4761" sz="2625" spc="-37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sz="1200" spc="-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2002</a:t>
            </a:r>
            <a:r>
              <a:rPr dirty="0" u="sng" sz="1200" spc="-1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</a:t>
            </a:r>
            <a:r>
              <a:rPr dirty="0" u="sng" baseline="-4761" sz="2625" spc="-1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...</a:t>
            </a:r>
            <a:r>
              <a:rPr dirty="0" u="sng" baseline="-4761" sz="2625" spc="-15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2002</a:t>
            </a:r>
            <a:r>
              <a:rPr dirty="0" u="sng" sz="1200" spc="-1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dirty="0" u="sng" sz="1200" spc="-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baseline="-4761" sz="2625" spc="-157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r>
              <a:rPr dirty="0" u="sng" baseline="-4761" sz="2625" spc="-3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dirty="0" u="sng" sz="1200" spc="-1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1.2.3...2001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baseline="-43981" sz="1800">
                <a:latin typeface="Symbol"/>
                <a:cs typeface="Symbol"/>
              </a:rPr>
              <a:t></a:t>
            </a:r>
            <a:r>
              <a:rPr dirty="0" baseline="-43981" sz="1800">
                <a:latin typeface="Times New Roman"/>
                <a:cs typeface="Times New Roman"/>
              </a:rPr>
              <a:t> </a:t>
            </a:r>
            <a:r>
              <a:rPr dirty="0" u="sng" baseline="-9259" sz="1800" spc="58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-9259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2.1.2.3.....2001</a:t>
            </a:r>
            <a:r>
              <a:rPr dirty="0" u="sng" baseline="-9259" sz="1800" spc="434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baseline="-9259" sz="1800" spc="30">
                <a:latin typeface="Palatino Linotype"/>
                <a:cs typeface="Palatino Linotype"/>
              </a:rPr>
              <a:t> </a:t>
            </a:r>
            <a:r>
              <a:rPr dirty="0" baseline="-43981" sz="1800">
                <a:latin typeface="Symbol"/>
                <a:cs typeface="Symbol"/>
              </a:rPr>
              <a:t></a:t>
            </a:r>
            <a:r>
              <a:rPr dirty="0" baseline="-43981" sz="1800" spc="-7">
                <a:latin typeface="Times New Roman"/>
                <a:cs typeface="Times New Roman"/>
              </a:rPr>
              <a:t> </a:t>
            </a:r>
            <a:r>
              <a:rPr dirty="0" u="sng" baseline="-9259" sz="1800" spc="247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u="sng" baseline="-9259" sz="18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baseline="-9259" sz="1800" spc="217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baseline="-9259" sz="1800" spc="-232">
                <a:latin typeface="Palatino Linotype"/>
                <a:cs typeface="Palatino Linotype"/>
              </a:rPr>
              <a:t> </a:t>
            </a:r>
            <a:r>
              <a:rPr dirty="0" baseline="-43981" sz="1800" spc="-75">
                <a:latin typeface="Palatino Linotype"/>
                <a:cs typeface="Palatino Linotype"/>
              </a:rPr>
              <a:t>.</a:t>
            </a:r>
            <a:endParaRPr baseline="-43981" sz="1800">
              <a:latin typeface="Palatino Linotype"/>
              <a:cs typeface="Palatino Linotype"/>
            </a:endParaRPr>
          </a:p>
          <a:p>
            <a:pPr marL="1815464">
              <a:lnSpc>
                <a:spcPct val="100000"/>
              </a:lnSpc>
              <a:spcBef>
                <a:spcPts val="340"/>
              </a:spcBef>
              <a:tabLst>
                <a:tab pos="4041775" algn="l"/>
                <a:tab pos="5281295" algn="l"/>
              </a:tabLst>
            </a:pPr>
            <a:r>
              <a:rPr dirty="0" sz="1200" spc="-10">
                <a:latin typeface="Palatino Linotype"/>
                <a:cs typeface="Palatino Linotype"/>
              </a:rPr>
              <a:t>1.2.3.4...2001.2002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-10">
                <a:latin typeface="Palatino Linotype"/>
                <a:cs typeface="Palatino Linotype"/>
              </a:rPr>
              <a:t>1.2.3...2001.2002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-20">
                <a:latin typeface="Palatino Linotype"/>
                <a:cs typeface="Palatino Linotype"/>
              </a:rPr>
              <a:t>1001</a:t>
            </a:r>
            <a:endParaRPr sz="12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  <a:spcBef>
                <a:spcPts val="134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15.</a:t>
            </a:r>
            <a:endParaRPr sz="1200">
              <a:latin typeface="Palatino Linotype"/>
              <a:cs typeface="Palatino Linotype"/>
            </a:endParaRPr>
          </a:p>
          <a:p>
            <a:pPr marL="520700">
              <a:lnSpc>
                <a:spcPct val="100000"/>
              </a:lnSpc>
              <a:spcBef>
                <a:spcPts val="1040"/>
              </a:spcBef>
            </a:pPr>
            <a:r>
              <a:rPr dirty="0" sz="1200">
                <a:latin typeface="Palatino Linotype"/>
                <a:cs typeface="Palatino Linotype"/>
              </a:rPr>
              <a:t>Xét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thức: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sz="1200" spc="-25">
                <a:latin typeface="Palatino Linotype"/>
                <a:cs typeface="Palatino Linotype"/>
              </a:rPr>
              <a:t>=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7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7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26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mãn:</a:t>
            </a:r>
            <a:r>
              <a:rPr dirty="0" sz="1200" spc="1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4761" sz="2625" spc="-172">
                <a:latin typeface="Symbol"/>
                <a:cs typeface="Symbol"/>
              </a:rPr>
              <a:t></a:t>
            </a:r>
            <a:r>
              <a:rPr dirty="0" sz="1200" spc="-114">
                <a:latin typeface="Palatino Linotype"/>
                <a:cs typeface="Palatino Linotype"/>
              </a:rPr>
              <a:t>1</a:t>
            </a:r>
            <a:r>
              <a:rPr dirty="0" baseline="-4761" sz="2625" spc="-172">
                <a:latin typeface="Symbol"/>
                <a:cs typeface="Symbol"/>
              </a:rPr>
              <a:t></a:t>
            </a:r>
            <a:r>
              <a:rPr dirty="0" baseline="-4761" sz="2625" spc="-25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50">
                <a:latin typeface="Palatino Linotype"/>
                <a:cs typeface="Palatino Linotype"/>
              </a:rPr>
              <a:t>3,f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4761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3</a:t>
            </a:r>
            <a:r>
              <a:rPr dirty="0" baseline="-4761" sz="2625" spc="-120">
                <a:latin typeface="Symbol"/>
                <a:cs typeface="Symbol"/>
              </a:rPr>
              <a:t></a:t>
            </a:r>
            <a:r>
              <a:rPr dirty="0" baseline="-4761" sz="2625" spc="-25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11,f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baseline="-4761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5</a:t>
            </a:r>
            <a:r>
              <a:rPr dirty="0" baseline="-4761" sz="2625" spc="-120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27.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355057" y="6480166"/>
            <a:ext cx="70485" cy="131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latin typeface="Palatino Linotype"/>
                <a:cs typeface="Palatino Linotype"/>
              </a:rPr>
              <a:t>2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036848" y="6255256"/>
            <a:ext cx="189801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66850" algn="l"/>
              </a:tabLst>
            </a:pPr>
            <a:r>
              <a:rPr dirty="0" baseline="4629" sz="1800">
                <a:latin typeface="Symbol"/>
                <a:cs typeface="Symbol"/>
              </a:rPr>
              <a:t></a:t>
            </a:r>
            <a:r>
              <a:rPr dirty="0" sz="1200">
                <a:latin typeface="Palatino Linotype"/>
                <a:cs typeface="Palatino Linotype"/>
              </a:rPr>
              <a:t>a.1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b.1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3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 spc="50">
                <a:latin typeface="Symbol"/>
                <a:cs typeface="Symbol"/>
              </a:rPr>
              <a:t></a:t>
            </a:r>
            <a:r>
              <a:rPr dirty="0" sz="1200" spc="50">
                <a:latin typeface="Palatino Linotype"/>
                <a:cs typeface="Palatino Linotype"/>
              </a:rPr>
              <a:t>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074948" y="6395946"/>
            <a:ext cx="15189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9385" algn="l"/>
              </a:tabLst>
            </a:pPr>
            <a:r>
              <a:rPr dirty="0" baseline="2314" sz="1800" spc="-75">
                <a:latin typeface="Symbol"/>
                <a:cs typeface="Symbol"/>
              </a:rPr>
              <a:t></a:t>
            </a:r>
            <a:r>
              <a:rPr dirty="0" baseline="2314" sz="18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074948" y="6510379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491793" y="6510379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049548" y="6713325"/>
            <a:ext cx="1879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54785" algn="l"/>
              </a:tabLst>
            </a:pP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>
                <a:latin typeface="Palatino Linotype"/>
                <a:cs typeface="Palatino Linotype"/>
              </a:rPr>
              <a:t>a.5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b.5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27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baseline="20833" sz="1800">
                <a:latin typeface="Symbol"/>
                <a:cs typeface="Symbol"/>
              </a:rPr>
              <a:t>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491849" y="6765815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074948" y="6779853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369179" y="6430116"/>
            <a:ext cx="22860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>
                <a:latin typeface="Symbol"/>
                <a:cs typeface="Symbol"/>
              </a:rPr>
              <a:t></a:t>
            </a:r>
            <a:r>
              <a:rPr dirty="0" sz="1750" spc="155">
                <a:latin typeface="Times New Roman"/>
                <a:cs typeface="Times New Roman"/>
              </a:rPr>
              <a:t> </a:t>
            </a:r>
            <a:r>
              <a:rPr dirty="0" sz="1750" spc="-125">
                <a:latin typeface="Symbol"/>
                <a:cs typeface="Symbol"/>
              </a:rPr>
              <a:t>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806605" y="6483370"/>
            <a:ext cx="71120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-50">
                <a:latin typeface="Palatino Linotype"/>
                <a:cs typeface="Palatino Linotype"/>
              </a:rPr>
              <a:t>2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164132" y="6485861"/>
            <a:ext cx="39439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8380" algn="l"/>
              </a:tabLst>
            </a:pPr>
            <a:r>
              <a:rPr dirty="0" sz="1200">
                <a:latin typeface="Palatino Linotype"/>
                <a:cs typeface="Palatino Linotype"/>
              </a:rPr>
              <a:t>Khi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r>
              <a:rPr dirty="0" sz="1200">
                <a:latin typeface="Palatino Linotype"/>
                <a:cs typeface="Palatino Linotype"/>
              </a:rPr>
              <a:t>	a.3</a:t>
            </a:r>
            <a:r>
              <a:rPr dirty="0" sz="1200" spc="4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b.3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170">
                <a:latin typeface="Times New Roman"/>
                <a:cs typeface="Times New Roman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3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4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409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149747" y="7095580"/>
            <a:ext cx="5450840" cy="14497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Q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28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397">
                <a:latin typeface="Times New Roman"/>
                <a:cs typeface="Times New Roman"/>
              </a:rPr>
              <a:t> </a:t>
            </a:r>
            <a:r>
              <a:rPr dirty="0" sz="1200" spc="80">
                <a:latin typeface="Symbol"/>
                <a:cs typeface="Symbol"/>
              </a:rPr>
              <a:t></a:t>
            </a:r>
            <a:r>
              <a:rPr dirty="0" sz="1200" spc="80">
                <a:latin typeface="Palatino Linotype"/>
                <a:cs typeface="Palatino Linotype"/>
              </a:rPr>
              <a:t>f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baseline="-4761" sz="2625" spc="-30">
                <a:latin typeface="Symbol"/>
                <a:cs typeface="Symbol"/>
              </a:rPr>
              <a:t></a:t>
            </a:r>
            <a:r>
              <a:rPr dirty="0" sz="1200" spc="-20">
                <a:latin typeface="Palatino Linotype"/>
                <a:cs typeface="Palatino Linotype"/>
              </a:rPr>
              <a:t>x</a:t>
            </a:r>
            <a:r>
              <a:rPr dirty="0" baseline="-4761" sz="2625" spc="-30">
                <a:latin typeface="Symbol"/>
                <a:cs typeface="Symbol"/>
              </a:rPr>
              <a:t></a:t>
            </a:r>
            <a:r>
              <a:rPr dirty="0" baseline="-4761" sz="2625" spc="89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bậc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 có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cao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nhận</a:t>
            </a:r>
            <a:endParaRPr sz="1200">
              <a:latin typeface="Palatino Linotype"/>
              <a:cs typeface="Palatino Linotype"/>
            </a:endParaRPr>
          </a:p>
          <a:p>
            <a:pPr marL="26670">
              <a:lnSpc>
                <a:spcPct val="100000"/>
              </a:lnSpc>
              <a:spcBef>
                <a:spcPts val="1010"/>
              </a:spcBef>
            </a:pPr>
            <a:r>
              <a:rPr dirty="0" sz="1200">
                <a:latin typeface="Palatino Linotype"/>
                <a:cs typeface="Palatino Linotype"/>
              </a:rPr>
              <a:t>1,3,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 </a:t>
            </a:r>
            <a:r>
              <a:rPr dirty="0" sz="1200" spc="-10">
                <a:latin typeface="Palatino Linotype"/>
                <a:cs typeface="Palatino Linotype"/>
              </a:rPr>
              <a:t>nghiệm,</a:t>
            </a:r>
            <a:endParaRPr sz="1200">
              <a:latin typeface="Palatino Linotype"/>
              <a:cs typeface="Palatino Linotype"/>
            </a:endParaRPr>
          </a:p>
          <a:p>
            <a:pPr marL="26670">
              <a:lnSpc>
                <a:spcPct val="100000"/>
              </a:lnSpc>
              <a:spcBef>
                <a:spcPts val="1030"/>
              </a:spcBef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đó: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Q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x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baseline="-4761" sz="2625" spc="-75">
                <a:latin typeface="Symbol"/>
                <a:cs typeface="Symbol"/>
              </a:rPr>
              <a:t>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8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1</a:t>
            </a:r>
            <a:r>
              <a:rPr dirty="0" baseline="-4761" sz="2625" spc="-75">
                <a:latin typeface="Symbol"/>
                <a:cs typeface="Symbol"/>
              </a:rPr>
              <a:t></a:t>
            </a:r>
            <a:r>
              <a:rPr dirty="0" sz="1200" spc="-50">
                <a:latin typeface="Palatino Linotype"/>
                <a:cs typeface="Palatino Linotype"/>
              </a:rPr>
              <a:t>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3</a:t>
            </a:r>
            <a:r>
              <a:rPr dirty="0" baseline="-4761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5</a:t>
            </a:r>
            <a:r>
              <a:rPr dirty="0" baseline="-4761" sz="2625" spc="-52">
                <a:latin typeface="Symbol"/>
                <a:cs typeface="Symbol"/>
              </a:rPr>
              <a:t></a:t>
            </a:r>
            <a:r>
              <a:rPr dirty="0" sz="1200" spc="-35">
                <a:latin typeface="Palatino Linotype"/>
                <a:cs typeface="Palatino Linotype"/>
              </a:rPr>
              <a:t>x</a:t>
            </a:r>
            <a:r>
              <a:rPr dirty="0" sz="1200" spc="-10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Palatino Linotype"/>
                <a:cs typeface="Palatino Linotype"/>
              </a:rPr>
              <a:t>m</a:t>
            </a:r>
            <a:r>
              <a:rPr dirty="0" baseline="-4761" sz="2625" spc="-67">
                <a:latin typeface="Symbol"/>
                <a:cs typeface="Symbol"/>
              </a:rPr>
              <a:t></a:t>
            </a:r>
            <a:r>
              <a:rPr dirty="0" baseline="-4761" sz="2625" spc="-34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được:</a:t>
            </a:r>
            <a:endParaRPr sz="1200">
              <a:latin typeface="Palatino Linotype"/>
              <a:cs typeface="Palatino Linotype"/>
            </a:endParaRPr>
          </a:p>
          <a:p>
            <a:pPr marL="50800">
              <a:lnSpc>
                <a:spcPct val="100000"/>
              </a:lnSpc>
              <a:spcBef>
                <a:spcPts val="1410"/>
              </a:spcBef>
            </a:pPr>
            <a:r>
              <a:rPr dirty="0" baseline="4629" sz="1800" spc="-292">
                <a:latin typeface="Symbol"/>
                <a:cs typeface="Symbol"/>
              </a:rPr>
              <a:t></a:t>
            </a:r>
            <a:r>
              <a:rPr dirty="0" baseline="-13888" sz="1800" spc="-292">
                <a:latin typeface="Symbol"/>
                <a:cs typeface="Symbol"/>
              </a:rPr>
              <a:t></a:t>
            </a:r>
            <a:r>
              <a:rPr dirty="0" sz="1200" spc="-195">
                <a:latin typeface="Palatino Linotype"/>
                <a:cs typeface="Palatino Linotype"/>
              </a:rPr>
              <a:t>P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baseline="-3174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Symbol"/>
                <a:cs typeface="Symbol"/>
              </a:rPr>
              <a:t></a:t>
            </a:r>
            <a:r>
              <a:rPr dirty="0" sz="1200" spc="-60">
                <a:latin typeface="Palatino Linotype"/>
                <a:cs typeface="Palatino Linotype"/>
              </a:rPr>
              <a:t>2</a:t>
            </a:r>
            <a:r>
              <a:rPr dirty="0" baseline="-3174" sz="2625" spc="-89">
                <a:latin typeface="Symbol"/>
                <a:cs typeface="Symbol"/>
              </a:rPr>
              <a:t></a:t>
            </a:r>
            <a:r>
              <a:rPr dirty="0" baseline="-3174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Q</a:t>
            </a:r>
            <a:r>
              <a:rPr dirty="0" baseline="-3174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baseline="-3174" sz="2625" spc="-38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baseline="-3174" sz="2625" spc="-89">
                <a:latin typeface="Symbol"/>
                <a:cs typeface="Symbol"/>
              </a:rPr>
              <a:t></a:t>
            </a:r>
            <a:r>
              <a:rPr dirty="0" sz="1200" spc="-60">
                <a:latin typeface="Symbol"/>
                <a:cs typeface="Symbol"/>
              </a:rPr>
              <a:t></a:t>
            </a:r>
            <a:r>
              <a:rPr dirty="0" sz="1200" spc="-60">
                <a:latin typeface="Palatino Linotype"/>
                <a:cs typeface="Palatino Linotype"/>
              </a:rPr>
              <a:t>2</a:t>
            </a:r>
            <a:r>
              <a:rPr dirty="0" baseline="-3174" sz="2625" spc="-89">
                <a:latin typeface="Symbol"/>
                <a:cs typeface="Symbol"/>
              </a:rPr>
              <a:t></a:t>
            </a:r>
            <a:r>
              <a:rPr dirty="0" baseline="-3174" sz="2625" spc="-2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216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105m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187847" y="8471408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162447" y="8495607"/>
            <a:ext cx="2444115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13888" sz="1800" spc="-434">
                <a:latin typeface="Symbol"/>
                <a:cs typeface="Symbol"/>
              </a:rPr>
              <a:t></a:t>
            </a:r>
            <a:r>
              <a:rPr dirty="0" baseline="-23148" sz="1800" spc="-434">
                <a:latin typeface="Symbol"/>
                <a:cs typeface="Symbol"/>
              </a:rPr>
              <a:t></a:t>
            </a:r>
            <a:r>
              <a:rPr dirty="0" baseline="-23148" sz="1800" spc="3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7.P</a:t>
            </a:r>
            <a:r>
              <a:rPr dirty="0" baseline="-3174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6</a:t>
            </a:r>
            <a:r>
              <a:rPr dirty="0" baseline="-3174" sz="2625" spc="-44">
                <a:latin typeface="Symbol"/>
                <a:cs typeface="Symbol"/>
              </a:rPr>
              <a:t></a:t>
            </a:r>
            <a:r>
              <a:rPr dirty="0" baseline="-3174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7.Q</a:t>
            </a:r>
            <a:r>
              <a:rPr dirty="0" baseline="-3174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6</a:t>
            </a:r>
            <a:r>
              <a:rPr dirty="0" baseline="-3174" sz="2625" spc="-44">
                <a:latin typeface="Symbol"/>
                <a:cs typeface="Symbol"/>
              </a:rPr>
              <a:t></a:t>
            </a:r>
            <a:r>
              <a:rPr dirty="0" baseline="-3174" sz="2625" spc="-359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f(6)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896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6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105m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164132" y="8940890"/>
            <a:ext cx="3796665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Vậy:</a:t>
            </a:r>
            <a:r>
              <a:rPr dirty="0" sz="1200" spc="2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Symbol"/>
                <a:cs typeface="Symbol"/>
              </a:rPr>
              <a:t>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37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7.P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6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216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105m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896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105m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1112.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170305" y="636904"/>
            <a:ext cx="6226810" cy="614045"/>
            <a:chOff x="1170305" y="636904"/>
            <a:chExt cx="6226810" cy="614045"/>
          </a:xfrm>
        </p:grpSpPr>
        <p:sp>
          <p:nvSpPr>
            <p:cNvPr id="7" name="object 7" descr=""/>
            <p:cNvSpPr/>
            <p:nvPr/>
          </p:nvSpPr>
          <p:spPr>
            <a:xfrm>
              <a:off x="1170305" y="640079"/>
              <a:ext cx="6226810" cy="0"/>
            </a:xfrm>
            <a:custGeom>
              <a:avLst/>
              <a:gdLst/>
              <a:ahLst/>
              <a:cxnLst/>
              <a:rect l="l" t="t" r="r" b="b"/>
              <a:pathLst>
                <a:path w="6226809" h="0">
                  <a:moveTo>
                    <a:pt x="0" y="0"/>
                  </a:moveTo>
                  <a:lnTo>
                    <a:pt x="6226810" y="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6880" y="758832"/>
              <a:ext cx="190237" cy="18129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6469" y="758832"/>
              <a:ext cx="190250" cy="18129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13198" y="1069802"/>
              <a:ext cx="190250" cy="18099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3100" y="1069802"/>
              <a:ext cx="190237" cy="18099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934758" y="1038190"/>
              <a:ext cx="766445" cy="0"/>
            </a:xfrm>
            <a:custGeom>
              <a:avLst/>
              <a:gdLst/>
              <a:ahLst/>
              <a:cxnLst/>
              <a:rect l="l" t="t" r="r" b="b"/>
              <a:pathLst>
                <a:path w="766445" h="0">
                  <a:moveTo>
                    <a:pt x="0" y="0"/>
                  </a:moveTo>
                  <a:lnTo>
                    <a:pt x="766181" y="0"/>
                  </a:lnTo>
                </a:path>
              </a:pathLst>
            </a:custGeom>
            <a:ln w="7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3139" y="914161"/>
              <a:ext cx="190237" cy="181291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06627" y="911097"/>
            <a:ext cx="4177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16.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hệ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sao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cho: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92237" y="608433"/>
            <a:ext cx="855344" cy="6965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50800" marR="43180" indent="635">
              <a:lnSpc>
                <a:spcPts val="2450"/>
              </a:lnSpc>
              <a:spcBef>
                <a:spcPts val="500"/>
              </a:spcBef>
            </a:pPr>
            <a:r>
              <a:rPr dirty="0" sz="1200">
                <a:latin typeface="Palatino Linotype"/>
                <a:cs typeface="Palatino Linotype"/>
              </a:rPr>
              <a:t>h</a:t>
            </a:r>
            <a:r>
              <a:rPr dirty="0" baseline="-5910" sz="3525">
                <a:latin typeface="Symbol"/>
                <a:cs typeface="Symbol"/>
              </a:rPr>
              <a:t></a:t>
            </a:r>
            <a:r>
              <a:rPr dirty="0" baseline="-5910" sz="3525" spc="292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140">
                <a:latin typeface="Times New Roman"/>
                <a:cs typeface="Times New Roman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7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baseline="-5910" sz="3525" spc="-667">
                <a:latin typeface="Symbol"/>
                <a:cs typeface="Symbol"/>
              </a:rPr>
              <a:t></a:t>
            </a:r>
            <a:r>
              <a:rPr dirty="0" baseline="-5910" sz="35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baseline="-5910" sz="3525">
                <a:latin typeface="Symbol"/>
                <a:cs typeface="Symbol"/>
              </a:rPr>
              <a:t></a:t>
            </a:r>
            <a:r>
              <a:rPr dirty="0" baseline="-5910" sz="3525" spc="30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145">
                <a:latin typeface="Times New Roman"/>
                <a:cs typeface="Times New Roman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7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baseline="-5910" sz="3525" spc="-667">
                <a:latin typeface="Symbol"/>
                <a:cs typeface="Symbol"/>
              </a:rPr>
              <a:t></a:t>
            </a:r>
            <a:endParaRPr baseline="-5910" sz="3525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28720" y="911192"/>
            <a:ext cx="4394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950" algn="l"/>
              </a:tabLst>
            </a:pP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29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82466" y="1514602"/>
            <a:ext cx="593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Palatino Linotype"/>
                <a:cs typeface="Palatino Linotype"/>
              </a:rPr>
              <a:t>Lời</a:t>
            </a:r>
            <a:r>
              <a:rPr dirty="0" sz="1200" spc="-15" b="1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Palatino Linotype"/>
                <a:cs typeface="Palatino Linotype"/>
              </a:rPr>
              <a:t>giải.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1971" y="2018499"/>
            <a:ext cx="190323" cy="181906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60885" y="2018499"/>
            <a:ext cx="189712" cy="18190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164132" y="2015244"/>
            <a:ext cx="431546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8655" algn="l"/>
              </a:tabLst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20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180">
                <a:latin typeface="Times New Roman"/>
                <a:cs typeface="Times New Roman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7</a:t>
            </a:r>
            <a:r>
              <a:rPr dirty="0" sz="1200" spc="2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cần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xác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định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sao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cho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517976" y="1821771"/>
            <a:ext cx="356870" cy="53975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0955" marR="5080" indent="-8890">
              <a:lnSpc>
                <a:spcPts val="1910"/>
              </a:lnSpc>
              <a:spcBef>
                <a:spcPts val="350"/>
              </a:spcBef>
            </a:pPr>
            <a:r>
              <a:rPr dirty="0" u="sng" sz="1200" spc="-229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3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h</a:t>
            </a:r>
            <a:r>
              <a:rPr dirty="0" u="sng" baseline="-4761" sz="2625" spc="-44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</a:t>
            </a:r>
            <a:r>
              <a:rPr dirty="0" u="sng" sz="1200" spc="-3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u</a:t>
            </a:r>
            <a:r>
              <a:rPr dirty="0" u="sng" baseline="-4761" sz="2625" spc="-44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</a:t>
            </a:r>
            <a:r>
              <a:rPr dirty="0" baseline="-4761" sz="2625" spc="-4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sz="1200" spc="-150">
                <a:latin typeface="Palatino Linotype"/>
                <a:cs typeface="Palatino Linotype"/>
              </a:rPr>
              <a:t> </a:t>
            </a:r>
            <a:r>
              <a:rPr dirty="0" baseline="-3174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u</a:t>
            </a:r>
            <a:r>
              <a:rPr dirty="0" baseline="-3174" sz="2625" spc="-112">
                <a:latin typeface="Symbol"/>
                <a:cs typeface="Symbol"/>
              </a:rPr>
              <a:t></a:t>
            </a:r>
            <a:endParaRPr baseline="-3174" sz="2625">
              <a:latin typeface="Symbol"/>
              <a:cs typeface="Symbol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27234" y="2019659"/>
            <a:ext cx="188558" cy="181057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5893882" y="2016646"/>
            <a:ext cx="6445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045" algn="l"/>
              </a:tabLst>
            </a:pP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254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hay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23756" y="2487523"/>
            <a:ext cx="190048" cy="182098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37206" y="2968149"/>
            <a:ext cx="190185" cy="178196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66680" y="2968149"/>
            <a:ext cx="190792" cy="178196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40105" y="2968149"/>
            <a:ext cx="190185" cy="178196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67112" y="2968149"/>
            <a:ext cx="190817" cy="178196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05242" y="2968149"/>
            <a:ext cx="190185" cy="178196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1138732" y="2333260"/>
            <a:ext cx="1342390" cy="87185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700"/>
              </a:spcBef>
            </a:pPr>
            <a:r>
              <a:rPr dirty="0" sz="1200" spc="-30">
                <a:latin typeface="Palatino Linotype"/>
                <a:cs typeface="Palatino Linotype"/>
              </a:rPr>
              <a:t>h</a:t>
            </a:r>
            <a:r>
              <a:rPr dirty="0" baseline="-4629" sz="2700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u</a:t>
            </a:r>
            <a:r>
              <a:rPr dirty="0" baseline="-4629" sz="2700" spc="-44">
                <a:latin typeface="Symbol"/>
                <a:cs typeface="Symbol"/>
              </a:rPr>
              <a:t></a:t>
            </a:r>
            <a:r>
              <a:rPr dirty="0" baseline="-4629" sz="2700" spc="-38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Palatino Linotype"/>
                <a:cs typeface="Palatino Linotype"/>
              </a:rPr>
              <a:t>g</a:t>
            </a:r>
            <a:r>
              <a:rPr dirty="0" baseline="-4629" sz="2700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baseline="-4629" sz="2700">
                <a:latin typeface="Symbol"/>
                <a:cs typeface="Symbol"/>
              </a:rPr>
              <a:t>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145"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12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0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894"/>
              </a:spcBef>
            </a:pPr>
            <a:r>
              <a:rPr dirty="0" baseline="2314" sz="1800">
                <a:latin typeface="Palatino Linotype"/>
                <a:cs typeface="Palatino Linotype"/>
              </a:rPr>
              <a:t>Xét</a:t>
            </a:r>
            <a:r>
              <a:rPr dirty="0" baseline="2314" sz="1800" spc="-60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tích:</a:t>
            </a:r>
            <a:r>
              <a:rPr dirty="0" baseline="2314" sz="1800" spc="195">
                <a:latin typeface="Palatino Linotype"/>
                <a:cs typeface="Palatino Linotype"/>
              </a:rPr>
              <a:t> </a:t>
            </a:r>
            <a:r>
              <a:rPr dirty="0" baseline="-6666" sz="3750" spc="-232">
                <a:latin typeface="Symbol"/>
                <a:cs typeface="Symbol"/>
              </a:rPr>
              <a:t></a:t>
            </a:r>
            <a:r>
              <a:rPr dirty="0" sz="1150" spc="-155">
                <a:latin typeface="Palatino Linotype"/>
                <a:cs typeface="Palatino Linotype"/>
              </a:rPr>
              <a:t>u</a:t>
            </a:r>
            <a:r>
              <a:rPr dirty="0" sz="1150" spc="-100">
                <a:latin typeface="Palatino Linotype"/>
                <a:cs typeface="Palatino Linotype"/>
              </a:rPr>
              <a:t> 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baseline="-6038" sz="3450">
                <a:latin typeface="Symbol"/>
                <a:cs typeface="Symbol"/>
              </a:rPr>
              <a:t></a:t>
            </a:r>
            <a:r>
              <a:rPr dirty="0" baseline="-6038" sz="34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2</a:t>
            </a:r>
            <a:r>
              <a:rPr dirty="0" sz="1150" spc="-30">
                <a:latin typeface="Palatino Linotype"/>
                <a:cs typeface="Palatino Linotype"/>
              </a:rPr>
              <a:t> </a:t>
            </a:r>
            <a:r>
              <a:rPr dirty="0" sz="1150">
                <a:latin typeface="Symbol"/>
                <a:cs typeface="Symbol"/>
              </a:rPr>
              <a:t>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524812" y="2834002"/>
            <a:ext cx="64008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14492" sz="1725">
                <a:latin typeface="Palatino Linotype"/>
                <a:cs typeface="Palatino Linotype"/>
              </a:rPr>
              <a:t>7</a:t>
            </a:r>
            <a:r>
              <a:rPr dirty="0" baseline="14492" sz="1725" spc="-97">
                <a:latin typeface="Palatino Linotype"/>
                <a:cs typeface="Palatino Linotype"/>
              </a:rPr>
              <a:t> </a:t>
            </a:r>
            <a:r>
              <a:rPr dirty="0" baseline="1207" sz="3450" spc="-367">
                <a:latin typeface="Symbol"/>
                <a:cs typeface="Symbol"/>
              </a:rPr>
              <a:t></a:t>
            </a:r>
            <a:r>
              <a:rPr dirty="0" sz="2500" spc="-245">
                <a:latin typeface="Symbol"/>
                <a:cs typeface="Symbol"/>
              </a:rPr>
              <a:t></a:t>
            </a:r>
            <a:r>
              <a:rPr dirty="0" baseline="14492" sz="1725" spc="-367">
                <a:latin typeface="Palatino Linotype"/>
                <a:cs typeface="Palatino Linotype"/>
              </a:rPr>
              <a:t>u</a:t>
            </a:r>
            <a:r>
              <a:rPr dirty="0" baseline="14492" sz="1725" spc="-89">
                <a:latin typeface="Palatino Linotype"/>
                <a:cs typeface="Palatino Linotype"/>
              </a:rPr>
              <a:t> </a:t>
            </a:r>
            <a:r>
              <a:rPr dirty="0" baseline="14492" sz="1725" spc="-52">
                <a:latin typeface="Symbol"/>
                <a:cs typeface="Symbol"/>
              </a:rPr>
              <a:t></a:t>
            </a:r>
            <a:r>
              <a:rPr dirty="0" baseline="1207" sz="3450" spc="-52">
                <a:latin typeface="Symbol"/>
                <a:cs typeface="Symbol"/>
              </a:rPr>
              <a:t></a:t>
            </a:r>
            <a:endParaRPr baseline="1207" sz="3450">
              <a:latin typeface="Symbol"/>
              <a:cs typeface="Symbo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202444" y="2793021"/>
            <a:ext cx="166878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latin typeface="Palatino Linotype"/>
                <a:cs typeface="Palatino Linotype"/>
              </a:rPr>
              <a:t>2 </a:t>
            </a:r>
            <a:r>
              <a:rPr dirty="0" sz="1150" spc="50">
                <a:latin typeface="Symbol"/>
                <a:cs typeface="Symbol"/>
              </a:rPr>
              <a:t></a:t>
            </a:r>
            <a:r>
              <a:rPr dirty="0" sz="1150" spc="204">
                <a:latin typeface="Times New Roman"/>
                <a:cs typeface="Times New Roman"/>
              </a:rPr>
              <a:t>  </a:t>
            </a:r>
            <a:r>
              <a:rPr dirty="0" sz="1150">
                <a:latin typeface="Palatino Linotype"/>
                <a:cs typeface="Palatino Linotype"/>
              </a:rPr>
              <a:t>7</a:t>
            </a:r>
            <a:r>
              <a:rPr dirty="0" sz="1150" spc="-80">
                <a:latin typeface="Palatino Linotype"/>
                <a:cs typeface="Palatino Linotype"/>
              </a:rPr>
              <a:t> </a:t>
            </a:r>
            <a:r>
              <a:rPr dirty="0" baseline="-6038" sz="3450" spc="-562">
                <a:latin typeface="Symbol"/>
                <a:cs typeface="Symbol"/>
              </a:rPr>
              <a:t></a:t>
            </a:r>
            <a:r>
              <a:rPr dirty="0" baseline="-6666" sz="3750" spc="-562">
                <a:latin typeface="Symbol"/>
                <a:cs typeface="Symbol"/>
              </a:rPr>
              <a:t></a:t>
            </a:r>
            <a:r>
              <a:rPr dirty="0" baseline="-6666" sz="3750" spc="-569">
                <a:latin typeface="Times New Roman"/>
                <a:cs typeface="Times New Roman"/>
              </a:rPr>
              <a:t> </a:t>
            </a:r>
            <a:r>
              <a:rPr dirty="0" sz="1150" spc="50">
                <a:latin typeface="Symbol"/>
                <a:cs typeface="Symbol"/>
              </a:rPr>
              <a:t>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60">
                <a:latin typeface="Palatino Linotype"/>
                <a:cs typeface="Palatino Linotype"/>
              </a:rPr>
              <a:t>u</a:t>
            </a:r>
            <a:r>
              <a:rPr dirty="0" baseline="47008" sz="975" spc="89">
                <a:latin typeface="Palatino Linotype"/>
                <a:cs typeface="Palatino Linotype"/>
              </a:rPr>
              <a:t>2</a:t>
            </a:r>
            <a:r>
              <a:rPr dirty="0" baseline="47008" sz="975" spc="240">
                <a:latin typeface="Palatino Linotype"/>
                <a:cs typeface="Palatino Linotype"/>
              </a:rPr>
              <a:t> </a:t>
            </a:r>
            <a:r>
              <a:rPr dirty="0" sz="1150" spc="50">
                <a:latin typeface="Symbol"/>
                <a:cs typeface="Symbol"/>
              </a:rPr>
              <a:t>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2</a:t>
            </a:r>
            <a:r>
              <a:rPr dirty="0" sz="1150" spc="125">
                <a:latin typeface="Palatino Linotype"/>
                <a:cs typeface="Palatino Linotype"/>
              </a:rPr>
              <a:t>  </a:t>
            </a:r>
            <a:r>
              <a:rPr dirty="0" sz="1150" spc="70">
                <a:latin typeface="Palatino Linotype"/>
                <a:cs typeface="Palatino Linotype"/>
              </a:rPr>
              <a:t>7u</a:t>
            </a:r>
            <a:r>
              <a:rPr dirty="0" sz="1150" spc="-95">
                <a:latin typeface="Palatino Linotype"/>
                <a:cs typeface="Palatino Linotype"/>
              </a:rPr>
              <a:t> </a:t>
            </a:r>
            <a:r>
              <a:rPr dirty="0" sz="1150" spc="50">
                <a:latin typeface="Symbol"/>
                <a:cs typeface="Symbol"/>
              </a:rPr>
              <a:t></a:t>
            </a:r>
            <a:r>
              <a:rPr dirty="0" sz="1150" spc="-8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Palatino Linotype"/>
                <a:cs typeface="Palatino Linotype"/>
              </a:rPr>
              <a:t>5.</a:t>
            </a:r>
            <a:endParaRPr sz="1150">
              <a:latin typeface="Palatino Linotype"/>
              <a:cs typeface="Palatino Linotype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81101" y="3534588"/>
            <a:ext cx="190631" cy="181909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3562826" y="3463173"/>
            <a:ext cx="25082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700">
                <a:latin typeface="Palatino Linotype"/>
                <a:cs typeface="Palatino Linotype"/>
              </a:rPr>
              <a:t>2</a:t>
            </a:r>
            <a:r>
              <a:rPr dirty="0" sz="700" spc="150">
                <a:latin typeface="Palatino Linotype"/>
                <a:cs typeface="Palatino Linotype"/>
              </a:rPr>
              <a:t> </a:t>
            </a:r>
            <a:r>
              <a:rPr dirty="0" baseline="-25462" sz="1800" spc="-75">
                <a:latin typeface="Symbol"/>
                <a:cs typeface="Symbol"/>
              </a:rPr>
              <a:t></a:t>
            </a:r>
            <a:endParaRPr baseline="-25462" sz="1800">
              <a:latin typeface="Symbol"/>
              <a:cs typeface="Symbo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164132" y="3532019"/>
            <a:ext cx="37623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32710" algn="l"/>
              </a:tabLst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nghiệm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của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phương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trình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u</a:t>
            </a:r>
            <a:r>
              <a:rPr dirty="0" sz="1200">
                <a:latin typeface="Palatino Linotype"/>
                <a:cs typeface="Palatino Linotype"/>
              </a:rPr>
              <a:t>	2</a:t>
            </a:r>
            <a:r>
              <a:rPr dirty="0" sz="1200" spc="130">
                <a:latin typeface="Palatino Linotype"/>
                <a:cs typeface="Palatino Linotype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7u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24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nên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4975908" y="3658670"/>
            <a:ext cx="388620" cy="0"/>
          </a:xfrm>
          <a:custGeom>
            <a:avLst/>
            <a:gdLst/>
            <a:ahLst/>
            <a:cxnLst/>
            <a:rect l="l" t="t" r="r" b="b"/>
            <a:pathLst>
              <a:path w="388620" h="0">
                <a:moveTo>
                  <a:pt x="0" y="0"/>
                </a:moveTo>
                <a:lnTo>
                  <a:pt x="388368" y="0"/>
                </a:lnTo>
              </a:path>
            </a:pathLst>
          </a:custGeom>
          <a:ln w="756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26276" y="3534058"/>
            <a:ext cx="190224" cy="181897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5609683" y="3530730"/>
            <a:ext cx="10287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Palatino Linotype"/>
                <a:cs typeface="Palatino Linotype"/>
              </a:rPr>
              <a:t>7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947572" y="3434250"/>
            <a:ext cx="58039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5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</a:t>
            </a:r>
            <a:r>
              <a:rPr dirty="0" sz="1200" spc="65">
                <a:latin typeface="Palatino Linotype"/>
                <a:cs typeface="Palatino Linotype"/>
              </a:rPr>
              <a:t> </a:t>
            </a:r>
            <a:r>
              <a:rPr dirty="0" baseline="-34722" sz="1800" spc="-75">
                <a:latin typeface="Symbol"/>
                <a:cs typeface="Symbol"/>
              </a:rPr>
              <a:t></a:t>
            </a:r>
            <a:endParaRPr baseline="-34722" sz="1800">
              <a:latin typeface="Symbol"/>
              <a:cs typeface="Symbo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071510" y="3650810"/>
            <a:ext cx="20383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25">
                <a:latin typeface="Palatino Linotype"/>
                <a:cs typeface="Palatino Linotype"/>
              </a:rPr>
              <a:t>2u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04022" y="4119048"/>
            <a:ext cx="189901" cy="182180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478798" y="4119048"/>
            <a:ext cx="190202" cy="182180"/>
          </a:xfrm>
          <a:prstGeom prst="rect">
            <a:avLst/>
          </a:prstGeom>
        </p:spPr>
      </p:pic>
      <p:sp>
        <p:nvSpPr>
          <p:cNvPr id="43" name="object 43" descr=""/>
          <p:cNvSpPr/>
          <p:nvPr/>
        </p:nvSpPr>
        <p:spPr>
          <a:xfrm>
            <a:off x="3053887" y="4243849"/>
            <a:ext cx="388620" cy="0"/>
          </a:xfrm>
          <a:custGeom>
            <a:avLst/>
            <a:gdLst/>
            <a:ahLst/>
            <a:cxnLst/>
            <a:rect l="l" t="t" r="r" b="b"/>
            <a:pathLst>
              <a:path w="388620" h="0">
                <a:moveTo>
                  <a:pt x="0" y="0"/>
                </a:moveTo>
                <a:lnTo>
                  <a:pt x="388081" y="0"/>
                </a:lnTo>
              </a:path>
            </a:pathLst>
          </a:custGeom>
          <a:ln w="72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3603963" y="4243849"/>
            <a:ext cx="386080" cy="0"/>
          </a:xfrm>
          <a:custGeom>
            <a:avLst/>
            <a:gdLst/>
            <a:ahLst/>
            <a:cxnLst/>
            <a:rect l="l" t="t" r="r" b="b"/>
            <a:pathLst>
              <a:path w="386079" h="0">
                <a:moveTo>
                  <a:pt x="0" y="0"/>
                </a:moveTo>
                <a:lnTo>
                  <a:pt x="385732" y="0"/>
                </a:lnTo>
              </a:path>
            </a:pathLst>
          </a:custGeom>
          <a:ln w="72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3025332" y="4019108"/>
            <a:ext cx="45212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7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5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575066" y="4019108"/>
            <a:ext cx="44958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8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5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164132" y="4116791"/>
            <a:ext cx="18764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40105" algn="l"/>
              </a:tabLst>
            </a:pPr>
            <a:r>
              <a:rPr dirty="0" sz="1200">
                <a:latin typeface="Palatino Linotype"/>
                <a:cs typeface="Palatino Linotype"/>
              </a:rPr>
              <a:t>Mặt</a:t>
            </a:r>
            <a:r>
              <a:rPr dirty="0" sz="1200" spc="-10">
                <a:latin typeface="Palatino Linotype"/>
                <a:cs typeface="Palatino Linotype"/>
              </a:rPr>
              <a:t> khác:</a:t>
            </a:r>
            <a:r>
              <a:rPr dirty="0" sz="1200">
                <a:latin typeface="Palatino Linotype"/>
                <a:cs typeface="Palatino Linotype"/>
              </a:rPr>
              <a:t>	2</a:t>
            </a:r>
            <a:r>
              <a:rPr dirty="0" sz="1200" spc="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190">
                <a:latin typeface="Times New Roman"/>
                <a:cs typeface="Times New Roman"/>
              </a:rPr>
              <a:t>  </a:t>
            </a:r>
            <a:r>
              <a:rPr dirty="0" sz="1200">
                <a:latin typeface="Palatino Linotype"/>
                <a:cs typeface="Palatino Linotype"/>
              </a:rPr>
              <a:t>7</a:t>
            </a:r>
            <a:r>
              <a:rPr dirty="0" sz="1200" spc="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3149344" y="4235997"/>
            <a:ext cx="20066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25">
                <a:latin typeface="Palatino Linotype"/>
                <a:cs typeface="Palatino Linotype"/>
              </a:rPr>
              <a:t>2u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697984" y="4235997"/>
            <a:ext cx="20066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25">
                <a:latin typeface="Palatino Linotype"/>
                <a:cs typeface="Palatino Linotype"/>
              </a:rPr>
              <a:t>2u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3469590" y="4115735"/>
            <a:ext cx="1111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93927" y="4539705"/>
            <a:ext cx="4066540" cy="1473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Vậy</a:t>
            </a:r>
            <a:r>
              <a:rPr dirty="0" sz="1200" spc="2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h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7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5;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g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2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2x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482600">
              <a:lnSpc>
                <a:spcPct val="100000"/>
              </a:lnSpc>
            </a:pPr>
            <a:r>
              <a:rPr dirty="0" sz="1200">
                <a:latin typeface="Palatino Linotype"/>
                <a:cs typeface="Palatino Linotype"/>
              </a:rPr>
              <a:t>Thử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lại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thấy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g(x)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thỏa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mãi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điều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kiện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bài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toán.</a:t>
            </a:r>
            <a:endParaRPr sz="1200">
              <a:latin typeface="Palatino Linotype"/>
              <a:cs typeface="Palatino Linotype"/>
            </a:endParaRPr>
          </a:p>
          <a:p>
            <a:pPr marL="25400">
              <a:lnSpc>
                <a:spcPct val="100000"/>
              </a:lnSpc>
              <a:spcBef>
                <a:spcPts val="145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17.</a:t>
            </a:r>
            <a:endParaRPr sz="1200">
              <a:latin typeface="Palatino Linotype"/>
              <a:cs typeface="Palatino Linotype"/>
            </a:endParaRPr>
          </a:p>
          <a:p>
            <a:pPr marL="482600">
              <a:lnSpc>
                <a:spcPct val="100000"/>
              </a:lnSpc>
              <a:spcBef>
                <a:spcPts val="1040"/>
              </a:spcBef>
            </a:pPr>
            <a:r>
              <a:rPr dirty="0" sz="1200">
                <a:latin typeface="Palatino Linotype"/>
                <a:cs typeface="Palatino Linotype"/>
              </a:rPr>
              <a:t>Nhận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xét.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Nếu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x</a:t>
            </a:r>
            <a:r>
              <a:rPr dirty="0" baseline="2314" sz="1800" spc="-165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2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y</a:t>
            </a:r>
            <a:r>
              <a:rPr dirty="0" baseline="2314" sz="1800" spc="-37">
                <a:latin typeface="Palatino Linotype"/>
                <a:cs typeface="Palatino Linotype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-157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Palatino Linotype"/>
                <a:cs typeface="Palatino Linotype"/>
              </a:rPr>
              <a:t>1</a:t>
            </a:r>
            <a:r>
              <a:rPr dirty="0" baseline="2314" sz="1800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4761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x</a:t>
            </a:r>
            <a:r>
              <a:rPr dirty="0" baseline="-4761" sz="2625" spc="-112">
                <a:latin typeface="Symbol"/>
                <a:cs typeface="Symbol"/>
              </a:rPr>
              <a:t></a:t>
            </a:r>
            <a:r>
              <a:rPr dirty="0" baseline="-4761" sz="2625" spc="-39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4761" sz="2625" spc="-97">
                <a:latin typeface="Symbol"/>
                <a:cs typeface="Symbol"/>
              </a:rPr>
              <a:t></a:t>
            </a:r>
            <a:r>
              <a:rPr dirty="0" sz="1200" spc="-65">
                <a:latin typeface="Palatino Linotype"/>
                <a:cs typeface="Palatino Linotype"/>
              </a:rPr>
              <a:t>y</a:t>
            </a:r>
            <a:r>
              <a:rPr dirty="0" baseline="-4761" sz="2625" spc="-97">
                <a:latin typeface="Symbol"/>
                <a:cs typeface="Symbol"/>
              </a:rPr>
              <a:t></a:t>
            </a:r>
            <a:r>
              <a:rPr dirty="0" baseline="-4761" sz="262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3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2651714" y="650903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 h="0">
                <a:moveTo>
                  <a:pt x="0" y="0"/>
                </a:moveTo>
                <a:lnTo>
                  <a:pt x="753752" y="0"/>
                </a:lnTo>
              </a:path>
            </a:pathLst>
          </a:custGeom>
          <a:ln w="7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164132" y="6309903"/>
            <a:ext cx="146431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Thật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vậy, ta có</a:t>
            </a:r>
            <a:r>
              <a:rPr dirty="0" sz="120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baseline="-3174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x</a:t>
            </a:r>
            <a:r>
              <a:rPr dirty="0" baseline="-3174" sz="2625" spc="-112">
                <a:latin typeface="Symbol"/>
                <a:cs typeface="Symbol"/>
              </a:rPr>
              <a:t></a:t>
            </a:r>
            <a:r>
              <a:rPr dirty="0" baseline="-3174" sz="2625" spc="-277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2623187" y="6174947"/>
            <a:ext cx="800100" cy="5873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baseline="-25462" sz="1800" spc="-37">
                <a:latin typeface="Palatino Linotype"/>
                <a:cs typeface="Palatino Linotype"/>
              </a:rPr>
              <a:t>x</a:t>
            </a:r>
            <a:r>
              <a:rPr dirty="0" sz="700" spc="-25">
                <a:latin typeface="Palatino Linotype"/>
                <a:cs typeface="Palatino Linotype"/>
              </a:rPr>
              <a:t>3</a:t>
            </a:r>
            <a:endParaRPr sz="7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3</a:t>
            </a:r>
            <a:r>
              <a:rPr dirty="0" baseline="43650" sz="1050" spc="24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1</a:t>
            </a:r>
            <a:r>
              <a:rPr dirty="0" sz="1200" spc="-1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baseline="63492" sz="1050" spc="-37">
                <a:latin typeface="Palatino Linotype"/>
                <a:cs typeface="Palatino Linotype"/>
              </a:rPr>
              <a:t>3</a:t>
            </a:r>
            <a:endParaRPr baseline="63492" sz="1050">
              <a:latin typeface="Palatino Linotype"/>
              <a:cs typeface="Palatino Linotype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4687752" y="650903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 h="0">
                <a:moveTo>
                  <a:pt x="0" y="0"/>
                </a:moveTo>
                <a:lnTo>
                  <a:pt x="754069" y="0"/>
                </a:lnTo>
              </a:path>
            </a:pathLst>
          </a:custGeom>
          <a:ln w="7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3428478" y="6309903"/>
            <a:ext cx="123507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Symbol"/>
                <a:cs typeface="Symbol"/>
              </a:rPr>
              <a:t>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baseline="-3174" sz="2625" spc="-97">
                <a:latin typeface="Symbol"/>
                <a:cs typeface="Symbol"/>
              </a:rPr>
              <a:t></a:t>
            </a:r>
            <a:r>
              <a:rPr dirty="0" sz="1200" spc="-65">
                <a:latin typeface="Palatino Linotype"/>
                <a:cs typeface="Palatino Linotype"/>
              </a:rPr>
              <a:t>y</a:t>
            </a:r>
            <a:r>
              <a:rPr dirty="0" baseline="-3174" sz="2625" spc="-97">
                <a:latin typeface="Symbol"/>
                <a:cs typeface="Symbol"/>
              </a:rPr>
              <a:t></a:t>
            </a:r>
            <a:r>
              <a:rPr dirty="0" baseline="-3174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1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65">
                <a:latin typeface="Palatino Linotype"/>
                <a:cs typeface="Palatino Linotype"/>
              </a:rPr>
              <a:t>x</a:t>
            </a:r>
            <a:r>
              <a:rPr dirty="0" baseline="-3174" sz="2625" spc="-97">
                <a:latin typeface="Symbol"/>
                <a:cs typeface="Symbol"/>
              </a:rPr>
              <a:t></a:t>
            </a:r>
            <a:r>
              <a:rPr dirty="0" baseline="-3174" sz="2625" spc="-262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658732" y="6189437"/>
            <a:ext cx="800100" cy="57277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 marR="30480" indent="135890">
              <a:lnSpc>
                <a:spcPct val="104200"/>
              </a:lnSpc>
              <a:spcBef>
                <a:spcPts val="25"/>
              </a:spcBef>
            </a:pPr>
            <a:r>
              <a:rPr dirty="0" baseline="-4761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1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63492" sz="1050" spc="-37">
                <a:latin typeface="Palatino Linotype"/>
                <a:cs typeface="Palatino Linotype"/>
              </a:rPr>
              <a:t>3</a:t>
            </a:r>
            <a:r>
              <a:rPr dirty="0" baseline="63492" sz="1050" spc="7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3</a:t>
            </a:r>
            <a:r>
              <a:rPr dirty="0" baseline="43650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baseline="-3174" sz="2625" spc="-127">
                <a:latin typeface="Symbol"/>
                <a:cs typeface="Symbol"/>
              </a:rPr>
              <a:t></a:t>
            </a:r>
            <a:r>
              <a:rPr dirty="0" sz="1200" spc="-85">
                <a:latin typeface="Palatino Linotype"/>
                <a:cs typeface="Palatino Linotype"/>
              </a:rPr>
              <a:t>1</a:t>
            </a:r>
            <a:r>
              <a:rPr dirty="0" sz="1200" spc="-17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x</a:t>
            </a:r>
            <a:r>
              <a:rPr dirty="0" baseline="-3174" sz="2625" spc="-52">
                <a:latin typeface="Symbol"/>
                <a:cs typeface="Symbol"/>
              </a:rPr>
              <a:t></a:t>
            </a:r>
            <a:r>
              <a:rPr dirty="0" baseline="63492" sz="1050" spc="-52">
                <a:latin typeface="Palatino Linotype"/>
                <a:cs typeface="Palatino Linotype"/>
              </a:rPr>
              <a:t>3</a:t>
            </a:r>
            <a:endParaRPr baseline="63492" sz="1050">
              <a:latin typeface="Palatino Linotype"/>
              <a:cs typeface="Palatino Linotype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3534114" y="7252930"/>
            <a:ext cx="753745" cy="0"/>
          </a:xfrm>
          <a:custGeom>
            <a:avLst/>
            <a:gdLst/>
            <a:ahLst/>
            <a:cxnLst/>
            <a:rect l="l" t="t" r="r" b="b"/>
            <a:pathLst>
              <a:path w="753745" h="0">
                <a:moveTo>
                  <a:pt x="0" y="0"/>
                </a:moveTo>
                <a:lnTo>
                  <a:pt x="753721" y="0"/>
                </a:lnTo>
              </a:path>
            </a:pathLst>
          </a:custGeom>
          <a:ln w="72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4433133" y="7252930"/>
            <a:ext cx="754380" cy="0"/>
          </a:xfrm>
          <a:custGeom>
            <a:avLst/>
            <a:gdLst/>
            <a:ahLst/>
            <a:cxnLst/>
            <a:rect l="l" t="t" r="r" b="b"/>
            <a:pathLst>
              <a:path w="754379" h="0">
                <a:moveTo>
                  <a:pt x="0" y="0"/>
                </a:moveTo>
                <a:lnTo>
                  <a:pt x="754101" y="0"/>
                </a:lnTo>
              </a:path>
            </a:pathLst>
          </a:custGeom>
          <a:ln w="72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4540583" y="6932999"/>
            <a:ext cx="52260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4761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1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63492" sz="1050" spc="-37">
                <a:latin typeface="Palatino Linotype"/>
                <a:cs typeface="Palatino Linotype"/>
              </a:rPr>
              <a:t>3</a:t>
            </a:r>
            <a:endParaRPr baseline="63492" sz="1050">
              <a:latin typeface="Palatino Linotype"/>
              <a:cs typeface="Palatino Linotype"/>
            </a:endParaRPr>
          </a:p>
        </p:txBody>
      </p:sp>
      <p:sp>
        <p:nvSpPr>
          <p:cNvPr id="83" name="object 8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84" name="object 8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61" name="object 61" descr=""/>
          <p:cNvSpPr txBox="1"/>
          <p:nvPr/>
        </p:nvSpPr>
        <p:spPr>
          <a:xfrm>
            <a:off x="1164132" y="7053598"/>
            <a:ext cx="234569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3174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x</a:t>
            </a:r>
            <a:r>
              <a:rPr dirty="0" baseline="-3174" sz="2625" spc="-112">
                <a:latin typeface="Symbol"/>
                <a:cs typeface="Symbol"/>
              </a:rPr>
              <a:t></a:t>
            </a:r>
            <a:r>
              <a:rPr dirty="0" baseline="-3174" sz="2625" spc="-38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3174" sz="2625" spc="-97">
                <a:latin typeface="Symbol"/>
                <a:cs typeface="Symbol"/>
              </a:rPr>
              <a:t></a:t>
            </a:r>
            <a:r>
              <a:rPr dirty="0" sz="1200" spc="-65">
                <a:latin typeface="Palatino Linotype"/>
                <a:cs typeface="Palatino Linotype"/>
              </a:rPr>
              <a:t>y</a:t>
            </a:r>
            <a:r>
              <a:rPr dirty="0" baseline="-3174" sz="2625" spc="-97">
                <a:latin typeface="Symbol"/>
                <a:cs typeface="Symbol"/>
              </a:rPr>
              <a:t></a:t>
            </a:r>
            <a:r>
              <a:rPr dirty="0" baseline="-3174" sz="2625" spc="-26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3174" sz="2625" spc="-112">
                <a:latin typeface="Symbol"/>
                <a:cs typeface="Symbol"/>
              </a:rPr>
              <a:t></a:t>
            </a:r>
            <a:r>
              <a:rPr dirty="0" sz="1200" spc="-75">
                <a:latin typeface="Palatino Linotype"/>
                <a:cs typeface="Palatino Linotype"/>
              </a:rPr>
              <a:t>x</a:t>
            </a:r>
            <a:r>
              <a:rPr dirty="0" baseline="-3174" sz="2625" spc="-112">
                <a:latin typeface="Symbol"/>
                <a:cs typeface="Symbol"/>
              </a:rPr>
              <a:t></a:t>
            </a:r>
            <a:r>
              <a:rPr dirty="0" baseline="-3174" sz="2625" spc="-39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baseline="-3174" sz="2625" spc="-127">
                <a:latin typeface="Symbol"/>
                <a:cs typeface="Symbol"/>
              </a:rPr>
              <a:t></a:t>
            </a:r>
            <a:r>
              <a:rPr dirty="0" sz="1200" spc="-85">
                <a:latin typeface="Palatino Linotype"/>
                <a:cs typeface="Palatino Linotype"/>
              </a:rPr>
              <a:t>1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spc="-60">
                <a:latin typeface="Palatino Linotype"/>
                <a:cs typeface="Palatino Linotype"/>
              </a:rPr>
              <a:t>x</a:t>
            </a:r>
            <a:r>
              <a:rPr dirty="0" baseline="-3174" sz="2625" spc="-89">
                <a:latin typeface="Symbol"/>
                <a:cs typeface="Symbol"/>
              </a:rPr>
              <a:t></a:t>
            </a:r>
            <a:r>
              <a:rPr dirty="0" baseline="-3174" sz="2625" spc="-277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802316" y="6963154"/>
            <a:ext cx="2063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5462" sz="1800" spc="-37">
                <a:latin typeface="Palatino Linotype"/>
                <a:cs typeface="Palatino Linotype"/>
              </a:rPr>
              <a:t>x</a:t>
            </a:r>
            <a:r>
              <a:rPr dirty="0" sz="700" spc="-25">
                <a:latin typeface="Palatino Linotype"/>
                <a:cs typeface="Palatino Linotype"/>
              </a:rPr>
              <a:t>3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5213951" y="7125822"/>
            <a:ext cx="269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6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4305225" y="7126565"/>
            <a:ext cx="1111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latin typeface="Symbol"/>
                <a:cs typeface="Symbol"/>
              </a:rPr>
              <a:t>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3505388" y="7211293"/>
            <a:ext cx="169926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936625" algn="l"/>
              </a:tabLst>
            </a:pP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3</a:t>
            </a:r>
            <a:r>
              <a:rPr dirty="0" baseline="43650" sz="1050" spc="247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1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baseline="63492" sz="1050" spc="-37">
                <a:latin typeface="Palatino Linotype"/>
                <a:cs typeface="Palatino Linotype"/>
              </a:rPr>
              <a:t>3</a:t>
            </a:r>
            <a:r>
              <a:rPr dirty="0" baseline="63492" sz="1050">
                <a:latin typeface="Palatino Linotype"/>
                <a:cs typeface="Palatino Linotype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3</a:t>
            </a:r>
            <a:r>
              <a:rPr dirty="0" baseline="43650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baseline="-3174" sz="2625" spc="-120">
                <a:latin typeface="Symbol"/>
                <a:cs typeface="Symbol"/>
              </a:rPr>
              <a:t></a:t>
            </a:r>
            <a:r>
              <a:rPr dirty="0" sz="1200" spc="-80">
                <a:latin typeface="Palatino Linotype"/>
                <a:cs typeface="Palatino Linotype"/>
              </a:rPr>
              <a:t>1</a:t>
            </a:r>
            <a:r>
              <a:rPr dirty="0" sz="1200" spc="-18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baseline="63492" sz="1050" spc="-37">
                <a:latin typeface="Palatino Linotype"/>
                <a:cs typeface="Palatino Linotype"/>
              </a:rPr>
              <a:t>3</a:t>
            </a:r>
            <a:endParaRPr baseline="63492" sz="1050">
              <a:latin typeface="Palatino Linotype"/>
              <a:cs typeface="Palatino Linotype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4326042" y="7930255"/>
            <a:ext cx="1028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3904669" y="7713574"/>
            <a:ext cx="5251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4180" algn="l"/>
              </a:tabLst>
            </a:pP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u="sng" sz="1200" spc="-229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879269" y="7959996"/>
            <a:ext cx="33274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2</a:t>
            </a:r>
            <a:r>
              <a:rPr dirty="0" baseline="11574" sz="1800" spc="-112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138732" y="7811630"/>
            <a:ext cx="339661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975610" algn="l"/>
                <a:tab pos="3319779" algn="l"/>
              </a:tabLst>
            </a:pPr>
            <a:r>
              <a:rPr dirty="0" sz="1200">
                <a:latin typeface="Palatino Linotype"/>
                <a:cs typeface="Palatino Linotype"/>
              </a:rPr>
              <a:t>Vậy,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nhận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xét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được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chứng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minh.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52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164132" y="8327897"/>
            <a:ext cx="1684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Theo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nhận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xét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456482" y="8721366"/>
            <a:ext cx="295592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3440" algn="l"/>
                <a:tab pos="1542415" algn="l"/>
                <a:tab pos="2383790" algn="l"/>
              </a:tabLst>
            </a:pPr>
            <a:r>
              <a:rPr dirty="0" baseline="4629" sz="1800">
                <a:latin typeface="Symbol"/>
                <a:cs typeface="Symbol"/>
              </a:rPr>
              <a:t></a:t>
            </a:r>
            <a:r>
              <a:rPr dirty="0" baseline="4629" sz="1800" spc="62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u="sng" sz="1200" spc="18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u="sng" sz="1200" spc="17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u="sng" sz="1200" spc="-19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2011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 spc="35">
                <a:latin typeface="Symbol"/>
                <a:cs typeface="Symbol"/>
              </a:rPr>
              <a:t></a:t>
            </a:r>
            <a:r>
              <a:rPr dirty="0" baseline="4629" sz="1800" spc="52">
                <a:latin typeface="Symbol"/>
                <a:cs typeface="Symbol"/>
              </a:rPr>
              <a:t></a:t>
            </a:r>
            <a:r>
              <a:rPr dirty="0" baseline="4629" sz="1800">
                <a:latin typeface="Times New Roman"/>
                <a:cs typeface="Times New Roman"/>
              </a:rPr>
              <a:t>	</a:t>
            </a:r>
            <a:r>
              <a:rPr dirty="0" baseline="4629" sz="1800">
                <a:latin typeface="Symbol"/>
                <a:cs typeface="Symbol"/>
              </a:rPr>
              <a:t></a:t>
            </a:r>
            <a:r>
              <a:rPr dirty="0" baseline="4629" sz="1800" spc="61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18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</a:t>
            </a:r>
            <a:r>
              <a:rPr dirty="0" u="sng" sz="1200" spc="17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 </a:t>
            </a:r>
            <a:r>
              <a:rPr dirty="0" sz="1200" spc="-13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2010</a:t>
            </a:r>
            <a:r>
              <a:rPr dirty="0" sz="1200" spc="-80">
                <a:latin typeface="Palatino Linotype"/>
                <a:cs typeface="Palatino Linotype"/>
              </a:rPr>
              <a:t> </a:t>
            </a:r>
            <a:r>
              <a:rPr dirty="0" sz="1200" spc="35">
                <a:latin typeface="Symbol"/>
                <a:cs typeface="Symbol"/>
              </a:rPr>
              <a:t></a:t>
            </a:r>
            <a:r>
              <a:rPr dirty="0" baseline="4629" sz="1800" spc="52">
                <a:latin typeface="Symbol"/>
                <a:cs typeface="Symbol"/>
              </a:rPr>
              <a:t></a:t>
            </a:r>
            <a:endParaRPr baseline="4629" sz="1800">
              <a:latin typeface="Symbol"/>
              <a:cs typeface="Symbo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162424" y="8817046"/>
            <a:ext cx="55435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baseline="-11574" sz="1800">
                <a:latin typeface="Symbol"/>
                <a:cs typeface="Symbol"/>
              </a:rPr>
              <a:t></a:t>
            </a:r>
            <a:r>
              <a:rPr dirty="0" baseline="-11574" sz="1800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endParaRPr baseline="-16203" sz="1800">
              <a:latin typeface="Symbol"/>
              <a:cs typeface="Symbol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2696905" y="8860626"/>
            <a:ext cx="55054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60">
                <a:latin typeface="Symbol"/>
                <a:cs typeface="Symbol"/>
              </a:rPr>
              <a:t></a:t>
            </a:r>
            <a:r>
              <a:rPr dirty="0" baseline="4629" sz="1800" spc="89">
                <a:latin typeface="Symbol"/>
                <a:cs typeface="Symbol"/>
              </a:rPr>
              <a:t></a:t>
            </a:r>
            <a:r>
              <a:rPr dirty="0" baseline="4629" sz="1800" spc="-172">
                <a:latin typeface="Times New Roman"/>
                <a:cs typeface="Times New Roman"/>
              </a:rPr>
              <a:t> </a:t>
            </a:r>
            <a:r>
              <a:rPr dirty="0" baseline="16203" sz="1800">
                <a:latin typeface="Symbol"/>
                <a:cs typeface="Symbol"/>
              </a:rPr>
              <a:t></a:t>
            </a:r>
            <a:r>
              <a:rPr dirty="0" baseline="16203" sz="1800" spc="-18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</a:t>
            </a:r>
            <a:r>
              <a:rPr dirty="0" baseline="4629" sz="1800" spc="-247">
                <a:latin typeface="Times New Roman"/>
                <a:cs typeface="Times New Roman"/>
              </a:rPr>
              <a:t> </a:t>
            </a:r>
            <a:r>
              <a:rPr dirty="0" baseline="16203" sz="1800">
                <a:latin typeface="Palatino Linotype"/>
                <a:cs typeface="Palatino Linotype"/>
              </a:rPr>
              <a:t>f</a:t>
            </a:r>
            <a:r>
              <a:rPr dirty="0" baseline="16203" sz="1800" spc="-187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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993489" y="8817046"/>
            <a:ext cx="195770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581150" algn="l"/>
              </a:tabLst>
            </a:pP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17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16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endParaRPr baseline="-16203" sz="1800">
              <a:latin typeface="Symbol"/>
              <a:cs typeface="Symbo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4227455" y="8817046"/>
            <a:ext cx="55689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6203" sz="1800" spc="89">
                <a:latin typeface="Symbol"/>
                <a:cs typeface="Symbol"/>
              </a:rPr>
              <a:t></a:t>
            </a:r>
            <a:r>
              <a:rPr dirty="0" baseline="-11574" sz="1800" spc="89">
                <a:latin typeface="Symbol"/>
                <a:cs typeface="Symbol"/>
              </a:rPr>
              <a:t></a:t>
            </a:r>
            <a:r>
              <a:rPr dirty="0" baseline="-11574" sz="1800" spc="-15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...</a:t>
            </a:r>
            <a:r>
              <a:rPr dirty="0" sz="1200" spc="-13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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431082" y="8935584"/>
            <a:ext cx="300672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78840" algn="l"/>
                <a:tab pos="1567815" algn="l"/>
                <a:tab pos="2409190" algn="l"/>
              </a:tabLst>
            </a:pPr>
            <a:r>
              <a:rPr dirty="0" baseline="-13888" sz="1800">
                <a:latin typeface="Symbol"/>
                <a:cs typeface="Symbol"/>
              </a:rPr>
              <a:t></a:t>
            </a:r>
            <a:r>
              <a:rPr dirty="0" baseline="-13888" sz="1800" spc="630">
                <a:latin typeface="Times New Roman"/>
                <a:cs typeface="Times New Roman"/>
              </a:rPr>
              <a:t> 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r>
              <a:rPr dirty="0" baseline="-11574" sz="1800">
                <a:latin typeface="Times New Roman"/>
                <a:cs typeface="Times New Roman"/>
              </a:rPr>
              <a:t>	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8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baseline="-11574" sz="1800" spc="52">
                <a:latin typeface="Symbol"/>
                <a:cs typeface="Symbol"/>
              </a:rPr>
              <a:t></a:t>
            </a:r>
            <a:r>
              <a:rPr dirty="0" baseline="-13888" sz="1800" spc="52">
                <a:latin typeface="Symbol"/>
                <a:cs typeface="Symbol"/>
              </a:rPr>
              <a:t></a:t>
            </a:r>
            <a:r>
              <a:rPr dirty="0" baseline="-13888" sz="1800">
                <a:latin typeface="Times New Roman"/>
                <a:cs typeface="Times New Roman"/>
              </a:rPr>
              <a:t>	</a:t>
            </a:r>
            <a:r>
              <a:rPr dirty="0" baseline="-13888" sz="1800">
                <a:latin typeface="Symbol"/>
                <a:cs typeface="Symbol"/>
              </a:rPr>
              <a:t></a:t>
            </a:r>
            <a:r>
              <a:rPr dirty="0" baseline="-13888" sz="1800" spc="637">
                <a:latin typeface="Times New Roman"/>
                <a:cs typeface="Times New Roman"/>
              </a:rPr>
              <a:t> 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6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r>
              <a:rPr dirty="0" baseline="-11574" sz="1800">
                <a:latin typeface="Times New Roman"/>
                <a:cs typeface="Times New Roman"/>
              </a:rPr>
              <a:t>	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baseline="-11574" sz="1800" spc="52">
                <a:latin typeface="Symbol"/>
                <a:cs typeface="Symbol"/>
              </a:rPr>
              <a:t></a:t>
            </a:r>
            <a:r>
              <a:rPr dirty="0" baseline="-13888" sz="1800" spc="52">
                <a:latin typeface="Symbol"/>
                <a:cs typeface="Symbol"/>
              </a:rPr>
              <a:t></a:t>
            </a:r>
            <a:endParaRPr baseline="-13888" sz="1800">
              <a:latin typeface="Symbol"/>
              <a:cs typeface="Symbol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1182893" y="9195220"/>
            <a:ext cx="302831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3440" algn="l"/>
                <a:tab pos="1619250" algn="l"/>
                <a:tab pos="2759075" algn="l"/>
              </a:tabLst>
            </a:pPr>
            <a:r>
              <a:rPr dirty="0" baseline="4629" sz="1800">
                <a:latin typeface="Symbol"/>
                <a:cs typeface="Symbol"/>
              </a:rPr>
              <a:t></a:t>
            </a:r>
            <a:r>
              <a:rPr dirty="0" baseline="4629" sz="1800" spc="62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1005</a:t>
            </a:r>
            <a:r>
              <a:rPr dirty="0" sz="1200" spc="-5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1007</a:t>
            </a:r>
            <a:r>
              <a:rPr dirty="0" sz="1200" spc="-65">
                <a:latin typeface="Palatino Linotype"/>
                <a:cs typeface="Palatino Linotype"/>
              </a:rPr>
              <a:t> </a:t>
            </a:r>
            <a:r>
              <a:rPr dirty="0" sz="1200" spc="35">
                <a:latin typeface="Symbol"/>
                <a:cs typeface="Symbol"/>
              </a:rPr>
              <a:t></a:t>
            </a:r>
            <a:r>
              <a:rPr dirty="0" baseline="4629" sz="1800" spc="52">
                <a:latin typeface="Symbol"/>
                <a:cs typeface="Symbol"/>
              </a:rPr>
              <a:t></a:t>
            </a:r>
            <a:r>
              <a:rPr dirty="0" baseline="4629" sz="18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1006</a:t>
            </a:r>
            <a:r>
              <a:rPr dirty="0" sz="1200" spc="-4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157493" y="9334481"/>
            <a:ext cx="28638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4629" sz="1800">
                <a:latin typeface="Symbol"/>
                <a:cs typeface="Symbol"/>
              </a:rPr>
              <a:t></a:t>
            </a:r>
            <a:r>
              <a:rPr dirty="0" baseline="4629" sz="1800" spc="-240">
                <a:latin typeface="Times New Roman"/>
                <a:cs typeface="Times New Roman"/>
              </a:rPr>
              <a:t> </a:t>
            </a:r>
            <a:r>
              <a:rPr dirty="0" baseline="16203" sz="1800">
                <a:latin typeface="Palatino Linotype"/>
                <a:cs typeface="Palatino Linotype"/>
              </a:rPr>
              <a:t>f</a:t>
            </a:r>
            <a:r>
              <a:rPr dirty="0" baseline="16203" sz="1800" spc="-187">
                <a:latin typeface="Palatino Linotype"/>
                <a:cs typeface="Palatino Linotype"/>
              </a:rPr>
              <a:t> </a:t>
            </a:r>
            <a:r>
              <a:rPr dirty="0" sz="1200" spc="-60">
                <a:latin typeface="Symbol"/>
                <a:cs typeface="Symbol"/>
              </a:rPr>
              <a:t>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2423628" y="9334481"/>
            <a:ext cx="47625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60">
                <a:latin typeface="Symbol"/>
                <a:cs typeface="Symbol"/>
              </a:rPr>
              <a:t></a:t>
            </a:r>
            <a:r>
              <a:rPr dirty="0" baseline="4629" sz="1800" spc="89">
                <a:latin typeface="Symbol"/>
                <a:cs typeface="Symbol"/>
              </a:rPr>
              <a:t></a:t>
            </a:r>
            <a:r>
              <a:rPr dirty="0" baseline="4629" sz="1800" spc="-165">
                <a:latin typeface="Times New Roman"/>
                <a:cs typeface="Times New Roman"/>
              </a:rPr>
              <a:t> </a:t>
            </a:r>
            <a:r>
              <a:rPr dirty="0" baseline="16203" sz="1800">
                <a:latin typeface="Symbol"/>
                <a:cs typeface="Symbol"/>
              </a:rPr>
              <a:t></a:t>
            </a:r>
            <a:r>
              <a:rPr dirty="0" baseline="16203" sz="1800" spc="-157">
                <a:latin typeface="Times New Roman"/>
                <a:cs typeface="Times New Roman"/>
              </a:rPr>
              <a:t> </a:t>
            </a:r>
            <a:r>
              <a:rPr dirty="0" baseline="16203" sz="1800">
                <a:latin typeface="Palatino Linotype"/>
                <a:cs typeface="Palatino Linotype"/>
              </a:rPr>
              <a:t>f</a:t>
            </a:r>
            <a:r>
              <a:rPr dirty="0" baseline="16203" sz="1800" spc="-19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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720212" y="9290900"/>
            <a:ext cx="311467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506220" algn="l"/>
                <a:tab pos="2418080" algn="l"/>
              </a:tabLst>
            </a:pP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16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5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1005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</a:t>
            </a:r>
            <a:r>
              <a:rPr dirty="0" sz="1200" spc="-120">
                <a:latin typeface="Palatino Linotype"/>
                <a:cs typeface="Palatino Linotype"/>
              </a:rPr>
              <a:t> </a:t>
            </a:r>
            <a:r>
              <a:rPr dirty="0" baseline="-16203" sz="1800" spc="-75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1005,</a:t>
            </a:r>
            <a:r>
              <a:rPr dirty="0" sz="1200" spc="-16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5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3904370" y="9439001"/>
            <a:ext cx="33210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2</a:t>
            </a:r>
            <a:r>
              <a:rPr dirty="0" baseline="11574" sz="1800" spc="-12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157493" y="9409747"/>
            <a:ext cx="216662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78840" algn="l"/>
                <a:tab pos="1644650" algn="l"/>
              </a:tabLst>
            </a:pPr>
            <a:r>
              <a:rPr dirty="0" baseline="-13888" sz="1800">
                <a:latin typeface="Symbol"/>
                <a:cs typeface="Symbol"/>
              </a:rPr>
              <a:t></a:t>
            </a:r>
            <a:r>
              <a:rPr dirty="0" baseline="-13888" sz="1800" spc="637">
                <a:latin typeface="Times New Roman"/>
                <a:cs typeface="Times New Roman"/>
              </a:rPr>
              <a:t> 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r>
              <a:rPr dirty="0" baseline="-11574" sz="1800">
                <a:latin typeface="Times New Roman"/>
                <a:cs typeface="Times New Roman"/>
              </a:rPr>
              <a:t>	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8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baseline="-11574" sz="1800" spc="52">
                <a:latin typeface="Symbol"/>
                <a:cs typeface="Symbol"/>
              </a:rPr>
              <a:t></a:t>
            </a:r>
            <a:r>
              <a:rPr dirty="0" baseline="-13888" sz="1800" spc="52">
                <a:latin typeface="Symbol"/>
                <a:cs typeface="Symbol"/>
              </a:rPr>
              <a:t></a:t>
            </a:r>
            <a:r>
              <a:rPr dirty="0" baseline="-13888" sz="1800">
                <a:latin typeface="Times New Roman"/>
                <a:cs typeface="Times New Roman"/>
              </a:rPr>
              <a:t>	</a:t>
            </a:r>
            <a:r>
              <a:rPr dirty="0" baseline="-11574" sz="1800">
                <a:latin typeface="Symbol"/>
                <a:cs typeface="Symbol"/>
              </a:rPr>
              <a:t></a:t>
            </a:r>
            <a:r>
              <a:rPr dirty="0" baseline="-11574" sz="18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2012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baseline="-11574" sz="1800" spc="-75">
                <a:latin typeface="Symbol"/>
                <a:cs typeface="Symbol"/>
              </a:rPr>
              <a:t></a:t>
            </a:r>
            <a:endParaRPr baseline="-11574" sz="1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19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06627" y="714247"/>
            <a:ext cx="3404870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18.</a:t>
            </a:r>
            <a:endParaRPr sz="1200">
              <a:latin typeface="Palatino Linotype"/>
              <a:cs typeface="Palatino Linotype"/>
            </a:endParaRPr>
          </a:p>
          <a:p>
            <a:pPr marL="469900">
              <a:lnSpc>
                <a:spcPct val="100000"/>
              </a:lnSpc>
              <a:spcBef>
                <a:spcPts val="149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P(1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 P(1)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2.</a:t>
            </a:r>
            <a:endParaRPr sz="1200">
              <a:latin typeface="Palatino Linotype"/>
              <a:cs typeface="Palatino Linotype"/>
            </a:endParaRPr>
          </a:p>
          <a:p>
            <a:pPr marL="469900">
              <a:lnSpc>
                <a:spcPct val="100000"/>
              </a:lnSpc>
              <a:spcBef>
                <a:spcPts val="1460"/>
              </a:spcBef>
            </a:pP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tự: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P(3)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P(5)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5;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P(7)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7.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39087" y="2050161"/>
            <a:ext cx="10350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Palatino Linotype"/>
                <a:cs typeface="Palatino Linotype"/>
              </a:rPr>
              <a:t>7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166828" y="1985909"/>
            <a:ext cx="208279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5462" sz="1800" spc="-37">
                <a:latin typeface="Palatino Linotype"/>
                <a:cs typeface="Palatino Linotype"/>
              </a:rPr>
              <a:t>7</a:t>
            </a:r>
            <a:r>
              <a:rPr dirty="0" sz="700" spc="-25">
                <a:latin typeface="Palatino Linotype"/>
                <a:cs typeface="Palatino Linotype"/>
              </a:rPr>
              <a:t>2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76192" y="1801391"/>
            <a:ext cx="2880360" cy="45847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423545" algn="l"/>
                <a:tab pos="1070610" algn="l"/>
                <a:tab pos="1353820" algn="l"/>
                <a:tab pos="1869439" algn="l"/>
                <a:tab pos="2367915" algn="l"/>
                <a:tab pos="2780030" algn="l"/>
              </a:tabLst>
            </a:pP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u="sng" sz="1200" spc="-22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1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u="sng" sz="1200" spc="-229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u="sng" sz="1200" spc="-23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 spc="-8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u="sng" sz="1200" spc="-23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  <a:p>
            <a:pPr algn="r" marR="9525">
              <a:lnSpc>
                <a:spcPct val="100000"/>
              </a:lnSpc>
              <a:spcBef>
                <a:spcPts val="265"/>
              </a:spcBef>
            </a:pPr>
            <a:r>
              <a:rPr dirty="0" sz="1200" spc="-50">
                <a:latin typeface="Palatino Linotype"/>
                <a:cs typeface="Palatino Linotype"/>
              </a:rPr>
              <a:t>7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38732" y="1857591"/>
            <a:ext cx="3420110" cy="297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846455" algn="l"/>
                <a:tab pos="1243965" algn="l"/>
                <a:tab pos="1823720" algn="l"/>
                <a:tab pos="2187575" algn="l"/>
                <a:tab pos="2703195" algn="l"/>
                <a:tab pos="3202305" algn="l"/>
              </a:tabLst>
            </a:pPr>
            <a:r>
              <a:rPr dirty="0" sz="1200">
                <a:latin typeface="Palatino Linotype"/>
                <a:cs typeface="Palatino Linotype"/>
              </a:rPr>
              <a:t>Từ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đó:</a:t>
            </a:r>
            <a:r>
              <a:rPr dirty="0" sz="1200" spc="150">
                <a:latin typeface="Palatino Linotype"/>
                <a:cs typeface="Palatino Linotype"/>
              </a:rPr>
              <a:t> </a:t>
            </a:r>
            <a:r>
              <a:rPr dirty="0" sz="1200" spc="40">
                <a:latin typeface="Palatino Linotype"/>
                <a:cs typeface="Palatino Linotype"/>
              </a:rPr>
              <a:t>P</a:t>
            </a:r>
            <a:r>
              <a:rPr dirty="0" baseline="-16203" sz="1800" spc="60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6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3174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7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baseline="-3174" sz="2625" spc="-24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55">
                <a:latin typeface="Palatino Linotype"/>
                <a:cs typeface="Palatino Linotype"/>
              </a:rPr>
              <a:t> </a:t>
            </a:r>
            <a:r>
              <a:rPr dirty="0" sz="1200" spc="40">
                <a:latin typeface="Palatino Linotype"/>
                <a:cs typeface="Palatino Linotype"/>
              </a:rPr>
              <a:t>P</a:t>
            </a:r>
            <a:r>
              <a:rPr dirty="0" baseline="-16203" sz="1800" spc="60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5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Palatino Linotype"/>
                <a:cs typeface="Palatino Linotype"/>
              </a:rPr>
              <a:t>P</a:t>
            </a:r>
            <a:r>
              <a:rPr dirty="0" baseline="-16203" sz="1800" spc="60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16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Palatino Linotype"/>
                <a:cs typeface="Palatino Linotype"/>
              </a:rPr>
              <a:t>P</a:t>
            </a:r>
            <a:r>
              <a:rPr dirty="0" baseline="-16203" sz="1800" spc="60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52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50792" y="2079860"/>
            <a:ext cx="33274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7</a:t>
            </a:r>
            <a:r>
              <a:rPr dirty="0" baseline="11574" sz="1800" spc="-6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92025" y="2079860"/>
            <a:ext cx="134747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53085" algn="l"/>
                <a:tab pos="1052195" algn="l"/>
              </a:tabLst>
            </a:pP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7</a:t>
            </a:r>
            <a:r>
              <a:rPr dirty="0" baseline="11574" sz="1800" spc="-6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7</a:t>
            </a:r>
            <a:r>
              <a:rPr dirty="0" baseline="11574" sz="1800" spc="-6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7</a:t>
            </a:r>
            <a:r>
              <a:rPr dirty="0" baseline="11574" sz="1800" spc="-67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24245" y="2673421"/>
            <a:ext cx="10350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latin typeface="Palatino Linotype"/>
                <a:cs typeface="Palatino Linotype"/>
              </a:rPr>
              <a:t>7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08006" y="2424313"/>
            <a:ext cx="1220470" cy="4591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424180" algn="l"/>
                <a:tab pos="707390" algn="l"/>
                <a:tab pos="1118870" algn="l"/>
              </a:tabLst>
            </a:pP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>
                <a:latin typeface="Symbol"/>
                <a:cs typeface="Symbol"/>
              </a:rPr>
              <a:t>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5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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u="sng" sz="1200" spc="-22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5</a:t>
            </a:r>
            <a:endParaRPr sz="1200">
              <a:latin typeface="Palatino Linotype"/>
              <a:cs typeface="Palatino Linotype"/>
            </a:endParaRPr>
          </a:p>
          <a:p>
            <a:pPr algn="r" marR="10795">
              <a:lnSpc>
                <a:spcPct val="100000"/>
              </a:lnSpc>
              <a:spcBef>
                <a:spcPts val="265"/>
              </a:spcBef>
            </a:pPr>
            <a:r>
              <a:rPr dirty="0" sz="1200" spc="-50">
                <a:latin typeface="Palatino Linotype"/>
                <a:cs typeface="Palatino Linotype"/>
              </a:rPr>
              <a:t>7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38732" y="2554338"/>
            <a:ext cx="19907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1078865" algn="l"/>
                <a:tab pos="1409700" algn="l"/>
                <a:tab pos="1773555" algn="l"/>
              </a:tabLst>
            </a:pP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tự:</a:t>
            </a:r>
            <a:r>
              <a:rPr dirty="0" sz="1200" spc="135">
                <a:latin typeface="Palatino Linotype"/>
                <a:cs typeface="Palatino Linotype"/>
              </a:rPr>
              <a:t> </a:t>
            </a:r>
            <a:r>
              <a:rPr dirty="0" sz="1200" spc="40">
                <a:latin typeface="Palatino Linotype"/>
                <a:cs typeface="Palatino Linotype"/>
              </a:rPr>
              <a:t>P</a:t>
            </a:r>
            <a:r>
              <a:rPr dirty="0" baseline="-16203" sz="1800" spc="60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6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160">
                <a:latin typeface="Palatino Linotype"/>
                <a:cs typeface="Palatino Linotype"/>
              </a:rPr>
              <a:t> </a:t>
            </a:r>
            <a:r>
              <a:rPr dirty="0" sz="1200" spc="40">
                <a:latin typeface="Palatino Linotype"/>
                <a:cs typeface="Palatino Linotype"/>
              </a:rPr>
              <a:t>P</a:t>
            </a:r>
            <a:r>
              <a:rPr dirty="0" baseline="-16203" sz="1800" spc="60">
                <a:latin typeface="Symbol"/>
                <a:cs typeface="Symbol"/>
              </a:rPr>
              <a:t></a:t>
            </a:r>
            <a:r>
              <a:rPr dirty="0" baseline="-16203" sz="1800">
                <a:latin typeface="Times New Roman"/>
                <a:cs typeface="Times New Roman"/>
              </a:rPr>
              <a:t>	</a:t>
            </a:r>
            <a:r>
              <a:rPr dirty="0" baseline="-16203" sz="1800">
                <a:latin typeface="Symbol"/>
                <a:cs typeface="Symbol"/>
              </a:rPr>
              <a:t></a:t>
            </a:r>
            <a:r>
              <a:rPr dirty="0" baseline="-16203" sz="1800" spc="-52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69906" y="2703162"/>
            <a:ext cx="105346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745490" algn="l"/>
              </a:tabLst>
            </a:pP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7</a:t>
            </a:r>
            <a:r>
              <a:rPr dirty="0" baseline="11574" sz="1800" spc="-52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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baseline="11574" sz="1800">
                <a:latin typeface="Palatino Linotype"/>
                <a:cs typeface="Palatino Linotype"/>
              </a:rPr>
              <a:t>7</a:t>
            </a:r>
            <a:r>
              <a:rPr dirty="0" baseline="11574" sz="1800" spc="-52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81227" y="3003100"/>
            <a:ext cx="6063615" cy="140398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19.</a:t>
            </a:r>
            <a:endParaRPr sz="1200">
              <a:latin typeface="Palatino Linotype"/>
              <a:cs typeface="Palatino Linotype"/>
            </a:endParaRPr>
          </a:p>
          <a:p>
            <a:pPr marL="495300">
              <a:lnSpc>
                <a:spcPct val="100000"/>
              </a:lnSpc>
              <a:spcBef>
                <a:spcPts val="890"/>
              </a:spcBef>
            </a:pPr>
            <a:r>
              <a:rPr dirty="0" sz="1200">
                <a:latin typeface="Palatino Linotype"/>
                <a:cs typeface="Palatino Linotype"/>
              </a:rPr>
              <a:t>a)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229">
                <a:latin typeface="Palatino Linotype"/>
                <a:cs typeface="Palatino Linotype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P</a:t>
            </a:r>
            <a:r>
              <a:rPr dirty="0" baseline="-4761" sz="2625" spc="-15">
                <a:latin typeface="Symbol"/>
                <a:cs typeface="Symbol"/>
              </a:rPr>
              <a:t></a:t>
            </a:r>
            <a:r>
              <a:rPr dirty="0" sz="1150" spc="-10">
                <a:latin typeface="Palatino Linotype"/>
                <a:cs typeface="Palatino Linotype"/>
              </a:rPr>
              <a:t>x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r>
              <a:rPr dirty="0" baseline="-4761" sz="2625" spc="-240">
                <a:latin typeface="Times New Roman"/>
                <a:cs typeface="Times New Roman"/>
              </a:rPr>
              <a:t> </a:t>
            </a:r>
            <a:r>
              <a:rPr dirty="0" sz="1150" spc="50">
                <a:latin typeface="Symbol"/>
                <a:cs typeface="Symbol"/>
              </a:rPr>
              <a:t>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-5555" sz="3000">
                <a:latin typeface="Symbol"/>
                <a:cs typeface="Symbol"/>
              </a:rPr>
              <a:t>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84">
                <a:latin typeface="Palatino Linotype"/>
                <a:cs typeface="Palatino Linotype"/>
              </a:rPr>
              <a:t> </a:t>
            </a:r>
            <a:r>
              <a:rPr dirty="0" sz="1150" spc="50">
                <a:latin typeface="Symbol"/>
                <a:cs typeface="Symbol"/>
              </a:rPr>
              <a:t></a:t>
            </a:r>
            <a:r>
              <a:rPr dirty="0" sz="1150" spc="-15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1</a:t>
            </a:r>
            <a:r>
              <a:rPr dirty="0" baseline="-5555" sz="3000">
                <a:latin typeface="Symbol"/>
                <a:cs typeface="Symbol"/>
              </a:rPr>
              <a:t>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215">
                <a:latin typeface="Palatino Linotype"/>
                <a:cs typeface="Palatino Linotype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Q</a:t>
            </a:r>
            <a:r>
              <a:rPr dirty="0" baseline="-4761" sz="2625" spc="-15">
                <a:latin typeface="Symbol"/>
                <a:cs typeface="Symbol"/>
              </a:rPr>
              <a:t></a:t>
            </a:r>
            <a:r>
              <a:rPr dirty="0" sz="1150" spc="-10">
                <a:latin typeface="Palatino Linotype"/>
                <a:cs typeface="Palatino Linotype"/>
              </a:rPr>
              <a:t>x</a:t>
            </a:r>
            <a:r>
              <a:rPr dirty="0" baseline="-4761" sz="2625" spc="-15">
                <a:latin typeface="Symbol"/>
                <a:cs typeface="Symbol"/>
              </a:rPr>
              <a:t></a:t>
            </a:r>
            <a:r>
              <a:rPr dirty="0" baseline="-4761" sz="2625" spc="-247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-5555" sz="3000">
                <a:latin typeface="Symbol"/>
                <a:cs typeface="Symbol"/>
              </a:rPr>
              <a:t>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80</a:t>
            </a:r>
            <a:r>
              <a:rPr dirty="0" baseline="47008" sz="975" spc="277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15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1</a:t>
            </a:r>
            <a:r>
              <a:rPr dirty="0" baseline="-5555" sz="3000" spc="-15">
                <a:latin typeface="Symbol"/>
                <a:cs typeface="Symbol"/>
              </a:rPr>
              <a:t></a:t>
            </a:r>
            <a:r>
              <a:rPr dirty="0" sz="1150" spc="-10">
                <a:latin typeface="Symbol"/>
                <a:cs typeface="Symbol"/>
              </a:rPr>
              <a:t>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-5555" sz="3000">
                <a:latin typeface="Symbol"/>
                <a:cs typeface="Symbol"/>
              </a:rPr>
              <a:t>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48</a:t>
            </a:r>
            <a:r>
              <a:rPr dirty="0" baseline="47008" sz="975" spc="277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15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1</a:t>
            </a:r>
            <a:r>
              <a:rPr dirty="0" baseline="-5555" sz="3000" spc="-15">
                <a:latin typeface="Symbol"/>
                <a:cs typeface="Symbol"/>
              </a:rPr>
              <a:t></a:t>
            </a:r>
            <a:r>
              <a:rPr dirty="0" sz="1150" spc="-10">
                <a:latin typeface="Symbol"/>
                <a:cs typeface="Symbol"/>
              </a:rPr>
              <a:t></a:t>
            </a:r>
            <a:r>
              <a:rPr dirty="0" sz="1150" spc="-7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-5555" sz="3000">
                <a:latin typeface="Symbol"/>
                <a:cs typeface="Symbol"/>
              </a:rPr>
              <a:t>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24</a:t>
            </a:r>
            <a:r>
              <a:rPr dirty="0" baseline="47008" sz="975" spc="262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1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1</a:t>
            </a:r>
            <a:r>
              <a:rPr dirty="0" baseline="-5555" sz="3000" spc="-15">
                <a:latin typeface="Symbol"/>
                <a:cs typeface="Symbol"/>
              </a:rPr>
              <a:t></a:t>
            </a:r>
            <a:r>
              <a:rPr dirty="0" sz="1150" spc="-10">
                <a:latin typeface="Symbol"/>
                <a:cs typeface="Symbol"/>
              </a:rPr>
              <a:t>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-5555" sz="3000">
                <a:latin typeface="Symbol"/>
                <a:cs typeface="Symbol"/>
              </a:rPr>
              <a:t>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8</a:t>
            </a:r>
            <a:r>
              <a:rPr dirty="0" baseline="47008" sz="975" spc="262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1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Palatino Linotype"/>
                <a:cs typeface="Palatino Linotype"/>
              </a:rPr>
              <a:t>1</a:t>
            </a:r>
            <a:r>
              <a:rPr dirty="0" baseline="-5555" sz="3000" spc="-15">
                <a:latin typeface="Symbol"/>
                <a:cs typeface="Symbol"/>
              </a:rPr>
              <a:t></a:t>
            </a:r>
            <a:r>
              <a:rPr dirty="0" sz="1150" spc="-10">
                <a:latin typeface="Symbol"/>
                <a:cs typeface="Symbol"/>
              </a:rPr>
              <a:t>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5x</a:t>
            </a:r>
            <a:r>
              <a:rPr dirty="0" sz="1150" spc="-95">
                <a:latin typeface="Palatino Linotype"/>
                <a:cs typeface="Palatino Linotype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3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Palatino Linotype"/>
                <a:cs typeface="Palatino Linotype"/>
              </a:rPr>
              <a:t>1</a:t>
            </a:r>
            <a:endParaRPr sz="1150">
              <a:latin typeface="Palatino Linotype"/>
              <a:cs typeface="Palatino Linotype"/>
            </a:endParaRPr>
          </a:p>
          <a:p>
            <a:pPr marL="495300" marR="113030">
              <a:lnSpc>
                <a:spcPct val="149100"/>
              </a:lnSpc>
              <a:spcBef>
                <a:spcPts val="1295"/>
              </a:spcBef>
            </a:pPr>
            <a:r>
              <a:rPr dirty="0" sz="1200">
                <a:latin typeface="Palatino Linotype"/>
                <a:cs typeface="Palatino Linotype"/>
              </a:rPr>
              <a:t>Vì các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thức</a:t>
            </a:r>
            <a:r>
              <a:rPr dirty="0" sz="1200" spc="20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80</a:t>
            </a:r>
            <a:r>
              <a:rPr dirty="0" baseline="43650" sz="1050" spc="23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9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1;</a:t>
            </a:r>
            <a:r>
              <a:rPr dirty="0" sz="1200" spc="-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48</a:t>
            </a:r>
            <a:r>
              <a:rPr dirty="0" baseline="43650" sz="105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Palatino Linotype"/>
                <a:cs typeface="Palatino Linotype"/>
              </a:rPr>
              <a:t>1;</a:t>
            </a:r>
            <a:r>
              <a:rPr dirty="0" sz="1200" spc="-1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43650" sz="1050">
                <a:latin typeface="Palatino Linotype"/>
                <a:cs typeface="Palatino Linotype"/>
              </a:rPr>
              <a:t>8</a:t>
            </a:r>
            <a:r>
              <a:rPr dirty="0" baseline="43650" sz="1050" spc="232">
                <a:latin typeface="Palatino Linotype"/>
                <a:cs typeface="Palatino Linotype"/>
              </a:rPr>
              <a:t> </a:t>
            </a:r>
            <a:r>
              <a:rPr dirty="0" sz="1200" spc="70">
                <a:latin typeface="Symbol"/>
                <a:cs typeface="Symbol"/>
              </a:rPr>
              <a:t></a:t>
            </a:r>
            <a:r>
              <a:rPr dirty="0" sz="1200" spc="70">
                <a:latin typeface="Palatino Linotype"/>
                <a:cs typeface="Palatino Linotype"/>
              </a:rPr>
              <a:t>1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đều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chia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hết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cho</a:t>
            </a:r>
            <a:r>
              <a:rPr dirty="0" sz="1200" spc="195">
                <a:latin typeface="Palatino Linotype"/>
                <a:cs typeface="Palatino Linotype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x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40">
                <a:latin typeface="Palatino Linotype"/>
                <a:cs typeface="Palatino Linotype"/>
              </a:rPr>
              <a:t> 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sz="1150" spc="-155">
                <a:latin typeface="Times New Roman"/>
                <a:cs typeface="Times New Roman"/>
              </a:rPr>
              <a:t> </a:t>
            </a:r>
            <a:r>
              <a:rPr dirty="0" sz="1150">
                <a:latin typeface="Palatino Linotype"/>
                <a:cs typeface="Palatino Linotype"/>
              </a:rPr>
              <a:t>1</a:t>
            </a:r>
            <a:r>
              <a:rPr dirty="0" sz="1150" spc="1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phép chia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Q(x)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cho </a:t>
            </a:r>
            <a:r>
              <a:rPr dirty="0" sz="1200">
                <a:latin typeface="Palatino Linotype"/>
                <a:cs typeface="Palatino Linotype"/>
              </a:rPr>
              <a:t>P(x)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dư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5x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1.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1331" y="4651023"/>
            <a:ext cx="401963" cy="26130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138732" y="4588593"/>
            <a:ext cx="272859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Palatino Linotype"/>
                <a:cs typeface="Palatino Linotype"/>
              </a:rPr>
              <a:t>b)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Để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Q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52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x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3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5x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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x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u="sng" baseline="34722" sz="1800" spc="-352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dirty="0" u="sng" baseline="34722" sz="1800" spc="-75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</a:t>
            </a:r>
            <a:endParaRPr baseline="34722" sz="18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1227" y="4692879"/>
            <a:ext cx="6101715" cy="10007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algn="ctr" marL="116205">
              <a:lnSpc>
                <a:spcPct val="100000"/>
              </a:lnSpc>
              <a:spcBef>
                <a:spcPts val="775"/>
              </a:spcBef>
            </a:pPr>
            <a:r>
              <a:rPr dirty="0" sz="1200" spc="-50">
                <a:latin typeface="Palatino Linotype"/>
                <a:cs typeface="Palatino Linotype"/>
              </a:rPr>
              <a:t>5</a:t>
            </a:r>
            <a:endParaRPr sz="1200">
              <a:latin typeface="Palatino Linotype"/>
              <a:cs typeface="Palatino Linotype"/>
            </a:endParaRPr>
          </a:p>
          <a:p>
            <a:pPr marL="487680" marR="30480" indent="-450215">
              <a:lnSpc>
                <a:spcPct val="148000"/>
              </a:lnSpc>
              <a:spcBef>
                <a:spcPts val="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20.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165">
                <a:latin typeface="Palatino Linotype"/>
                <a:cs typeface="Palatino Linotype"/>
              </a:rPr>
              <a:t> </a:t>
            </a:r>
            <a:r>
              <a:rPr dirty="0" sz="1200" spc="-30">
                <a:latin typeface="Palatino Linotype"/>
                <a:cs typeface="Palatino Linotype"/>
              </a:rPr>
              <a:t>P</a:t>
            </a:r>
            <a:r>
              <a:rPr dirty="0" baseline="-4761" sz="2625" spc="-44">
                <a:latin typeface="Symbol"/>
                <a:cs typeface="Symbol"/>
              </a:rPr>
              <a:t></a:t>
            </a:r>
            <a:r>
              <a:rPr dirty="0" sz="1200" spc="-30">
                <a:latin typeface="Palatino Linotype"/>
                <a:cs typeface="Palatino Linotype"/>
              </a:rPr>
              <a:t>0</a:t>
            </a:r>
            <a:r>
              <a:rPr dirty="0" baseline="-4761" sz="2625" spc="-44">
                <a:latin typeface="Symbol"/>
                <a:cs typeface="Symbol"/>
              </a:rPr>
              <a:t></a:t>
            </a:r>
            <a:r>
              <a:rPr dirty="0" baseline="-4761" sz="262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chính phương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15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442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với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(hiên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nhiên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số </a:t>
            </a:r>
            <a:r>
              <a:rPr dirty="0" sz="1200" spc="-10">
                <a:latin typeface="Palatino Linotype"/>
                <a:cs typeface="Palatino Linotype"/>
              </a:rPr>
              <a:t>nguyên).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3652" y="7755239"/>
            <a:ext cx="164938" cy="261011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50363" y="7755539"/>
            <a:ext cx="169648" cy="26130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61453" y="7774433"/>
            <a:ext cx="162431" cy="230503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693927" y="5770244"/>
            <a:ext cx="5946775" cy="3880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0" marR="55880">
              <a:lnSpc>
                <a:spcPct val="1458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Vì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P(1)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P(-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 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số </a:t>
            </a:r>
            <a:r>
              <a:rPr dirty="0" sz="1200">
                <a:latin typeface="Palatino Linotype"/>
                <a:cs typeface="Palatino Linotype"/>
              </a:rPr>
              <a:t>nguyên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2b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nguyên.</a:t>
            </a:r>
            <a:endParaRPr sz="1200">
              <a:latin typeface="Palatino Linotype"/>
              <a:cs typeface="Palatino Linotype"/>
            </a:endParaRPr>
          </a:p>
          <a:p>
            <a:pPr marL="482600">
              <a:lnSpc>
                <a:spcPct val="100000"/>
              </a:lnSpc>
              <a:spcBef>
                <a:spcPts val="1100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2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2a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n;</a:t>
            </a:r>
            <a:r>
              <a:rPr dirty="0" sz="1200" spc="-1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2b</a:t>
            </a:r>
            <a:r>
              <a:rPr dirty="0" sz="1200" spc="-5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p;</a:t>
            </a:r>
            <a:r>
              <a:rPr dirty="0" sz="1200" spc="-145">
                <a:latin typeface="Palatino Linotype"/>
                <a:cs typeface="Palatino Linotype"/>
              </a:rPr>
              <a:t> </a:t>
            </a:r>
            <a:r>
              <a:rPr dirty="0" sz="1200" spc="-35">
                <a:latin typeface="Palatino Linotype"/>
                <a:cs typeface="Palatino Linotype"/>
              </a:rPr>
              <a:t>P</a:t>
            </a:r>
            <a:r>
              <a:rPr dirty="0" baseline="-4761" sz="2625" spc="-52">
                <a:latin typeface="Symbol"/>
                <a:cs typeface="Symbol"/>
              </a:rPr>
              <a:t></a:t>
            </a:r>
            <a:r>
              <a:rPr dirty="0" sz="1200" spc="-35">
                <a:latin typeface="Palatino Linotype"/>
                <a:cs typeface="Palatino Linotype"/>
              </a:rPr>
              <a:t>4</a:t>
            </a:r>
            <a:r>
              <a:rPr dirty="0" baseline="-4761" sz="2625" spc="-52">
                <a:latin typeface="Symbol"/>
                <a:cs typeface="Symbol"/>
              </a:rPr>
              <a:t></a:t>
            </a:r>
            <a:r>
              <a:rPr dirty="0" baseline="-4761" sz="2625" spc="-23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44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;</a:t>
            </a:r>
            <a:r>
              <a:rPr dirty="0" sz="1200" spc="18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n,</a:t>
            </a:r>
            <a:r>
              <a:rPr dirty="0" sz="1200" spc="-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p,</a:t>
            </a:r>
            <a:r>
              <a:rPr dirty="0" sz="1200" spc="-165">
                <a:latin typeface="Palatino Linotype"/>
                <a:cs typeface="Palatino Linotype"/>
              </a:rPr>
              <a:t> </a:t>
            </a:r>
            <a:r>
              <a:rPr dirty="0" sz="1200" spc="65">
                <a:latin typeface="Palatino Linotype"/>
                <a:cs typeface="Palatino Linotype"/>
              </a:rPr>
              <a:t>k</a:t>
            </a:r>
            <a:r>
              <a:rPr dirty="0" sz="1200" spc="65">
                <a:latin typeface="Symbol"/>
                <a:cs typeface="Symbol"/>
              </a:rPr>
              <a:t>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Z.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ra: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25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38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16a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4b</a:t>
            </a:r>
            <a:endParaRPr sz="1200">
              <a:latin typeface="Palatino Linotype"/>
              <a:cs typeface="Palatino Linotype"/>
            </a:endParaRPr>
          </a:p>
          <a:p>
            <a:pPr marL="482600">
              <a:lnSpc>
                <a:spcPct val="100000"/>
              </a:lnSpc>
              <a:spcBef>
                <a:spcPts val="1370"/>
              </a:spcBef>
            </a:pP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190">
                <a:latin typeface="Palatino Linotype"/>
                <a:cs typeface="Palatino Linotype"/>
              </a:rPr>
              <a:t> </a:t>
            </a:r>
            <a:r>
              <a:rPr dirty="0" baseline="-4761" sz="2625" spc="-67">
                <a:latin typeface="Symbol"/>
                <a:cs typeface="Symbol"/>
              </a:rPr>
              <a:t></a:t>
            </a:r>
            <a:r>
              <a:rPr dirty="0" sz="1200" spc="-45">
                <a:latin typeface="Palatino Linotype"/>
                <a:cs typeface="Palatino Linotype"/>
              </a:rPr>
              <a:t>k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m</a:t>
            </a:r>
            <a:r>
              <a:rPr dirty="0" baseline="-4761" sz="2625" spc="-37">
                <a:latin typeface="Symbol"/>
                <a:cs typeface="Symbol"/>
              </a:rPr>
              <a:t></a:t>
            </a:r>
            <a:r>
              <a:rPr dirty="0" sz="1200" spc="-25">
                <a:latin typeface="Palatino Linotype"/>
                <a:cs typeface="Palatino Linotype"/>
              </a:rPr>
              <a:t>k</a:t>
            </a:r>
            <a:r>
              <a:rPr dirty="0" sz="1200" spc="-9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m</a:t>
            </a:r>
            <a:r>
              <a:rPr dirty="0" baseline="-4761" sz="2625" spc="-75">
                <a:latin typeface="Symbol"/>
                <a:cs typeface="Symbol"/>
              </a:rPr>
              <a:t></a:t>
            </a:r>
            <a:r>
              <a:rPr dirty="0" baseline="-4761" sz="2625" spc="-25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4n</a:t>
            </a:r>
            <a:r>
              <a:rPr dirty="0" sz="1200" spc="-9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sz="1200" spc="-25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482600" marR="1530985">
              <a:lnSpc>
                <a:spcPct val="171600"/>
              </a:lnSpc>
              <a:spcBef>
                <a:spcPts val="785"/>
              </a:spcBef>
            </a:pPr>
            <a:r>
              <a:rPr dirty="0" sz="1200">
                <a:latin typeface="Palatino Linotype"/>
                <a:cs typeface="Palatino Linotype"/>
              </a:rPr>
              <a:t>Nếu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khác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tính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chẵn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lẻ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thì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(k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–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m)(k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m)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lẻ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vô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lý. </a:t>
            </a: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đó:</a:t>
            </a:r>
            <a:r>
              <a:rPr dirty="0" sz="1200" spc="140">
                <a:latin typeface="Palatino Linotype"/>
                <a:cs typeface="Palatino Linotype"/>
              </a:rPr>
              <a:t> </a:t>
            </a:r>
            <a:r>
              <a:rPr dirty="0" baseline="-3174" sz="2625" spc="-67">
                <a:latin typeface="Symbol"/>
                <a:cs typeface="Symbol"/>
              </a:rPr>
              <a:t></a:t>
            </a:r>
            <a:r>
              <a:rPr dirty="0" sz="1200" spc="-45">
                <a:latin typeface="Palatino Linotype"/>
                <a:cs typeface="Palatino Linotype"/>
              </a:rPr>
              <a:t>k</a:t>
            </a:r>
            <a:r>
              <a:rPr dirty="0" sz="1200" spc="-114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m</a:t>
            </a:r>
            <a:r>
              <a:rPr dirty="0" baseline="-3174" sz="2625" spc="-30">
                <a:latin typeface="Symbol"/>
                <a:cs typeface="Symbol"/>
              </a:rPr>
              <a:t></a:t>
            </a:r>
            <a:r>
              <a:rPr dirty="0" sz="1200" spc="-20">
                <a:latin typeface="Palatino Linotype"/>
                <a:cs typeface="Palatino Linotype"/>
              </a:rPr>
              <a:t>k</a:t>
            </a:r>
            <a:r>
              <a:rPr dirty="0" sz="1200" spc="-11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baseline="-3174" sz="2625">
                <a:latin typeface="Symbol"/>
                <a:cs typeface="Symbol"/>
              </a:rPr>
              <a:t></a:t>
            </a:r>
            <a:r>
              <a:rPr dirty="0" baseline="-3174" sz="2625" spc="6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4</a:t>
            </a:r>
            <a:r>
              <a:rPr dirty="0" sz="1200" spc="17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130">
                <a:latin typeface="Palatino Linotype"/>
                <a:cs typeface="Palatino Linotype"/>
              </a:rPr>
              <a:t> </a:t>
            </a:r>
            <a:r>
              <a:rPr dirty="0" baseline="-4761" sz="2625" spc="-30">
                <a:latin typeface="Symbol"/>
                <a:cs typeface="Symbol"/>
              </a:rPr>
              <a:t></a:t>
            </a:r>
            <a:r>
              <a:rPr dirty="0" sz="1200" spc="-20">
                <a:latin typeface="Palatino Linotype"/>
                <a:cs typeface="Palatino Linotype"/>
              </a:rPr>
              <a:t>4n</a:t>
            </a:r>
            <a:r>
              <a:rPr dirty="0" sz="1200" spc="-100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2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hay</a:t>
            </a:r>
            <a:r>
              <a:rPr dirty="0" sz="1200" spc="17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</a:t>
            </a:r>
            <a:r>
              <a:rPr dirty="0" sz="1200" spc="18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  <a:p>
            <a:pPr marL="482600">
              <a:lnSpc>
                <a:spcPct val="100000"/>
              </a:lnSpc>
              <a:spcBef>
                <a:spcPts val="1365"/>
              </a:spcBef>
            </a:pPr>
            <a:r>
              <a:rPr dirty="0" sz="1200">
                <a:latin typeface="Palatino Linotype"/>
                <a:cs typeface="Palatino Linotype"/>
              </a:rPr>
              <a:t>Mà</a:t>
            </a:r>
            <a:r>
              <a:rPr dirty="0" sz="1200" spc="210">
                <a:latin typeface="Palatino Linotype"/>
                <a:cs typeface="Palatino Linotype"/>
              </a:rPr>
              <a:t> </a:t>
            </a:r>
            <a:r>
              <a:rPr dirty="0" baseline="-4761" sz="2625" spc="-97">
                <a:latin typeface="Symbol"/>
                <a:cs typeface="Symbol"/>
              </a:rPr>
              <a:t></a:t>
            </a:r>
            <a:r>
              <a:rPr dirty="0" sz="1200" spc="-65">
                <a:latin typeface="Palatino Linotype"/>
                <a:cs typeface="Palatino Linotype"/>
              </a:rPr>
              <a:t>a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sz="1200">
                <a:latin typeface="Symbol"/>
                <a:cs typeface="Symbol"/>
              </a:rPr>
              <a:t></a:t>
            </a:r>
            <a:r>
              <a:rPr dirty="0" sz="1200">
                <a:latin typeface="Palatino Linotype"/>
                <a:cs typeface="Palatino Linotype"/>
              </a:rPr>
              <a:t>Z</a:t>
            </a:r>
            <a:r>
              <a:rPr dirty="0" sz="1200" spc="-5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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114">
                <a:latin typeface="Palatino Linotype"/>
                <a:cs typeface="Palatino Linotype"/>
              </a:rPr>
              <a:t>a</a:t>
            </a:r>
            <a:r>
              <a:rPr dirty="0" sz="1200" spc="114">
                <a:latin typeface="Symbol"/>
                <a:cs typeface="Symbol"/>
              </a:rPr>
              <a:t></a:t>
            </a:r>
            <a:r>
              <a:rPr dirty="0" sz="1200" spc="114">
                <a:latin typeface="Palatino Linotype"/>
                <a:cs typeface="Palatino Linotype"/>
              </a:rPr>
              <a:t>Z</a:t>
            </a:r>
            <a:r>
              <a:rPr dirty="0" sz="1200" spc="280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482600">
              <a:lnSpc>
                <a:spcPct val="100000"/>
              </a:lnSpc>
              <a:spcBef>
                <a:spcPts val="1380"/>
              </a:spcBef>
            </a:pPr>
            <a:r>
              <a:rPr dirty="0" sz="1200">
                <a:latin typeface="Palatino Linotype"/>
                <a:cs typeface="Palatino Linotype"/>
              </a:rPr>
              <a:t>Đặt</a:t>
            </a:r>
            <a:r>
              <a:rPr dirty="0" sz="1200" spc="22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P</a:t>
            </a:r>
            <a:r>
              <a:rPr dirty="0" baseline="-4761" sz="2625" spc="-37">
                <a:latin typeface="Symbol"/>
                <a:cs typeface="Symbol"/>
              </a:rPr>
              <a:t></a:t>
            </a:r>
            <a:r>
              <a:rPr dirty="0" sz="1200" spc="-25">
                <a:latin typeface="Palatino Linotype"/>
                <a:cs typeface="Palatino Linotype"/>
              </a:rPr>
              <a:t>2</a:t>
            </a:r>
            <a:r>
              <a:rPr dirty="0" baseline="-4761" sz="2625" spc="-37">
                <a:latin typeface="Symbol"/>
                <a:cs typeface="Symbol"/>
              </a:rPr>
              <a:t></a:t>
            </a:r>
            <a:r>
              <a:rPr dirty="0" baseline="-4761" sz="2625" spc="-24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</a:t>
            </a:r>
            <a:r>
              <a:rPr dirty="0" baseline="43650" sz="1050">
                <a:latin typeface="Palatino Linotype"/>
                <a:cs typeface="Palatino Linotype"/>
              </a:rPr>
              <a:t>2</a:t>
            </a:r>
            <a:r>
              <a:rPr dirty="0" baseline="43650" sz="1050" spc="434">
                <a:latin typeface="Palatino Linotype"/>
                <a:cs typeface="Palatino Linotype"/>
              </a:rPr>
              <a:t> </a:t>
            </a:r>
            <a:r>
              <a:rPr dirty="0" baseline="-4761" sz="2625">
                <a:latin typeface="Symbol"/>
                <a:cs typeface="Symbol"/>
              </a:rPr>
              <a:t></a:t>
            </a:r>
            <a:r>
              <a:rPr dirty="0" sz="1200">
                <a:latin typeface="Palatino Linotype"/>
                <a:cs typeface="Palatino Linotype"/>
              </a:rPr>
              <a:t>t</a:t>
            </a:r>
            <a:r>
              <a:rPr dirty="0" sz="1200">
                <a:latin typeface="Symbol"/>
                <a:cs typeface="Symbol"/>
              </a:rPr>
              <a:t></a:t>
            </a:r>
            <a:r>
              <a:rPr dirty="0" sz="1200">
                <a:latin typeface="Palatino Linotype"/>
                <a:cs typeface="Palatino Linotype"/>
              </a:rPr>
              <a:t>Z</a:t>
            </a:r>
            <a:r>
              <a:rPr dirty="0" baseline="-4761" sz="2625">
                <a:latin typeface="Symbol"/>
                <a:cs typeface="Symbol"/>
              </a:rPr>
              <a:t></a:t>
            </a:r>
            <a:r>
              <a:rPr dirty="0" baseline="-4761" sz="2625" spc="157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.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2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29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</a:t>
            </a:r>
            <a:r>
              <a:rPr dirty="0" baseline="47008" sz="975">
                <a:latin typeface="Palatino Linotype"/>
                <a:cs typeface="Palatino Linotype"/>
              </a:rPr>
              <a:t>2</a:t>
            </a:r>
            <a:r>
              <a:rPr dirty="0" baseline="47008" sz="975" spc="412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2</a:t>
            </a:r>
            <a:r>
              <a:rPr dirty="0" sz="1200" spc="-175">
                <a:latin typeface="Palatino Linotype"/>
                <a:cs typeface="Palatino Linotype"/>
              </a:rPr>
              <a:t> </a:t>
            </a:r>
            <a:r>
              <a:rPr dirty="0" baseline="-3174" sz="2625" spc="-52">
                <a:latin typeface="Symbol"/>
                <a:cs typeface="Symbol"/>
              </a:rPr>
              <a:t></a:t>
            </a:r>
            <a:r>
              <a:rPr dirty="0" sz="1200" spc="-35">
                <a:latin typeface="Palatino Linotype"/>
                <a:cs typeface="Palatino Linotype"/>
              </a:rPr>
              <a:t>2a</a:t>
            </a:r>
            <a:r>
              <a:rPr dirty="0" sz="1200" spc="-75">
                <a:latin typeface="Palatino Linotype"/>
                <a:cs typeface="Palatino Linotype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b</a:t>
            </a:r>
            <a:r>
              <a:rPr dirty="0" baseline="-3174" sz="2625" spc="-37">
                <a:latin typeface="Symbol"/>
                <a:cs typeface="Symbol"/>
              </a:rPr>
              <a:t></a:t>
            </a:r>
            <a:r>
              <a:rPr dirty="0" sz="1200" spc="-25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482600">
              <a:lnSpc>
                <a:spcPct val="100000"/>
              </a:lnSpc>
            </a:pPr>
            <a:r>
              <a:rPr dirty="0" sz="1200">
                <a:latin typeface="Palatino Linotype"/>
                <a:cs typeface="Palatino Linotype"/>
              </a:rPr>
              <a:t>Lập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luận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tương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tự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là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chẵn.</a:t>
            </a:r>
            <a:endParaRPr sz="1200">
              <a:latin typeface="Palatino Linotype"/>
              <a:cs typeface="Palatino Linotype"/>
            </a:endParaRPr>
          </a:p>
          <a:p>
            <a:pPr marL="25400">
              <a:lnSpc>
                <a:spcPct val="100000"/>
              </a:lnSpc>
              <a:spcBef>
                <a:spcPts val="145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21.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81227" y="743008"/>
            <a:ext cx="225361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có:</a:t>
            </a:r>
            <a:r>
              <a:rPr dirty="0" sz="1200" spc="254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 spc="2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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35" i="1">
                <a:latin typeface="Times New Roman"/>
                <a:cs typeface="Times New Roman"/>
              </a:rPr>
              <a:t> </a:t>
            </a:r>
            <a:r>
              <a:rPr dirty="0" baseline="-4629" sz="2700" spc="-142">
                <a:latin typeface="Symbol"/>
                <a:cs typeface="Symbol"/>
              </a:rPr>
              <a:t></a:t>
            </a:r>
            <a:r>
              <a:rPr dirty="0" sz="1200" spc="-95">
                <a:latin typeface="Times New Roman"/>
                <a:cs typeface="Times New Roman"/>
              </a:rPr>
              <a:t>2</a:t>
            </a:r>
            <a:r>
              <a:rPr dirty="0" baseline="-4629" sz="2700" spc="-142">
                <a:latin typeface="Symbol"/>
                <a:cs typeface="Symbol"/>
              </a:rPr>
              <a:t></a:t>
            </a:r>
            <a:r>
              <a:rPr dirty="0" baseline="-4629" sz="2700" spc="-34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3.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40" i="1">
                <a:latin typeface="Times New Roman"/>
                <a:cs typeface="Times New Roman"/>
              </a:rPr>
              <a:t> </a:t>
            </a:r>
            <a:r>
              <a:rPr dirty="0" baseline="34722" sz="1800">
                <a:latin typeface="Symbol"/>
                <a:cs typeface="Symbol"/>
              </a:rPr>
              <a:t></a:t>
            </a:r>
            <a:r>
              <a:rPr dirty="0" baseline="34722" sz="1800" spc="-89">
                <a:latin typeface="Times New Roman"/>
                <a:cs typeface="Times New Roman"/>
              </a:rPr>
              <a:t> </a:t>
            </a:r>
            <a:r>
              <a:rPr dirty="0" u="sng" baseline="34722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4722" sz="1800" spc="-127">
                <a:latin typeface="Times New Roman"/>
                <a:cs typeface="Times New Roman"/>
              </a:rPr>
              <a:t> </a:t>
            </a:r>
            <a:r>
              <a:rPr dirty="0" baseline="34722" sz="1800">
                <a:latin typeface="Symbol"/>
                <a:cs typeface="Symbol"/>
              </a:rPr>
              <a:t></a:t>
            </a:r>
            <a:r>
              <a:rPr dirty="0" baseline="34722" sz="1800" spc="-4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68194" y="868058"/>
            <a:ext cx="3314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Symbol"/>
                <a:cs typeface="Symbol"/>
              </a:rPr>
              <a:t>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baseline="-27777" sz="1800">
                <a:latin typeface="Times New Roman"/>
                <a:cs typeface="Times New Roman"/>
              </a:rPr>
              <a:t>2</a:t>
            </a:r>
            <a:r>
              <a:rPr dirty="0" baseline="-27777" sz="1800" spc="-127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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93594" y="975187"/>
            <a:ext cx="2806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07645" algn="l"/>
              </a:tabLst>
            </a:pPr>
            <a:r>
              <a:rPr dirty="0" sz="1200" spc="-50">
                <a:latin typeface="Symbol"/>
                <a:cs typeface="Symbol"/>
              </a:rPr>
              <a:t>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60490" y="1403449"/>
            <a:ext cx="10477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77792" y="1329703"/>
            <a:ext cx="3314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Symbol"/>
                <a:cs typeface="Symbol"/>
              </a:rPr>
              <a:t>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baseline="-27777" sz="1800">
                <a:latin typeface="Times New Roman"/>
                <a:cs typeface="Times New Roman"/>
              </a:rPr>
              <a:t>2</a:t>
            </a:r>
            <a:r>
              <a:rPr dirty="0" baseline="-27777" sz="1800" spc="-127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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03192" y="1436833"/>
            <a:ext cx="28067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07645" algn="l"/>
              </a:tabLst>
            </a:pPr>
            <a:r>
              <a:rPr dirty="0" sz="1200" spc="-50">
                <a:latin typeface="Symbol"/>
                <a:cs typeface="Symbol"/>
              </a:rPr>
              <a:t>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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50247" y="1404922"/>
            <a:ext cx="1033144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4235" algn="l"/>
              </a:tabLst>
            </a:pPr>
            <a:r>
              <a:rPr dirty="0" sz="1200" spc="-50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150" spc="-25">
                <a:latin typeface="Times New Roman"/>
                <a:cs typeface="Times New Roman"/>
              </a:rPr>
              <a:t>32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38732" y="1208871"/>
            <a:ext cx="2974340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2314" sz="1800">
                <a:latin typeface="Palatino Linotype"/>
                <a:cs typeface="Palatino Linotype"/>
              </a:rPr>
              <a:t>Và</a:t>
            </a:r>
            <a:r>
              <a:rPr dirty="0" baseline="2314" sz="1800" spc="375">
                <a:latin typeface="Palatino Linotype"/>
                <a:cs typeface="Palatino Linotype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x</a:t>
            </a:r>
            <a:r>
              <a:rPr dirty="0" baseline="2314" sz="1800" spc="37" i="1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127">
                <a:latin typeface="Times New Roman"/>
                <a:cs typeface="Times New Roman"/>
              </a:rPr>
              <a:t> </a:t>
            </a:r>
            <a:r>
              <a:rPr dirty="0" u="sng" baseline="37037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7037" sz="1800" spc="135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</a:t>
            </a:r>
            <a:r>
              <a:rPr dirty="0" baseline="2314" sz="1800" spc="315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f</a:t>
            </a:r>
            <a:r>
              <a:rPr dirty="0" baseline="2314" sz="1800" spc="60" i="1">
                <a:latin typeface="Times New Roman"/>
                <a:cs typeface="Times New Roman"/>
              </a:rPr>
              <a:t> </a:t>
            </a:r>
            <a:r>
              <a:rPr dirty="0" baseline="37037" sz="1800">
                <a:latin typeface="Symbol"/>
                <a:cs typeface="Symbol"/>
              </a:rPr>
              <a:t></a:t>
            </a:r>
            <a:r>
              <a:rPr dirty="0" baseline="37037" sz="1800" spc="-82">
                <a:latin typeface="Times New Roman"/>
                <a:cs typeface="Times New Roman"/>
              </a:rPr>
              <a:t> </a:t>
            </a:r>
            <a:r>
              <a:rPr dirty="0" u="sng" baseline="37037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7037" sz="1800" spc="-120">
                <a:latin typeface="Times New Roman"/>
                <a:cs typeface="Times New Roman"/>
              </a:rPr>
              <a:t> </a:t>
            </a:r>
            <a:r>
              <a:rPr dirty="0" baseline="37037" sz="1800">
                <a:latin typeface="Symbol"/>
                <a:cs typeface="Symbol"/>
              </a:rPr>
              <a:t></a:t>
            </a:r>
            <a:r>
              <a:rPr dirty="0" baseline="37037" sz="1800" spc="-12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</a:t>
            </a:r>
            <a:r>
              <a:rPr dirty="0" baseline="2314" sz="1800" spc="-12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Times New Roman"/>
                <a:cs typeface="Times New Roman"/>
              </a:rPr>
              <a:t>3</a:t>
            </a:r>
            <a:r>
              <a:rPr dirty="0" baseline="2314" sz="1800" spc="-209">
                <a:latin typeface="Times New Roman"/>
                <a:cs typeface="Times New Roman"/>
              </a:rPr>
              <a:t> </a:t>
            </a:r>
            <a:r>
              <a:rPr dirty="0" baseline="2314" sz="1800" i="1">
                <a:latin typeface="Times New Roman"/>
                <a:cs typeface="Times New Roman"/>
              </a:rPr>
              <a:t>f</a:t>
            </a:r>
            <a:r>
              <a:rPr dirty="0" baseline="2314" sz="1800" spc="67" i="1">
                <a:latin typeface="Times New Roman"/>
                <a:cs typeface="Times New Roman"/>
              </a:rPr>
              <a:t> </a:t>
            </a:r>
            <a:r>
              <a:rPr dirty="0" baseline="-3086" sz="2700" spc="-142">
                <a:latin typeface="Symbol"/>
                <a:cs typeface="Symbol"/>
              </a:rPr>
              <a:t></a:t>
            </a:r>
            <a:r>
              <a:rPr dirty="0" baseline="2314" sz="1800" spc="-142">
                <a:latin typeface="Times New Roman"/>
                <a:cs typeface="Times New Roman"/>
              </a:rPr>
              <a:t>2</a:t>
            </a:r>
            <a:r>
              <a:rPr dirty="0" baseline="-3086" sz="2700" spc="-142">
                <a:latin typeface="Symbol"/>
                <a:cs typeface="Symbol"/>
              </a:rPr>
              <a:t></a:t>
            </a:r>
            <a:r>
              <a:rPr dirty="0" baseline="-3086" sz="2700" spc="-240">
                <a:latin typeface="Times New Roman"/>
                <a:cs typeface="Times New Roman"/>
              </a:rPr>
              <a:t> </a:t>
            </a:r>
            <a:r>
              <a:rPr dirty="0" baseline="2314" sz="1800">
                <a:latin typeface="Symbol"/>
                <a:cs typeface="Symbol"/>
              </a:rPr>
              <a:t></a:t>
            </a:r>
            <a:r>
              <a:rPr dirty="0" baseline="2314" sz="1800" spc="30">
                <a:latin typeface="Times New Roman"/>
                <a:cs typeface="Times New Roman"/>
              </a:rPr>
              <a:t> </a:t>
            </a:r>
            <a:r>
              <a:rPr dirty="0" u="sng" baseline="37037" sz="1800" spc="-3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37037" sz="18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7037" sz="1800" spc="727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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f</a:t>
            </a:r>
            <a:r>
              <a:rPr dirty="0" sz="1150" spc="55" i="1">
                <a:latin typeface="Times New Roman"/>
                <a:cs typeface="Times New Roman"/>
              </a:rPr>
              <a:t> </a:t>
            </a:r>
            <a:r>
              <a:rPr dirty="0" baseline="-4761" sz="2625" spc="-120">
                <a:latin typeface="Symbol"/>
                <a:cs typeface="Symbol"/>
              </a:rPr>
              <a:t></a:t>
            </a:r>
            <a:r>
              <a:rPr dirty="0" sz="1150" spc="-80">
                <a:latin typeface="Times New Roman"/>
                <a:cs typeface="Times New Roman"/>
              </a:rPr>
              <a:t>2</a:t>
            </a:r>
            <a:r>
              <a:rPr dirty="0" baseline="-4761" sz="2625" spc="-120">
                <a:latin typeface="Symbol"/>
                <a:cs typeface="Symbol"/>
              </a:rPr>
              <a:t></a:t>
            </a:r>
            <a:r>
              <a:rPr dirty="0" baseline="-4761" sz="2625" spc="-225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</a:t>
            </a:r>
            <a:r>
              <a:rPr dirty="0" sz="1150" spc="30">
                <a:latin typeface="Times New Roman"/>
                <a:cs typeface="Times New Roman"/>
              </a:rPr>
              <a:t> </a:t>
            </a:r>
            <a:r>
              <a:rPr dirty="0" u="sng" baseline="36231" sz="1725" spc="-28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36231" sz="1725" spc="-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47</a:t>
            </a:r>
            <a:endParaRPr baseline="36231" sz="1725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06627" y="1616709"/>
            <a:ext cx="525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Times New Roman"/>
                <a:cs typeface="Times New Roman"/>
              </a:rPr>
              <a:t>Câu </a:t>
            </a:r>
            <a:r>
              <a:rPr dirty="0" sz="1200" spc="-25" b="1">
                <a:solidFill>
                  <a:srgbClr val="00AFEF"/>
                </a:solidFill>
                <a:latin typeface="Times New Roman"/>
                <a:cs typeface="Times New Roman"/>
              </a:rPr>
              <a:t>22.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64132" y="1766970"/>
            <a:ext cx="5499735" cy="117094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baseline="4629" sz="1800">
                <a:latin typeface="Times New Roman"/>
                <a:cs typeface="Times New Roman"/>
              </a:rPr>
              <a:t>Vì</a:t>
            </a:r>
            <a:r>
              <a:rPr dirty="0" baseline="4629" sz="1800" spc="247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3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4629" sz="1800" spc="-14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209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6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21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40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x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13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20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4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4629" sz="1800" spc="-142" i="1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Symbol"/>
                <a:cs typeface="Symbol"/>
              </a:rPr>
              <a:t></a:t>
            </a:r>
            <a:r>
              <a:rPr dirty="0" baseline="4629" sz="1800" spc="-37">
                <a:latin typeface="Times New Roman"/>
                <a:cs typeface="Times New Roman"/>
              </a:rPr>
              <a:t>1</a:t>
            </a:r>
            <a:r>
              <a:rPr dirty="0" sz="1550" spc="-25">
                <a:latin typeface="Symbol"/>
                <a:cs typeface="Symbol"/>
              </a:rPr>
              <a:t></a:t>
            </a:r>
            <a:r>
              <a:rPr dirty="0" sz="1550" spc="-21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4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x</a:t>
            </a:r>
            <a:r>
              <a:rPr dirty="0" baseline="4629" sz="1800" spc="-14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79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4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17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với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mọi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x</a:t>
            </a:r>
            <a:r>
              <a:rPr dirty="0" baseline="4629" sz="1800" spc="44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nên</a:t>
            </a:r>
            <a:endParaRPr baseline="4629"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baseline="4629" sz="1800">
                <a:latin typeface="Times New Roman"/>
                <a:cs typeface="Times New Roman"/>
              </a:rPr>
              <a:t>Khi</a:t>
            </a:r>
            <a:r>
              <a:rPr dirty="0" baseline="4629" sz="1800" spc="1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x</a:t>
            </a:r>
            <a:r>
              <a:rPr dirty="0" baseline="4629" sz="1800" spc="3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=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6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thì</a:t>
            </a:r>
            <a:r>
              <a:rPr dirty="0" baseline="4629" sz="1800" spc="24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Symbol"/>
                <a:cs typeface="Symbol"/>
              </a:rPr>
              <a:t></a:t>
            </a:r>
            <a:r>
              <a:rPr dirty="0" baseline="4629" sz="1800" spc="-15">
                <a:latin typeface="Times New Roman"/>
                <a:cs typeface="Times New Roman"/>
              </a:rPr>
              <a:t>6</a:t>
            </a:r>
            <a:r>
              <a:rPr dirty="0" baseline="4629" sz="1800" spc="-209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217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6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204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7" i="1">
                <a:latin typeface="Times New Roman"/>
                <a:cs typeface="Times New Roman"/>
              </a:rPr>
              <a:t> </a:t>
            </a:r>
            <a:r>
              <a:rPr dirty="0" sz="1550" spc="-35">
                <a:latin typeface="Symbol"/>
                <a:cs typeface="Symbol"/>
              </a:rPr>
              <a:t></a:t>
            </a:r>
            <a:r>
              <a:rPr dirty="0" baseline="4629" sz="1800" spc="-52">
                <a:latin typeface="Times New Roman"/>
                <a:cs typeface="Times New Roman"/>
              </a:rPr>
              <a:t>6</a:t>
            </a:r>
            <a:r>
              <a:rPr dirty="0" sz="1550" spc="-35">
                <a:latin typeface="Symbol"/>
                <a:cs typeface="Symbol"/>
              </a:rPr>
              <a:t></a:t>
            </a:r>
            <a:r>
              <a:rPr dirty="0" sz="1550" spc="-13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Symbol"/>
                <a:cs typeface="Symbol"/>
              </a:rPr>
              <a:t></a:t>
            </a:r>
            <a:r>
              <a:rPr dirty="0" baseline="4629" sz="1800" spc="-15">
                <a:latin typeface="Times New Roman"/>
                <a:cs typeface="Times New Roman"/>
              </a:rPr>
              <a:t>6</a:t>
            </a:r>
            <a:r>
              <a:rPr dirty="0" baseline="4629" sz="1800" spc="-202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Symbol"/>
                <a:cs typeface="Symbol"/>
              </a:rPr>
              <a:t></a:t>
            </a:r>
            <a:r>
              <a:rPr dirty="0" baseline="4629" sz="1800" spc="-37">
                <a:latin typeface="Times New Roman"/>
                <a:cs typeface="Times New Roman"/>
              </a:rPr>
              <a:t>1</a:t>
            </a:r>
            <a:r>
              <a:rPr dirty="0" sz="1550" spc="-25">
                <a:latin typeface="Symbol"/>
                <a:cs typeface="Symbol"/>
              </a:rPr>
              <a:t></a:t>
            </a:r>
            <a:r>
              <a:rPr dirty="0" sz="1550" spc="-21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550" spc="-20">
                <a:latin typeface="Symbol"/>
                <a:cs typeface="Symbol"/>
              </a:rPr>
              <a:t></a:t>
            </a:r>
            <a:r>
              <a:rPr dirty="0" baseline="4629" sz="1800" spc="-30">
                <a:latin typeface="Times New Roman"/>
                <a:cs typeface="Times New Roman"/>
              </a:rPr>
              <a:t>6</a:t>
            </a:r>
            <a:r>
              <a:rPr dirty="0" baseline="4629" sz="1800" spc="-20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95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4</a:t>
            </a:r>
            <a:r>
              <a:rPr dirty="0" sz="1550" spc="-25">
                <a:latin typeface="Symbol"/>
                <a:cs typeface="Symbol"/>
              </a:rPr>
              <a:t></a:t>
            </a:r>
            <a:r>
              <a:rPr dirty="0" sz="1550" spc="-13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-9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0</a:t>
            </a:r>
            <a:r>
              <a:rPr dirty="0" baseline="4629" sz="1800" spc="-8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97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Times New Roman"/>
                <a:cs typeface="Times New Roman"/>
              </a:rPr>
              <a:t>7</a:t>
            </a:r>
            <a:r>
              <a:rPr dirty="0" baseline="4629" sz="1800" spc="75" i="1">
                <a:latin typeface="Times New Roman"/>
                <a:cs typeface="Times New Roman"/>
              </a:rPr>
              <a:t>P</a:t>
            </a:r>
            <a:r>
              <a:rPr dirty="0" baseline="4629" sz="1800" spc="-284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</a:t>
            </a:r>
            <a:r>
              <a:rPr dirty="0" baseline="4629" sz="1800" spc="-44">
                <a:latin typeface="Times New Roman"/>
                <a:cs typeface="Times New Roman"/>
              </a:rPr>
              <a:t>2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14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</a:t>
            </a:r>
            <a:r>
              <a:rPr dirty="0" baseline="4629" sz="1800" spc="-44">
                <a:latin typeface="Times New Roman"/>
                <a:cs typeface="Times New Roman"/>
              </a:rPr>
              <a:t>2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14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0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=&gt;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2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là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nghiệm</a:t>
            </a:r>
            <a:r>
              <a:rPr dirty="0" baseline="4629" sz="1800" spc="15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của</a:t>
            </a:r>
            <a:endParaRPr baseline="4629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4629" sz="1800">
                <a:latin typeface="Times New Roman"/>
                <a:cs typeface="Times New Roman"/>
              </a:rPr>
              <a:t>Khi</a:t>
            </a:r>
            <a:r>
              <a:rPr dirty="0" baseline="4629" sz="1800" spc="4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x</a:t>
            </a:r>
            <a:r>
              <a:rPr dirty="0" baseline="4629" sz="1800" spc="6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=</a:t>
            </a:r>
            <a:r>
              <a:rPr dirty="0" baseline="4629" sz="1800" spc="37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-</a:t>
            </a:r>
            <a:r>
              <a:rPr dirty="0" baseline="4629" sz="1800">
                <a:latin typeface="Times New Roman"/>
                <a:cs typeface="Times New Roman"/>
              </a:rPr>
              <a:t>1</a:t>
            </a:r>
            <a:r>
              <a:rPr dirty="0" baseline="4629" sz="1800" spc="4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thì</a:t>
            </a:r>
            <a:r>
              <a:rPr dirty="0" baseline="4629" sz="1800" spc="284">
                <a:latin typeface="Times New Roman"/>
                <a:cs typeface="Times New Roman"/>
              </a:rPr>
              <a:t> 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>
                <a:latin typeface="Times New Roman"/>
                <a:cs typeface="Times New Roman"/>
              </a:rPr>
              <a:t>1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95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6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200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0" i="1">
                <a:latin typeface="Times New Roman"/>
                <a:cs typeface="Times New Roman"/>
              </a:rPr>
              <a:t> </a:t>
            </a:r>
            <a:r>
              <a:rPr dirty="0" sz="1550" spc="-110">
                <a:latin typeface="Symbol"/>
                <a:cs typeface="Symbol"/>
              </a:rPr>
              <a:t></a:t>
            </a:r>
            <a:r>
              <a:rPr dirty="0" sz="1550" spc="-235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x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12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97">
                <a:latin typeface="Times New Roman"/>
                <a:cs typeface="Times New Roman"/>
              </a:rPr>
              <a:t> 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>
                <a:latin typeface="Times New Roman"/>
                <a:cs typeface="Times New Roman"/>
              </a:rPr>
              <a:t>1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>
                <a:latin typeface="Times New Roman"/>
                <a:cs typeface="Times New Roman"/>
              </a:rPr>
              <a:t>1</a:t>
            </a:r>
            <a:r>
              <a:rPr dirty="0" sz="1550">
                <a:latin typeface="Symbol"/>
                <a:cs typeface="Symbol"/>
              </a:rPr>
              <a:t></a:t>
            </a:r>
            <a:r>
              <a:rPr dirty="0" sz="1550" spc="-204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54" i="1">
                <a:latin typeface="Times New Roman"/>
                <a:cs typeface="Times New Roman"/>
              </a:rPr>
              <a:t> 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>
                <a:latin typeface="Times New Roman"/>
                <a:cs typeface="Times New Roman"/>
              </a:rPr>
              <a:t>1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spc="-172">
                <a:latin typeface="Times New Roman"/>
                <a:cs typeface="Times New Roman"/>
              </a:rPr>
              <a:t> </a:t>
            </a:r>
            <a:r>
              <a:rPr dirty="0" baseline="4629" sz="1800" spc="-37">
                <a:latin typeface="Times New Roman"/>
                <a:cs typeface="Times New Roman"/>
              </a:rPr>
              <a:t>4</a:t>
            </a:r>
            <a:r>
              <a:rPr dirty="0" sz="1550" spc="-25">
                <a:latin typeface="Symbol"/>
                <a:cs typeface="Symbol"/>
              </a:rPr>
              <a:t></a:t>
            </a:r>
            <a:r>
              <a:rPr dirty="0" sz="1550" spc="-12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-4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>
                <a:latin typeface="Times New Roman"/>
                <a:cs typeface="Times New Roman"/>
              </a:rPr>
              <a:t>7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550" spc="-50">
                <a:latin typeface="Symbol"/>
                <a:cs typeface="Symbol"/>
              </a:rPr>
              <a:t></a:t>
            </a:r>
            <a:r>
              <a:rPr dirty="0" baseline="4629" sz="1800" spc="-75">
                <a:latin typeface="Symbol"/>
                <a:cs typeface="Symbol"/>
              </a:rPr>
              <a:t></a:t>
            </a:r>
            <a:r>
              <a:rPr dirty="0" baseline="4629" sz="1800" spc="-75">
                <a:latin typeface="Times New Roman"/>
                <a:cs typeface="Times New Roman"/>
              </a:rPr>
              <a:t>1</a:t>
            </a:r>
            <a:r>
              <a:rPr dirty="0" sz="1550" spc="-50">
                <a:latin typeface="Symbol"/>
                <a:cs typeface="Symbol"/>
              </a:rPr>
              <a:t></a:t>
            </a:r>
            <a:r>
              <a:rPr dirty="0" sz="1550" spc="-12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7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0</a:t>
            </a:r>
            <a:r>
              <a:rPr dirty="0" baseline="4629" sz="1800" spc="-6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47" i="1">
                <a:latin typeface="Times New Roman"/>
                <a:cs typeface="Times New Roman"/>
              </a:rPr>
              <a:t> </a:t>
            </a:r>
            <a:r>
              <a:rPr dirty="0" sz="1550" spc="-50">
                <a:latin typeface="Symbol"/>
                <a:cs typeface="Symbol"/>
              </a:rPr>
              <a:t></a:t>
            </a:r>
            <a:r>
              <a:rPr dirty="0" baseline="4629" sz="1800" spc="-75">
                <a:latin typeface="Symbol"/>
                <a:cs typeface="Symbol"/>
              </a:rPr>
              <a:t></a:t>
            </a:r>
            <a:r>
              <a:rPr dirty="0" baseline="4629" sz="1800" spc="-75">
                <a:latin typeface="Times New Roman"/>
                <a:cs typeface="Times New Roman"/>
              </a:rPr>
              <a:t>1</a:t>
            </a:r>
            <a:r>
              <a:rPr dirty="0" sz="1550" spc="-50">
                <a:latin typeface="Symbol"/>
                <a:cs typeface="Symbol"/>
              </a:rPr>
              <a:t></a:t>
            </a:r>
            <a:r>
              <a:rPr dirty="0" sz="1550" spc="-13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67">
                <a:latin typeface="Times New Roman"/>
                <a:cs typeface="Times New Roman"/>
              </a:rPr>
              <a:t> </a:t>
            </a:r>
            <a:r>
              <a:rPr dirty="0" baseline="4629" sz="1800" spc="-75">
                <a:latin typeface="Times New Roman"/>
                <a:cs typeface="Times New Roman"/>
              </a:rPr>
              <a:t>0</a:t>
            </a:r>
            <a:endParaRPr baseline="4629"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200">
                <a:latin typeface="Times New Roman"/>
                <a:cs typeface="Times New Roman"/>
              </a:rPr>
              <a:t>=&gt;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là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nghiệm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của</a:t>
            </a:r>
            <a:r>
              <a:rPr dirty="0" sz="1200" spc="-20">
                <a:latin typeface="Times New Roman"/>
                <a:cs typeface="Times New Roman"/>
              </a:rPr>
              <a:t> P(x)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6627" y="2299461"/>
            <a:ext cx="289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Times New Roman"/>
                <a:cs typeface="Times New Roman"/>
              </a:rPr>
              <a:t>P(x)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62742" y="3989623"/>
            <a:ext cx="99695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335">
                <a:latin typeface="Symbol"/>
                <a:cs typeface="Symbol"/>
              </a:rPr>
              <a:t>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81227" y="2911669"/>
            <a:ext cx="4824730" cy="112014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23.</a:t>
            </a:r>
            <a:endParaRPr sz="12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425">
                <a:latin typeface="Palatino Linotype"/>
                <a:cs typeface="Palatino Linotype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f</a:t>
            </a:r>
            <a:r>
              <a:rPr dirty="0" sz="1150" spc="50" i="1">
                <a:latin typeface="Times New Roman"/>
                <a:cs typeface="Times New Roman"/>
              </a:rPr>
              <a:t> </a:t>
            </a:r>
            <a:r>
              <a:rPr dirty="0" baseline="-4629" sz="2700" spc="-75">
                <a:latin typeface="Symbol"/>
                <a:cs typeface="Symbol"/>
              </a:rPr>
              <a:t></a:t>
            </a:r>
            <a:r>
              <a:rPr dirty="0" sz="1150" spc="-50" i="1">
                <a:latin typeface="Times New Roman"/>
                <a:cs typeface="Times New Roman"/>
              </a:rPr>
              <a:t>x</a:t>
            </a:r>
            <a:r>
              <a:rPr dirty="0" baseline="-4629" sz="2700" spc="-75">
                <a:latin typeface="Symbol"/>
                <a:cs typeface="Symbol"/>
              </a:rPr>
              <a:t></a:t>
            </a:r>
            <a:r>
              <a:rPr dirty="0" baseline="-4629" sz="2700" spc="-24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a</a:t>
            </a:r>
            <a:r>
              <a:rPr dirty="0" sz="1150">
                <a:latin typeface="Times New Roman"/>
                <a:cs typeface="Times New Roman"/>
              </a:rPr>
              <a:t>.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179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Times New Roman"/>
                <a:cs typeface="Times New Roman"/>
              </a:rPr>
              <a:t>4</a:t>
            </a:r>
            <a:r>
              <a:rPr dirty="0" sz="1150" spc="75" i="1">
                <a:latin typeface="Times New Roman"/>
                <a:cs typeface="Times New Roman"/>
              </a:rPr>
              <a:t>x</a:t>
            </a:r>
            <a:r>
              <a:rPr dirty="0" sz="1150" spc="-120" i="1">
                <a:latin typeface="Times New Roman"/>
                <a:cs typeface="Times New Roman"/>
              </a:rPr>
              <a:t> </a:t>
            </a:r>
            <a:r>
              <a:rPr dirty="0" baseline="-5555" sz="3000">
                <a:latin typeface="Symbol"/>
                <a:cs typeface="Symbol"/>
              </a:rPr>
              <a:t>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40">
                <a:latin typeface="Times New Roman"/>
                <a:cs typeface="Times New Roman"/>
              </a:rPr>
              <a:t> </a:t>
            </a:r>
            <a:r>
              <a:rPr dirty="0" sz="1150" spc="-35">
                <a:latin typeface="Symbol"/>
                <a:cs typeface="Symbol"/>
              </a:rPr>
              <a:t></a:t>
            </a:r>
            <a:r>
              <a:rPr dirty="0" sz="1150" spc="-35">
                <a:latin typeface="Times New Roman"/>
                <a:cs typeface="Times New Roman"/>
              </a:rPr>
              <a:t>1</a:t>
            </a:r>
            <a:r>
              <a:rPr dirty="0" baseline="-5555" sz="3000" spc="-52">
                <a:latin typeface="Symbol"/>
                <a:cs typeface="Symbol"/>
              </a:rPr>
              <a:t></a:t>
            </a:r>
            <a:r>
              <a:rPr dirty="0" baseline="-5555" sz="3000" spc="-442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Times New Roman"/>
                <a:cs typeface="Times New Roman"/>
              </a:rPr>
              <a:t>8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a</a:t>
            </a:r>
            <a:r>
              <a:rPr dirty="0" sz="1150">
                <a:latin typeface="Times New Roman"/>
                <a:cs typeface="Times New Roman"/>
              </a:rPr>
              <a:t>.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179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Times New Roman"/>
                <a:cs typeface="Times New Roman"/>
              </a:rPr>
              <a:t>4</a:t>
            </a:r>
            <a:r>
              <a:rPr dirty="0" sz="1150" spc="75" i="1">
                <a:latin typeface="Times New Roman"/>
                <a:cs typeface="Times New Roman"/>
              </a:rPr>
              <a:t>x</a:t>
            </a:r>
            <a:r>
              <a:rPr dirty="0" baseline="43650" sz="1050" spc="112">
                <a:latin typeface="Times New Roman"/>
                <a:cs typeface="Times New Roman"/>
              </a:rPr>
              <a:t>3</a:t>
            </a:r>
            <a:r>
              <a:rPr dirty="0" baseline="43650" sz="1050" spc="179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Times New Roman"/>
                <a:cs typeface="Times New Roman"/>
              </a:rPr>
              <a:t>4</a:t>
            </a:r>
            <a:r>
              <a:rPr dirty="0" sz="1150" spc="75" i="1">
                <a:latin typeface="Times New Roman"/>
                <a:cs typeface="Times New Roman"/>
              </a:rPr>
              <a:t>x</a:t>
            </a:r>
            <a:r>
              <a:rPr dirty="0" sz="1150" spc="-30" i="1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Times New Roman"/>
                <a:cs typeface="Times New Roman"/>
              </a:rPr>
              <a:t>8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baseline="-4629" sz="2700" spc="-67">
                <a:latin typeface="Symbol"/>
                <a:cs typeface="Symbol"/>
              </a:rPr>
              <a:t></a:t>
            </a:r>
            <a:r>
              <a:rPr dirty="0" sz="1150" spc="-45" i="1">
                <a:latin typeface="Times New Roman"/>
                <a:cs typeface="Times New Roman"/>
              </a:rPr>
              <a:t>a</a:t>
            </a:r>
            <a:r>
              <a:rPr dirty="0" sz="1150" spc="-80" i="1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50">
                <a:latin typeface="Times New Roman"/>
                <a:cs typeface="Times New Roman"/>
              </a:rPr>
              <a:t> 4</a:t>
            </a:r>
            <a:r>
              <a:rPr dirty="0" baseline="-4629" sz="2700" spc="-75">
                <a:latin typeface="Symbol"/>
                <a:cs typeface="Symbol"/>
              </a:rPr>
              <a:t></a:t>
            </a:r>
            <a:r>
              <a:rPr dirty="0" baseline="-4629" sz="2700" spc="-390">
                <a:latin typeface="Times New Roman"/>
                <a:cs typeface="Times New Roman"/>
              </a:rPr>
              <a:t> </a:t>
            </a:r>
            <a:r>
              <a:rPr dirty="0" sz="1150" spc="60" i="1">
                <a:latin typeface="Times New Roman"/>
                <a:cs typeface="Times New Roman"/>
              </a:rPr>
              <a:t>x</a:t>
            </a:r>
            <a:r>
              <a:rPr dirty="0" baseline="43650" sz="1050" spc="89">
                <a:latin typeface="Times New Roman"/>
                <a:cs typeface="Times New Roman"/>
              </a:rPr>
              <a:t>3</a:t>
            </a:r>
            <a:r>
              <a:rPr dirty="0" baseline="43650" sz="1050" spc="172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</a:t>
            </a:r>
            <a:r>
              <a:rPr dirty="0" sz="1150" spc="-65">
                <a:latin typeface="Times New Roman"/>
                <a:cs typeface="Times New Roman"/>
              </a:rPr>
              <a:t> </a:t>
            </a:r>
            <a:r>
              <a:rPr dirty="0" sz="1150" spc="75">
                <a:latin typeface="Times New Roman"/>
                <a:cs typeface="Times New Roman"/>
              </a:rPr>
              <a:t>4</a:t>
            </a:r>
            <a:r>
              <a:rPr dirty="0" sz="1150" spc="75" i="1">
                <a:latin typeface="Times New Roman"/>
                <a:cs typeface="Times New Roman"/>
              </a:rPr>
              <a:t>x</a:t>
            </a:r>
            <a:r>
              <a:rPr dirty="0" sz="1150" spc="-25" i="1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00">
                <a:latin typeface="Times New Roman"/>
                <a:cs typeface="Times New Roman"/>
              </a:rPr>
              <a:t> </a:t>
            </a:r>
            <a:r>
              <a:rPr dirty="0" sz="1150" spc="5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Và</a:t>
            </a:r>
            <a:r>
              <a:rPr dirty="0" sz="1200" spc="254">
                <a:latin typeface="Palatino Linotype"/>
                <a:cs typeface="Palatino Linotype"/>
              </a:rPr>
              <a:t> </a:t>
            </a:r>
            <a:r>
              <a:rPr dirty="0" sz="1200" spc="-20" i="1">
                <a:latin typeface="Times New Roman"/>
                <a:cs typeface="Times New Roman"/>
              </a:rPr>
              <a:t>g</a:t>
            </a:r>
            <a:r>
              <a:rPr dirty="0" baseline="-4504" sz="2775" spc="-30">
                <a:latin typeface="Symbol"/>
                <a:cs typeface="Symbol"/>
              </a:rPr>
              <a:t></a:t>
            </a:r>
            <a:r>
              <a:rPr dirty="0" sz="1200" spc="-20" i="1">
                <a:latin typeface="Times New Roman"/>
                <a:cs typeface="Times New Roman"/>
              </a:rPr>
              <a:t>x</a:t>
            </a:r>
            <a:r>
              <a:rPr dirty="0" baseline="-4504" sz="2775" spc="-30">
                <a:latin typeface="Symbol"/>
                <a:cs typeface="Symbol"/>
              </a:rPr>
              <a:t></a:t>
            </a:r>
            <a:r>
              <a:rPr dirty="0" baseline="-4504" sz="2775" spc="-23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20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50">
                <a:latin typeface="Times New Roman"/>
                <a:cs typeface="Times New Roman"/>
              </a:rPr>
              <a:t>4</a:t>
            </a:r>
            <a:r>
              <a:rPr dirty="0" sz="1200" spc="50" i="1">
                <a:latin typeface="Times New Roman"/>
                <a:cs typeface="Times New Roman"/>
              </a:rPr>
              <a:t>x</a:t>
            </a:r>
            <a:r>
              <a:rPr dirty="0" sz="1200" spc="-125" i="1">
                <a:latin typeface="Times New Roman"/>
                <a:cs typeface="Times New Roman"/>
              </a:rPr>
              <a:t> </a:t>
            </a:r>
            <a:r>
              <a:rPr dirty="0" baseline="-4504" sz="2775" spc="-67">
                <a:latin typeface="Symbol"/>
                <a:cs typeface="Symbol"/>
              </a:rPr>
              <a:t></a:t>
            </a:r>
            <a:r>
              <a:rPr dirty="0" sz="1200" spc="-45" i="1">
                <a:latin typeface="Times New Roman"/>
                <a:cs typeface="Times New Roman"/>
              </a:rPr>
              <a:t>bx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Symbol"/>
                <a:cs typeface="Symbol"/>
              </a:rPr>
              <a:t></a:t>
            </a:r>
            <a:r>
              <a:rPr dirty="0" sz="1200" spc="-40">
                <a:latin typeface="Times New Roman"/>
                <a:cs typeface="Times New Roman"/>
              </a:rPr>
              <a:t>1</a:t>
            </a:r>
            <a:r>
              <a:rPr dirty="0" baseline="-4504" sz="2775" spc="-60">
                <a:latin typeface="Symbol"/>
                <a:cs typeface="Symbol"/>
              </a:rPr>
              <a:t></a:t>
            </a:r>
            <a:r>
              <a:rPr dirty="0" baseline="-4504" sz="2775" spc="-34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6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>
                <a:latin typeface="Times New Roman"/>
                <a:cs typeface="Times New Roman"/>
              </a:rPr>
              <a:t>3</a:t>
            </a:r>
            <a:r>
              <a:rPr dirty="0" baseline="43650" sz="1050" spc="202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 i="1">
                <a:latin typeface="Times New Roman"/>
                <a:cs typeface="Times New Roman"/>
              </a:rPr>
              <a:t>bx</a:t>
            </a:r>
            <a:r>
              <a:rPr dirty="0" baseline="43650" sz="1050">
                <a:latin typeface="Times New Roman"/>
                <a:cs typeface="Times New Roman"/>
              </a:rPr>
              <a:t>2</a:t>
            </a:r>
            <a:r>
              <a:rPr dirty="0" baseline="43650" sz="105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50">
                <a:latin typeface="Times New Roman"/>
                <a:cs typeface="Times New Roman"/>
              </a:rPr>
              <a:t>4</a:t>
            </a:r>
            <a:r>
              <a:rPr dirty="0" sz="1200" spc="50" i="1">
                <a:latin typeface="Times New Roman"/>
                <a:cs typeface="Times New Roman"/>
              </a:rPr>
              <a:t>x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6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algn="ctr" marL="527050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latin typeface="Symbol"/>
                <a:cs typeface="Symbol"/>
              </a:rPr>
              <a:t>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7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4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43255" y="3963647"/>
            <a:ext cx="10223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Symbol"/>
                <a:cs typeface="Symbol"/>
              </a:rPr>
              <a:t>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64132" y="3966222"/>
            <a:ext cx="396938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72945" algn="l"/>
              </a:tabLst>
            </a:pP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360">
                <a:latin typeface="Palatino Linotype"/>
                <a:cs typeface="Palatino Linotype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</a:t>
            </a:r>
            <a:r>
              <a:rPr dirty="0" sz="1200" spc="15" i="1">
                <a:latin typeface="Times New Roman"/>
                <a:cs typeface="Times New Roman"/>
              </a:rPr>
              <a:t> </a:t>
            </a:r>
            <a:r>
              <a:rPr dirty="0" baseline="-4504" sz="2775" spc="-97">
                <a:latin typeface="Symbol"/>
                <a:cs typeface="Symbol"/>
              </a:rPr>
              <a:t></a:t>
            </a:r>
            <a:r>
              <a:rPr dirty="0" sz="1200" spc="-65" i="1">
                <a:latin typeface="Times New Roman"/>
                <a:cs typeface="Times New Roman"/>
              </a:rPr>
              <a:t>x</a:t>
            </a:r>
            <a:r>
              <a:rPr dirty="0" baseline="-4504" sz="2775" spc="-97">
                <a:latin typeface="Symbol"/>
                <a:cs typeface="Symbol"/>
              </a:rPr>
              <a:t></a:t>
            </a:r>
            <a:r>
              <a:rPr dirty="0" baseline="-4504" sz="2775" spc="-27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</a:t>
            </a:r>
            <a:r>
              <a:rPr dirty="0" sz="1200" spc="-190" i="1">
                <a:latin typeface="Times New Roman"/>
                <a:cs typeface="Times New Roman"/>
              </a:rPr>
              <a:t> </a:t>
            </a:r>
            <a:r>
              <a:rPr dirty="0" baseline="-4504" sz="2775">
                <a:latin typeface="Symbol"/>
                <a:cs typeface="Symbol"/>
              </a:rPr>
              <a:t>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-4504" sz="2775">
                <a:latin typeface="Symbol"/>
                <a:cs typeface="Symbol"/>
              </a:rPr>
              <a:t></a:t>
            </a:r>
            <a:r>
              <a:rPr dirty="0" baseline="-4504" sz="2775" spc="382">
                <a:latin typeface="Times New Roman"/>
                <a:cs typeface="Times New Roman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nên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:</a:t>
            </a:r>
            <a:r>
              <a:rPr dirty="0" sz="1200">
                <a:latin typeface="Palatino Linotype"/>
                <a:cs typeface="Palatino Linotype"/>
              </a:rPr>
              <a:t>	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Times New Roman"/>
                <a:cs typeface="Times New Roman"/>
              </a:rPr>
              <a:t>4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</a:t>
            </a:r>
            <a:r>
              <a:rPr dirty="0" sz="1200" spc="24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</a:t>
            </a:r>
            <a:r>
              <a:rPr dirty="0" sz="1200" spc="47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>
                <a:latin typeface="Times New Roman"/>
                <a:cs typeface="Times New Roman"/>
              </a:rPr>
              <a:t>3;</a:t>
            </a:r>
            <a:r>
              <a:rPr dirty="0" sz="1200" i="1">
                <a:latin typeface="Times New Roman"/>
                <a:cs typeface="Times New Roman"/>
              </a:rPr>
              <a:t>b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0;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43255" y="4079146"/>
            <a:ext cx="10223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Symbol"/>
                <a:cs typeface="Symbol"/>
              </a:rPr>
              <a:t>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017855" y="4281113"/>
            <a:ext cx="6673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8518" sz="1800">
                <a:latin typeface="Symbol"/>
                <a:cs typeface="Symbol"/>
              </a:rPr>
              <a:t></a:t>
            </a:r>
            <a:r>
              <a:rPr dirty="0" sz="1200" i="1">
                <a:latin typeface="Times New Roman"/>
                <a:cs typeface="Times New Roman"/>
              </a:rPr>
              <a:t>c</a:t>
            </a:r>
            <a:r>
              <a:rPr dirty="0" sz="1200" spc="-6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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043255" y="4336112"/>
            <a:ext cx="10223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latin typeface="Symbol"/>
                <a:cs typeface="Symbol"/>
              </a:rPr>
              <a:t>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06627" y="4487672"/>
            <a:ext cx="5360670" cy="80518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24.</a:t>
            </a:r>
            <a:endParaRPr sz="1200">
              <a:latin typeface="Palatino Linotype"/>
              <a:cs typeface="Palatino Linotype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dirty="0" baseline="4629" sz="1800">
                <a:latin typeface="Palatino Linotype"/>
                <a:cs typeface="Palatino Linotype"/>
              </a:rPr>
              <a:t>Ta</a:t>
            </a:r>
            <a:r>
              <a:rPr dirty="0" baseline="4629" sz="1800" spc="3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có</a:t>
            </a:r>
            <a:r>
              <a:rPr dirty="0" baseline="4629" sz="1800" spc="30">
                <a:latin typeface="Palatino Linotype"/>
                <a:cs typeface="Palatino Linotype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:</a:t>
            </a:r>
            <a:r>
              <a:rPr dirty="0" baseline="4629" sz="1800" spc="390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77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</a:t>
            </a:r>
            <a:r>
              <a:rPr dirty="0" baseline="4629" sz="1800" spc="-44">
                <a:latin typeface="Times New Roman"/>
                <a:cs typeface="Times New Roman"/>
              </a:rPr>
              <a:t>2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20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89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550" spc="-50">
                <a:latin typeface="Symbol"/>
                <a:cs typeface="Symbol"/>
              </a:rPr>
              <a:t></a:t>
            </a:r>
            <a:r>
              <a:rPr dirty="0" baseline="4629" sz="1800" spc="-75">
                <a:latin typeface="Symbol"/>
                <a:cs typeface="Symbol"/>
              </a:rPr>
              <a:t></a:t>
            </a:r>
            <a:r>
              <a:rPr dirty="0" baseline="4629" sz="1800" spc="-75">
                <a:latin typeface="Times New Roman"/>
                <a:cs typeface="Times New Roman"/>
              </a:rPr>
              <a:t>1</a:t>
            </a:r>
            <a:r>
              <a:rPr dirty="0" sz="1550" spc="-50">
                <a:latin typeface="Symbol"/>
                <a:cs typeface="Symbol"/>
              </a:rPr>
              <a:t></a:t>
            </a:r>
            <a:r>
              <a:rPr dirty="0" sz="1550" spc="-13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1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5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3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9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6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4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2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2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7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0</a:t>
            </a:r>
            <a:r>
              <a:rPr dirty="0" baseline="4629" sz="1800" spc="-8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54" i="1">
                <a:latin typeface="Times New Roman"/>
                <a:cs typeface="Times New Roman"/>
              </a:rPr>
              <a:t> </a:t>
            </a:r>
            <a:r>
              <a:rPr dirty="0" sz="1550" spc="-30">
                <a:latin typeface="Symbol"/>
                <a:cs typeface="Symbol"/>
              </a:rPr>
              <a:t></a:t>
            </a:r>
            <a:r>
              <a:rPr dirty="0" baseline="4629" sz="1800" spc="-44">
                <a:latin typeface="Times New Roman"/>
                <a:cs typeface="Times New Roman"/>
              </a:rPr>
              <a:t>2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13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5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47" i="1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Symbol"/>
                <a:cs typeface="Symbol"/>
              </a:rPr>
              <a:t></a:t>
            </a:r>
            <a:r>
              <a:rPr dirty="0" baseline="4629" sz="1800" spc="-15">
                <a:latin typeface="Symbol"/>
                <a:cs typeface="Symbol"/>
              </a:rPr>
              <a:t></a:t>
            </a:r>
            <a:r>
              <a:rPr dirty="0" baseline="4629" sz="1800" spc="-15">
                <a:latin typeface="Times New Roman"/>
                <a:cs typeface="Times New Roman"/>
              </a:rPr>
              <a:t>1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Palatino Linotype"/>
                <a:cs typeface="Palatino Linotype"/>
              </a:rPr>
              <a:t>vậy</a:t>
            </a:r>
            <a:r>
              <a:rPr dirty="0" baseline="4629" sz="1800" spc="359">
                <a:latin typeface="Palatino Linotype"/>
                <a:cs typeface="Palatino Linotype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54" i="1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Symbol"/>
                <a:cs typeface="Symbol"/>
              </a:rPr>
              <a:t></a:t>
            </a:r>
            <a:r>
              <a:rPr dirty="0" baseline="4629" sz="1800" spc="-15">
                <a:latin typeface="Times New Roman"/>
                <a:cs typeface="Times New Roman"/>
              </a:rPr>
              <a:t>2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baseline="4629" sz="1800" spc="-15">
                <a:latin typeface="Times New Roman"/>
                <a:cs typeface="Times New Roman"/>
              </a:rPr>
              <a:t>.</a:t>
            </a:r>
            <a:r>
              <a:rPr dirty="0" baseline="4629" sz="1800" spc="-15" i="1">
                <a:latin typeface="Times New Roman"/>
                <a:cs typeface="Times New Roman"/>
              </a:rPr>
              <a:t>P</a:t>
            </a:r>
            <a:r>
              <a:rPr dirty="0" baseline="4629" sz="1800" spc="-262" i="1">
                <a:latin typeface="Times New Roman"/>
                <a:cs typeface="Times New Roman"/>
              </a:rPr>
              <a:t> </a:t>
            </a:r>
            <a:r>
              <a:rPr dirty="0" sz="1550" spc="-55">
                <a:latin typeface="Symbol"/>
                <a:cs typeface="Symbol"/>
              </a:rPr>
              <a:t></a:t>
            </a:r>
            <a:r>
              <a:rPr dirty="0" baseline="4629" sz="1800" spc="-82">
                <a:latin typeface="Symbol"/>
                <a:cs typeface="Symbol"/>
              </a:rPr>
              <a:t></a:t>
            </a:r>
            <a:r>
              <a:rPr dirty="0" baseline="4629" sz="1800" spc="-82">
                <a:latin typeface="Times New Roman"/>
                <a:cs typeface="Times New Roman"/>
              </a:rPr>
              <a:t>1</a:t>
            </a:r>
            <a:r>
              <a:rPr dirty="0" sz="1550" spc="-55">
                <a:latin typeface="Symbol"/>
                <a:cs typeface="Symbol"/>
              </a:rPr>
              <a:t></a:t>
            </a:r>
            <a:r>
              <a:rPr dirty="0" sz="1550" spc="-14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</a:t>
            </a:r>
            <a:r>
              <a:rPr dirty="0" baseline="4629" sz="1800" spc="-60">
                <a:latin typeface="Times New Roman"/>
                <a:cs typeface="Times New Roman"/>
              </a:rPr>
              <a:t> </a:t>
            </a:r>
            <a:r>
              <a:rPr dirty="0" baseline="4629" sz="1800" spc="-75">
                <a:latin typeface="Times New Roman"/>
                <a:cs typeface="Times New Roman"/>
              </a:rPr>
              <a:t>0</a:t>
            </a:r>
            <a:endParaRPr baseline="4629"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25.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64132" y="5517260"/>
            <a:ext cx="459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2618395" y="5644161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 h="0">
                <a:moveTo>
                  <a:pt x="0" y="0"/>
                </a:moveTo>
                <a:lnTo>
                  <a:pt x="572539" y="0"/>
                </a:lnTo>
              </a:path>
            </a:pathLst>
          </a:custGeom>
          <a:ln w="72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342347" y="5644161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 h="0">
                <a:moveTo>
                  <a:pt x="0" y="0"/>
                </a:moveTo>
                <a:lnTo>
                  <a:pt x="567919" y="0"/>
                </a:lnTo>
              </a:path>
            </a:pathLst>
          </a:custGeom>
          <a:ln w="72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4075856" y="5644161"/>
            <a:ext cx="2094864" cy="0"/>
          </a:xfrm>
          <a:custGeom>
            <a:avLst/>
            <a:gdLst/>
            <a:ahLst/>
            <a:cxnLst/>
            <a:rect l="l" t="t" r="r" b="b"/>
            <a:pathLst>
              <a:path w="2094864" h="0">
                <a:moveTo>
                  <a:pt x="0" y="0"/>
                </a:moveTo>
                <a:lnTo>
                  <a:pt x="2094565" y="0"/>
                </a:lnTo>
              </a:path>
            </a:pathLst>
          </a:custGeom>
          <a:ln w="72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2701625" y="5421802"/>
            <a:ext cx="11004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dirty="0" sz="1200" spc="-20">
                <a:latin typeface="Times New Roman"/>
                <a:cs typeface="Times New Roman"/>
              </a:rPr>
              <a:t>100</a:t>
            </a:r>
            <a:r>
              <a:rPr dirty="0" baseline="43650" sz="1050" spc="-30" i="1">
                <a:latin typeface="Times New Roman"/>
                <a:cs typeface="Times New Roman"/>
              </a:rPr>
              <a:t>a</a:t>
            </a:r>
            <a:r>
              <a:rPr dirty="0" baseline="43650" sz="1050" i="1">
                <a:latin typeface="Times New Roman"/>
                <a:cs typeface="Times New Roman"/>
              </a:rPr>
              <a:t>	</a:t>
            </a:r>
            <a:r>
              <a:rPr dirty="0" sz="1200" spc="-20">
                <a:latin typeface="Times New Roman"/>
                <a:cs typeface="Times New Roman"/>
              </a:rPr>
              <a:t>100</a:t>
            </a:r>
            <a:r>
              <a:rPr dirty="0" baseline="43650" sz="1050" spc="-30" i="1">
                <a:latin typeface="Times New Roman"/>
                <a:cs typeface="Times New Roman"/>
              </a:rPr>
              <a:t>b</a:t>
            </a:r>
            <a:endParaRPr baseline="43650" sz="10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554200" y="5631770"/>
            <a:ext cx="70485" cy="13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00" spc="-50" i="1">
                <a:latin typeface="Times New Roman"/>
                <a:cs typeface="Times New Roman"/>
              </a:rPr>
              <a:t>b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704882" y="5638120"/>
            <a:ext cx="763905" cy="13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05485" algn="l"/>
              </a:tabLst>
            </a:pPr>
            <a:r>
              <a:rPr dirty="0" sz="700" spc="-50" i="1">
                <a:latin typeface="Times New Roman"/>
                <a:cs typeface="Times New Roman"/>
              </a:rPr>
              <a:t>a</a:t>
            </a:r>
            <a:r>
              <a:rPr dirty="0" sz="700" i="1">
                <a:latin typeface="Times New Roman"/>
                <a:cs typeface="Times New Roman"/>
              </a:rPr>
              <a:t>	</a:t>
            </a:r>
            <a:r>
              <a:rPr dirty="0" sz="700" spc="-50" i="1">
                <a:latin typeface="Times New Roman"/>
                <a:cs typeface="Times New Roman"/>
              </a:rPr>
              <a:t>b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032439" y="5306233"/>
            <a:ext cx="217233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a</a:t>
            </a:r>
            <a:r>
              <a:rPr dirty="0" baseline="43650" sz="1050" spc="60" i="1">
                <a:latin typeface="Times New Roman"/>
                <a:cs typeface="Times New Roman"/>
              </a:rPr>
              <a:t> </a:t>
            </a:r>
            <a:r>
              <a:rPr dirty="0" baseline="-4504" sz="2775" spc="-52">
                <a:latin typeface="Symbol"/>
                <a:cs typeface="Symbol"/>
              </a:rPr>
              <a:t></a:t>
            </a:r>
            <a:r>
              <a:rPr dirty="0" sz="1200" spc="-35">
                <a:latin typeface="Times New Roman"/>
                <a:cs typeface="Times New Roman"/>
              </a:rPr>
              <a:t>100</a:t>
            </a:r>
            <a:r>
              <a:rPr dirty="0" baseline="43650" sz="1050" spc="-52" i="1">
                <a:latin typeface="Times New Roman"/>
                <a:cs typeface="Times New Roman"/>
              </a:rPr>
              <a:t>b</a:t>
            </a:r>
            <a:r>
              <a:rPr dirty="0" baseline="43650" sz="1050" spc="19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60">
                <a:latin typeface="Times New Roman"/>
                <a:cs typeface="Times New Roman"/>
              </a:rPr>
              <a:t>10</a:t>
            </a:r>
            <a:r>
              <a:rPr dirty="0" baseline="-4504" sz="2775" spc="-89">
                <a:latin typeface="Symbol"/>
                <a:cs typeface="Symbol"/>
              </a:rPr>
              <a:t></a:t>
            </a:r>
            <a:r>
              <a:rPr dirty="0" baseline="-4504" sz="2775" spc="-397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b</a:t>
            </a:r>
            <a:r>
              <a:rPr dirty="0" baseline="43650" sz="1050" spc="75" i="1">
                <a:latin typeface="Times New Roman"/>
                <a:cs typeface="Times New Roman"/>
              </a:rPr>
              <a:t> </a:t>
            </a:r>
            <a:r>
              <a:rPr dirty="0" baseline="-4504" sz="2775" spc="-44">
                <a:latin typeface="Symbol"/>
                <a:cs typeface="Symbol"/>
              </a:rPr>
              <a:t></a:t>
            </a:r>
            <a:r>
              <a:rPr dirty="0" sz="1200" spc="-30">
                <a:latin typeface="Times New Roman"/>
                <a:cs typeface="Times New Roman"/>
              </a:rPr>
              <a:t>100</a:t>
            </a:r>
            <a:r>
              <a:rPr dirty="0" baseline="43650" sz="1050" spc="-44" i="1">
                <a:latin typeface="Times New Roman"/>
                <a:cs typeface="Times New Roman"/>
              </a:rPr>
              <a:t>a</a:t>
            </a:r>
            <a:r>
              <a:rPr dirty="0" baseline="43650" sz="1050" spc="232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10</a:t>
            </a:r>
            <a:r>
              <a:rPr dirty="0" baseline="-4504" sz="2775" spc="-37">
                <a:latin typeface="Symbol"/>
                <a:cs typeface="Symbol"/>
              </a:rPr>
              <a:t></a:t>
            </a:r>
            <a:endParaRPr baseline="-4504" sz="2775">
              <a:latin typeface="Symbol"/>
              <a:cs typeface="Symbo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211848" y="5517107"/>
            <a:ext cx="8382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9140" algn="l"/>
              </a:tabLst>
            </a:pPr>
            <a:r>
              <a:rPr dirty="0" sz="1200" spc="-50">
                <a:latin typeface="Symbol"/>
                <a:cs typeface="Symbol"/>
              </a:rPr>
              <a:t>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5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663643" y="5482309"/>
            <a:ext cx="1393825" cy="361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535"/>
              </a:lnSpc>
              <a:spcBef>
                <a:spcPts val="100"/>
              </a:spcBef>
            </a:pPr>
            <a:r>
              <a:rPr dirty="0" baseline="4629" sz="1800" i="1">
                <a:latin typeface="Times New Roman"/>
                <a:cs typeface="Times New Roman"/>
              </a:rPr>
              <a:t>f</a:t>
            </a:r>
            <a:r>
              <a:rPr dirty="0" baseline="4629" sz="1800" spc="165" i="1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Symbol"/>
                <a:cs typeface="Symbol"/>
              </a:rPr>
              <a:t></a:t>
            </a:r>
            <a:r>
              <a:rPr dirty="0" baseline="4629" sz="1800" spc="-37" i="1">
                <a:latin typeface="Times New Roman"/>
                <a:cs typeface="Times New Roman"/>
              </a:rPr>
              <a:t>a</a:t>
            </a:r>
            <a:r>
              <a:rPr dirty="0" sz="1550" spc="-25">
                <a:latin typeface="Symbol"/>
                <a:cs typeface="Symbol"/>
              </a:rPr>
              <a:t></a:t>
            </a:r>
            <a:r>
              <a:rPr dirty="0" sz="1550" spc="-16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254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f</a:t>
            </a:r>
            <a:r>
              <a:rPr dirty="0" baseline="4629" sz="1800" spc="179" i="1">
                <a:latin typeface="Times New Roman"/>
                <a:cs typeface="Times New Roman"/>
              </a:rPr>
              <a:t> </a:t>
            </a:r>
            <a:r>
              <a:rPr dirty="0" sz="1550" spc="-40">
                <a:latin typeface="Symbol"/>
                <a:cs typeface="Symbol"/>
              </a:rPr>
              <a:t></a:t>
            </a:r>
            <a:r>
              <a:rPr dirty="0" baseline="4629" sz="1800" spc="-60" i="1">
                <a:latin typeface="Times New Roman"/>
                <a:cs typeface="Times New Roman"/>
              </a:rPr>
              <a:t>b</a:t>
            </a:r>
            <a:r>
              <a:rPr dirty="0" sz="1550" spc="-40">
                <a:latin typeface="Symbol"/>
                <a:cs typeface="Symbol"/>
              </a:rPr>
              <a:t></a:t>
            </a:r>
            <a:r>
              <a:rPr dirty="0" sz="1550" spc="-100">
                <a:latin typeface="Times New Roman"/>
                <a:cs typeface="Times New Roman"/>
              </a:rPr>
              <a:t> </a:t>
            </a:r>
            <a:r>
              <a:rPr dirty="0" baseline="4629" sz="1800" spc="-89">
                <a:latin typeface="Symbol"/>
                <a:cs typeface="Symbol"/>
              </a:rPr>
              <a:t></a:t>
            </a:r>
            <a:endParaRPr baseline="4629" sz="1800">
              <a:latin typeface="Symbol"/>
              <a:cs typeface="Symbol"/>
            </a:endParaRPr>
          </a:p>
          <a:p>
            <a:pPr algn="r" marR="30480">
              <a:lnSpc>
                <a:spcPts val="1115"/>
              </a:lnSpc>
            </a:pP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a</a:t>
            </a:r>
            <a:r>
              <a:rPr dirty="0" baseline="43650" sz="1050" spc="277" i="1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Symbol"/>
                <a:cs typeface="Symbol"/>
              </a:rPr>
              <a:t>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021481" y="5635402"/>
            <a:ext cx="8991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960" algn="l"/>
              </a:tabLst>
            </a:pPr>
            <a:r>
              <a:rPr dirty="0" sz="1200" spc="-2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	100</a:t>
            </a:r>
            <a:r>
              <a:rPr dirty="0" sz="1200" spc="38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426366" y="5555528"/>
            <a:ext cx="139573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-4504" sz="2775">
                <a:latin typeface="Symbol"/>
                <a:cs typeface="Symbol"/>
              </a:rPr>
              <a:t></a:t>
            </a: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10</a:t>
            </a:r>
            <a:r>
              <a:rPr dirty="0" baseline="-4504" sz="2775" spc="-15">
                <a:latin typeface="Symbol"/>
                <a:cs typeface="Symbol"/>
              </a:rPr>
              <a:t></a:t>
            </a:r>
            <a:r>
              <a:rPr dirty="0" sz="1200" spc="-10">
                <a:latin typeface="Times New Roman"/>
                <a:cs typeface="Times New Roman"/>
              </a:rPr>
              <a:t>100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10</a:t>
            </a:r>
            <a:r>
              <a:rPr dirty="0" baseline="-4504" sz="2775" spc="-37">
                <a:latin typeface="Symbol"/>
                <a:cs typeface="Symbol"/>
              </a:rPr>
              <a:t></a:t>
            </a:r>
            <a:endParaRPr baseline="-4504" sz="2775">
              <a:latin typeface="Symbol"/>
              <a:cs typeface="Symbo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64132" y="6049136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Palatino Linotype"/>
                <a:cs typeface="Palatino Linotype"/>
              </a:rPr>
              <a:t>=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1278844" y="6176291"/>
            <a:ext cx="1854200" cy="0"/>
          </a:xfrm>
          <a:custGeom>
            <a:avLst/>
            <a:gdLst/>
            <a:ahLst/>
            <a:cxnLst/>
            <a:rect l="l" t="t" r="r" b="b"/>
            <a:pathLst>
              <a:path w="1854200" h="0">
                <a:moveTo>
                  <a:pt x="0" y="0"/>
                </a:moveTo>
                <a:lnTo>
                  <a:pt x="1854002" y="0"/>
                </a:lnTo>
              </a:path>
            </a:pathLst>
          </a:custGeom>
          <a:ln w="72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3297678" y="6176291"/>
            <a:ext cx="1348105" cy="0"/>
          </a:xfrm>
          <a:custGeom>
            <a:avLst/>
            <a:gdLst/>
            <a:ahLst/>
            <a:cxnLst/>
            <a:rect l="l" t="t" r="r" b="b"/>
            <a:pathLst>
              <a:path w="1348104" h="0">
                <a:moveTo>
                  <a:pt x="0" y="0"/>
                </a:moveTo>
                <a:lnTo>
                  <a:pt x="1347657" y="0"/>
                </a:lnTo>
              </a:path>
            </a:pathLst>
          </a:custGeom>
          <a:ln w="72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1349576" y="5838363"/>
            <a:ext cx="334327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1955164" algn="l"/>
              </a:tabLst>
            </a:pPr>
            <a:r>
              <a:rPr dirty="0" sz="1200">
                <a:latin typeface="Times New Roman"/>
                <a:cs typeface="Times New Roman"/>
              </a:rPr>
              <a:t>2.100</a:t>
            </a:r>
            <a:r>
              <a:rPr dirty="0" baseline="43650" sz="1050" i="1">
                <a:latin typeface="Times New Roman"/>
                <a:cs typeface="Times New Roman"/>
              </a:rPr>
              <a:t>a</a:t>
            </a:r>
            <a:r>
              <a:rPr dirty="0" baseline="43650" sz="1050">
                <a:latin typeface="Symbol"/>
                <a:cs typeface="Symbol"/>
              </a:rPr>
              <a:t></a:t>
            </a:r>
            <a:r>
              <a:rPr dirty="0" baseline="43650" sz="1050" i="1">
                <a:latin typeface="Times New Roman"/>
                <a:cs typeface="Times New Roman"/>
              </a:rPr>
              <a:t>b</a:t>
            </a:r>
            <a:r>
              <a:rPr dirty="0" baseline="43650" sz="1050" spc="172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10</a:t>
            </a:r>
            <a:r>
              <a:rPr dirty="0" baseline="-4504" sz="2775" spc="-15">
                <a:latin typeface="Symbol"/>
                <a:cs typeface="Symbol"/>
              </a:rPr>
              <a:t></a:t>
            </a:r>
            <a:r>
              <a:rPr dirty="0" sz="1200" spc="-10">
                <a:latin typeface="Times New Roman"/>
                <a:cs typeface="Times New Roman"/>
              </a:rPr>
              <a:t>100</a:t>
            </a:r>
            <a:r>
              <a:rPr dirty="0" baseline="43650" sz="1050" spc="-15" i="1">
                <a:latin typeface="Times New Roman"/>
                <a:cs typeface="Times New Roman"/>
              </a:rPr>
              <a:t>a</a:t>
            </a:r>
            <a:r>
              <a:rPr dirty="0" baseline="43650" sz="1050" spc="232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b</a:t>
            </a:r>
            <a:r>
              <a:rPr dirty="0" baseline="43650" sz="1050" spc="-7" i="1">
                <a:latin typeface="Times New Roman"/>
                <a:cs typeface="Times New Roman"/>
              </a:rPr>
              <a:t> </a:t>
            </a:r>
            <a:r>
              <a:rPr dirty="0" baseline="-4504" sz="2775" spc="-75">
                <a:latin typeface="Symbol"/>
                <a:cs typeface="Symbol"/>
              </a:rPr>
              <a:t></a:t>
            </a:r>
            <a:r>
              <a:rPr dirty="0" baseline="-4504" sz="2775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Times New Roman"/>
                <a:cs typeface="Times New Roman"/>
              </a:rPr>
              <a:t>200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10</a:t>
            </a:r>
            <a:r>
              <a:rPr dirty="0" sz="1200" spc="-195">
                <a:latin typeface="Times New Roman"/>
                <a:cs typeface="Times New Roman"/>
              </a:rPr>
              <a:t> </a:t>
            </a:r>
            <a:r>
              <a:rPr dirty="0" baseline="-4504" sz="2775" spc="-52">
                <a:latin typeface="Symbol"/>
                <a:cs typeface="Symbol"/>
              </a:rPr>
              <a:t></a:t>
            </a:r>
            <a:r>
              <a:rPr dirty="0" sz="1200" spc="-35">
                <a:latin typeface="Times New Roman"/>
                <a:cs typeface="Times New Roman"/>
              </a:rPr>
              <a:t>100</a:t>
            </a:r>
            <a:r>
              <a:rPr dirty="0" baseline="43650" sz="1050" spc="-52" i="1">
                <a:latin typeface="Times New Roman"/>
                <a:cs typeface="Times New Roman"/>
              </a:rPr>
              <a:t>a</a:t>
            </a:r>
            <a:r>
              <a:rPr dirty="0" baseline="43650" sz="1050" spc="202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b</a:t>
            </a:r>
            <a:r>
              <a:rPr dirty="0" baseline="43650" sz="1050" spc="-7" i="1">
                <a:latin typeface="Times New Roman"/>
                <a:cs typeface="Times New Roman"/>
              </a:rPr>
              <a:t> </a:t>
            </a:r>
            <a:r>
              <a:rPr dirty="0" baseline="-4504" sz="2775" spc="-75">
                <a:latin typeface="Symbol"/>
                <a:cs typeface="Symbol"/>
              </a:rPr>
              <a:t></a:t>
            </a:r>
            <a:endParaRPr baseline="-4504" sz="2775">
              <a:latin typeface="Symbol"/>
              <a:cs typeface="Symbol"/>
            </a:endParaRPr>
          </a:p>
        </p:txBody>
      </p:sp>
      <p:sp>
        <p:nvSpPr>
          <p:cNvPr id="51" name="object 5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52" name="object 5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  <p:sp>
        <p:nvSpPr>
          <p:cNvPr id="42" name="object 42" descr=""/>
          <p:cNvSpPr txBox="1"/>
          <p:nvPr/>
        </p:nvSpPr>
        <p:spPr>
          <a:xfrm>
            <a:off x="3161638" y="6049237"/>
            <a:ext cx="17221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5270" algn="l"/>
              </a:tabLst>
            </a:pPr>
            <a:r>
              <a:rPr dirty="0" sz="1200" spc="-50">
                <a:latin typeface="Symbol"/>
                <a:cs typeface="Symbol"/>
              </a:rPr>
              <a:t>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1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235822" y="6087658"/>
            <a:ext cx="344424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2068830" algn="l"/>
              </a:tabLst>
            </a:pP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a</a:t>
            </a:r>
            <a:r>
              <a:rPr dirty="0" baseline="43650" sz="1050">
                <a:latin typeface="Symbol"/>
                <a:cs typeface="Symbol"/>
              </a:rPr>
              <a:t></a:t>
            </a:r>
            <a:r>
              <a:rPr dirty="0" baseline="43650" sz="1050" i="1">
                <a:latin typeface="Times New Roman"/>
                <a:cs typeface="Times New Roman"/>
              </a:rPr>
              <a:t>b</a:t>
            </a:r>
            <a:r>
              <a:rPr dirty="0" baseline="43650" sz="1050" spc="19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10</a:t>
            </a:r>
            <a:r>
              <a:rPr dirty="0" baseline="-4504" sz="2775" spc="-15">
                <a:latin typeface="Symbol"/>
                <a:cs typeface="Symbol"/>
              </a:rPr>
              <a:t></a:t>
            </a:r>
            <a:r>
              <a:rPr dirty="0" sz="1200" spc="-10">
                <a:latin typeface="Times New Roman"/>
                <a:cs typeface="Times New Roman"/>
              </a:rPr>
              <a:t>100</a:t>
            </a:r>
            <a:r>
              <a:rPr dirty="0" baseline="43650" sz="1050" spc="-15" i="1">
                <a:latin typeface="Times New Roman"/>
                <a:cs typeface="Times New Roman"/>
              </a:rPr>
              <a:t>a</a:t>
            </a:r>
            <a:r>
              <a:rPr dirty="0" baseline="43650" sz="1050" spc="254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b</a:t>
            </a:r>
            <a:r>
              <a:rPr dirty="0" baseline="43650" sz="1050" spc="7" i="1">
                <a:latin typeface="Times New Roman"/>
                <a:cs typeface="Times New Roman"/>
              </a:rPr>
              <a:t> </a:t>
            </a:r>
            <a:r>
              <a:rPr dirty="0" baseline="-4504" sz="2775" spc="-322">
                <a:latin typeface="Symbol"/>
                <a:cs typeface="Symbol"/>
              </a:rPr>
              <a:t></a:t>
            </a:r>
            <a:r>
              <a:rPr dirty="0" baseline="-4504" sz="2775" spc="-40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100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Times New Roman"/>
                <a:cs typeface="Times New Roman"/>
              </a:rPr>
              <a:t>200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10</a:t>
            </a:r>
            <a:r>
              <a:rPr dirty="0" sz="1200" spc="-195">
                <a:latin typeface="Times New Roman"/>
                <a:cs typeface="Times New Roman"/>
              </a:rPr>
              <a:t> </a:t>
            </a:r>
            <a:r>
              <a:rPr dirty="0" baseline="-4504" sz="2775" spc="-52">
                <a:latin typeface="Symbol"/>
                <a:cs typeface="Symbol"/>
              </a:rPr>
              <a:t></a:t>
            </a:r>
            <a:r>
              <a:rPr dirty="0" sz="1200" spc="-35">
                <a:latin typeface="Times New Roman"/>
                <a:cs typeface="Times New Roman"/>
              </a:rPr>
              <a:t>100</a:t>
            </a:r>
            <a:r>
              <a:rPr dirty="0" baseline="43650" sz="1050" spc="-52" i="1">
                <a:latin typeface="Times New Roman"/>
                <a:cs typeface="Times New Roman"/>
              </a:rPr>
              <a:t>a</a:t>
            </a:r>
            <a:r>
              <a:rPr dirty="0" baseline="43650" sz="1050" spc="19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100</a:t>
            </a:r>
            <a:r>
              <a:rPr dirty="0" baseline="43650" sz="1050" i="1">
                <a:latin typeface="Times New Roman"/>
                <a:cs typeface="Times New Roman"/>
              </a:rPr>
              <a:t>b</a:t>
            </a:r>
            <a:r>
              <a:rPr dirty="0" baseline="43650" sz="1050" spc="-7" i="1">
                <a:latin typeface="Times New Roman"/>
                <a:cs typeface="Times New Roman"/>
              </a:rPr>
              <a:t> </a:t>
            </a:r>
            <a:r>
              <a:rPr dirty="0" baseline="-4504" sz="2775" spc="-75">
                <a:latin typeface="Symbol"/>
                <a:cs typeface="Symbol"/>
              </a:rPr>
              <a:t></a:t>
            </a:r>
            <a:endParaRPr baseline="-4504" sz="2775">
              <a:latin typeface="Symbol"/>
              <a:cs typeface="Symbo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06627" y="6436232"/>
            <a:ext cx="5951220" cy="1640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25"/>
              </a:lnSpc>
              <a:spcBef>
                <a:spcPts val="1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26.</a:t>
            </a:r>
            <a:r>
              <a:rPr dirty="0" sz="1200" spc="27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có:</a:t>
            </a:r>
            <a:endParaRPr sz="1200">
              <a:latin typeface="Palatino Linotype"/>
              <a:cs typeface="Palatino Linotype"/>
            </a:endParaRPr>
          </a:p>
          <a:p>
            <a:pPr marL="522605">
              <a:lnSpc>
                <a:spcPts val="1845"/>
              </a:lnSpc>
            </a:pPr>
            <a:r>
              <a:rPr dirty="0" baseline="4629" sz="1800" i="1">
                <a:latin typeface="Times New Roman"/>
                <a:cs typeface="Times New Roman"/>
              </a:rPr>
              <a:t>f</a:t>
            </a:r>
            <a:r>
              <a:rPr dirty="0" baseline="4629" sz="1800" spc="165" i="1">
                <a:latin typeface="Times New Roman"/>
                <a:cs typeface="Times New Roman"/>
              </a:rPr>
              <a:t> </a:t>
            </a:r>
            <a:r>
              <a:rPr dirty="0" sz="1550" spc="-105">
                <a:latin typeface="Symbol"/>
                <a:cs typeface="Symbol"/>
              </a:rPr>
              <a:t></a:t>
            </a:r>
            <a:r>
              <a:rPr dirty="0" baseline="4629" sz="1800" spc="-157">
                <a:latin typeface="Times New Roman"/>
                <a:cs typeface="Times New Roman"/>
              </a:rPr>
              <a:t>1</a:t>
            </a:r>
            <a:r>
              <a:rPr dirty="0" sz="1550" spc="-105">
                <a:latin typeface="Symbol"/>
                <a:cs typeface="Symbol"/>
              </a:rPr>
              <a:t></a:t>
            </a:r>
            <a:r>
              <a:rPr dirty="0" sz="1550" spc="-12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5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2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5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6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232" i="1">
                <a:latin typeface="Times New Roman"/>
                <a:cs typeface="Times New Roman"/>
              </a:rPr>
              <a:t> </a:t>
            </a:r>
            <a:r>
              <a:rPr dirty="0" baseline="4629" sz="1800" spc="120">
                <a:latin typeface="Symbol"/>
                <a:cs typeface="Symbol"/>
              </a:rPr>
              <a:t></a:t>
            </a:r>
            <a:r>
              <a:rPr dirty="0" baseline="4629" sz="1800" spc="120" i="1">
                <a:latin typeface="Times New Roman"/>
                <a:cs typeface="Times New Roman"/>
              </a:rPr>
              <a:t>Q</a:t>
            </a:r>
            <a:r>
              <a:rPr dirty="0" baseline="4629" sz="1800" spc="39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,</a:t>
            </a:r>
            <a:r>
              <a:rPr dirty="0" baseline="4629" sz="1800" spc="19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f</a:t>
            </a:r>
            <a:r>
              <a:rPr dirty="0" baseline="4629" sz="1800" spc="157" i="1">
                <a:latin typeface="Times New Roman"/>
                <a:cs typeface="Times New Roman"/>
              </a:rPr>
              <a:t> </a:t>
            </a:r>
            <a:r>
              <a:rPr dirty="0" sz="1550" spc="-35">
                <a:latin typeface="Symbol"/>
                <a:cs typeface="Symbol"/>
              </a:rPr>
              <a:t></a:t>
            </a:r>
            <a:r>
              <a:rPr dirty="0" baseline="4629" sz="1800" spc="-52">
                <a:latin typeface="Times New Roman"/>
                <a:cs typeface="Times New Roman"/>
              </a:rPr>
              <a:t>4</a:t>
            </a:r>
            <a:r>
              <a:rPr dirty="0" sz="1550" spc="-35">
                <a:latin typeface="Symbol"/>
                <a:cs typeface="Symbol"/>
              </a:rPr>
              <a:t></a:t>
            </a:r>
            <a:r>
              <a:rPr dirty="0" sz="1550" spc="-13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27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16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3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35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4</a:t>
            </a:r>
            <a:r>
              <a:rPr dirty="0" baseline="4629" sz="1800" spc="-15" i="1">
                <a:latin typeface="Times New Roman"/>
                <a:cs typeface="Times New Roman"/>
              </a:rPr>
              <a:t>b</a:t>
            </a:r>
            <a:r>
              <a:rPr dirty="0" baseline="4629" sz="1800" spc="-17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72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240" i="1">
                <a:latin typeface="Times New Roman"/>
                <a:cs typeface="Times New Roman"/>
              </a:rPr>
              <a:t> </a:t>
            </a:r>
            <a:r>
              <a:rPr dirty="0" baseline="4629" sz="1800" spc="112">
                <a:latin typeface="Symbol"/>
                <a:cs typeface="Symbol"/>
              </a:rPr>
              <a:t></a:t>
            </a:r>
            <a:r>
              <a:rPr dirty="0" baseline="4629" sz="1800" spc="112" i="1">
                <a:latin typeface="Times New Roman"/>
                <a:cs typeface="Times New Roman"/>
              </a:rPr>
              <a:t>Q</a:t>
            </a:r>
            <a:r>
              <a:rPr dirty="0" baseline="4629" sz="1800" spc="32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và</a:t>
            </a:r>
            <a:r>
              <a:rPr dirty="0" baseline="4629" sz="1800" spc="67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f</a:t>
            </a:r>
            <a:r>
              <a:rPr dirty="0" baseline="4629" sz="1800" spc="165" i="1">
                <a:latin typeface="Times New Roman"/>
                <a:cs typeface="Times New Roman"/>
              </a:rPr>
              <a:t> </a:t>
            </a:r>
            <a:r>
              <a:rPr dirty="0" sz="1550" spc="-40">
                <a:latin typeface="Symbol"/>
                <a:cs typeface="Symbol"/>
              </a:rPr>
              <a:t></a:t>
            </a:r>
            <a:r>
              <a:rPr dirty="0" baseline="4629" sz="1800" spc="-60">
                <a:latin typeface="Times New Roman"/>
                <a:cs typeface="Times New Roman"/>
              </a:rPr>
              <a:t>9</a:t>
            </a:r>
            <a:r>
              <a:rPr dirty="0" sz="1550" spc="-40">
                <a:latin typeface="Symbol"/>
                <a:cs typeface="Symbol"/>
              </a:rPr>
              <a:t></a:t>
            </a:r>
            <a:r>
              <a:rPr dirty="0" sz="1550" spc="-12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42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81</a:t>
            </a:r>
            <a:r>
              <a:rPr dirty="0" baseline="4629" sz="1800" spc="-44" i="1">
                <a:latin typeface="Times New Roman"/>
                <a:cs typeface="Times New Roman"/>
              </a:rPr>
              <a:t>a</a:t>
            </a:r>
            <a:r>
              <a:rPr dirty="0" baseline="4629" sz="1800" spc="-12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9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6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65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c</a:t>
            </a:r>
            <a:r>
              <a:rPr dirty="0" baseline="4629" sz="1800" spc="-232" i="1">
                <a:latin typeface="Times New Roman"/>
                <a:cs typeface="Times New Roman"/>
              </a:rPr>
              <a:t> </a:t>
            </a:r>
            <a:r>
              <a:rPr dirty="0" baseline="4629" sz="1800" spc="82">
                <a:latin typeface="Symbol"/>
                <a:cs typeface="Symbol"/>
              </a:rPr>
              <a:t></a:t>
            </a:r>
            <a:r>
              <a:rPr dirty="0" baseline="4629" sz="1800" spc="82" i="1">
                <a:latin typeface="Times New Roman"/>
                <a:cs typeface="Times New Roman"/>
              </a:rPr>
              <a:t>Q</a:t>
            </a:r>
            <a:endParaRPr baseline="4629"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0"/>
              </a:spcBef>
            </a:pPr>
            <a:r>
              <a:rPr dirty="0" baseline="4629" sz="1800">
                <a:latin typeface="Times New Roman"/>
                <a:cs typeface="Times New Roman"/>
              </a:rPr>
              <a:t>Từ</a:t>
            </a:r>
            <a:r>
              <a:rPr dirty="0" baseline="4629" sz="1800" spc="1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(1)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và</a:t>
            </a:r>
            <a:r>
              <a:rPr dirty="0" baseline="4629" sz="1800" spc="3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(2)</a:t>
            </a:r>
            <a:r>
              <a:rPr dirty="0" baseline="4629" sz="1800" spc="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=&gt;</a:t>
            </a:r>
            <a:r>
              <a:rPr dirty="0" baseline="4629" sz="1800" spc="277">
                <a:latin typeface="Times New Roman"/>
                <a:cs typeface="Times New Roman"/>
              </a:rPr>
              <a:t> </a:t>
            </a:r>
            <a:r>
              <a:rPr dirty="0" sz="1550" spc="-35">
                <a:latin typeface="Symbol"/>
                <a:cs typeface="Symbol"/>
              </a:rPr>
              <a:t></a:t>
            </a:r>
            <a:r>
              <a:rPr dirty="0" baseline="4629" sz="1800" spc="-52">
                <a:latin typeface="Times New Roman"/>
                <a:cs typeface="Times New Roman"/>
              </a:rPr>
              <a:t>16</a:t>
            </a:r>
            <a:r>
              <a:rPr dirty="0" baseline="4629" sz="1800" spc="-52" i="1">
                <a:latin typeface="Times New Roman"/>
                <a:cs typeface="Times New Roman"/>
              </a:rPr>
              <a:t>a</a:t>
            </a:r>
            <a:r>
              <a:rPr dirty="0" baseline="4629" sz="1800" spc="-14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50">
                <a:latin typeface="Times New Roman"/>
                <a:cs typeface="Times New Roman"/>
              </a:rPr>
              <a:t> </a:t>
            </a:r>
            <a:r>
              <a:rPr dirty="0" baseline="4629" sz="1800" spc="-15">
                <a:latin typeface="Times New Roman"/>
                <a:cs typeface="Times New Roman"/>
              </a:rPr>
              <a:t>4</a:t>
            </a:r>
            <a:r>
              <a:rPr dirty="0" baseline="4629" sz="1800" spc="-15" i="1">
                <a:latin typeface="Times New Roman"/>
                <a:cs typeface="Times New Roman"/>
              </a:rPr>
              <a:t>b</a:t>
            </a:r>
            <a:r>
              <a:rPr dirty="0" baseline="4629" sz="1800" spc="-17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79">
                <a:latin typeface="Times New Roman"/>
                <a:cs typeface="Times New Roman"/>
              </a:rPr>
              <a:t> </a:t>
            </a:r>
            <a:r>
              <a:rPr dirty="0" baseline="4629" sz="1800" spc="-30" i="1">
                <a:latin typeface="Times New Roman"/>
                <a:cs typeface="Times New Roman"/>
              </a:rPr>
              <a:t>c</a:t>
            </a:r>
            <a:r>
              <a:rPr dirty="0" sz="1550" spc="-20">
                <a:latin typeface="Symbol"/>
                <a:cs typeface="Symbol"/>
              </a:rPr>
              <a:t></a:t>
            </a:r>
            <a:r>
              <a:rPr dirty="0" sz="1550" spc="-210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Symbol"/>
                <a:cs typeface="Symbol"/>
              </a:rPr>
              <a:t></a:t>
            </a:r>
            <a:r>
              <a:rPr dirty="0" sz="1550" spc="50">
                <a:latin typeface="Symbol"/>
                <a:cs typeface="Symbol"/>
              </a:rPr>
              <a:t></a:t>
            </a:r>
            <a:r>
              <a:rPr dirty="0" baseline="4629" sz="1800" spc="75" i="1">
                <a:latin typeface="Times New Roman"/>
                <a:cs typeface="Times New Roman"/>
              </a:rPr>
              <a:t>a</a:t>
            </a:r>
            <a:r>
              <a:rPr dirty="0" baseline="4629" sz="1800" spc="-14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9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7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79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c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13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26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15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3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2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3</a:t>
            </a:r>
            <a:r>
              <a:rPr dirty="0" baseline="4629" sz="1800" spc="-44" i="1">
                <a:latin typeface="Times New Roman"/>
                <a:cs typeface="Times New Roman"/>
              </a:rPr>
              <a:t>b</a:t>
            </a:r>
            <a:r>
              <a:rPr dirty="0" baseline="4629" sz="1800" spc="-52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3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629" sz="1800">
                <a:latin typeface="Times New Roman"/>
                <a:cs typeface="Times New Roman"/>
              </a:rPr>
              <a:t>5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50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2">
                <a:latin typeface="Times New Roman"/>
                <a:cs typeface="Times New Roman"/>
              </a:rPr>
              <a:t> </a:t>
            </a:r>
            <a:r>
              <a:rPr dirty="0" baseline="4629" sz="1800" spc="82" i="1">
                <a:latin typeface="Times New Roman"/>
                <a:cs typeface="Times New Roman"/>
              </a:rPr>
              <a:t>b</a:t>
            </a:r>
            <a:r>
              <a:rPr dirty="0" sz="1550" spc="55">
                <a:latin typeface="Symbol"/>
                <a:cs typeface="Symbol"/>
              </a:rPr>
              <a:t></a:t>
            </a:r>
            <a:r>
              <a:rPr dirty="0" baseline="4629" sz="1800" spc="82">
                <a:latin typeface="Symbol"/>
                <a:cs typeface="Symbol"/>
              </a:rPr>
              <a:t></a:t>
            </a:r>
            <a:r>
              <a:rPr dirty="0" baseline="4629" sz="1800" spc="82" i="1">
                <a:latin typeface="Times New Roman"/>
                <a:cs typeface="Times New Roman"/>
              </a:rPr>
              <a:t>Q</a:t>
            </a:r>
            <a:r>
              <a:rPr dirty="0" baseline="4629" sz="1800" spc="300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do</a:t>
            </a:r>
            <a:r>
              <a:rPr dirty="0" baseline="4629" sz="1800" spc="3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đó</a:t>
            </a:r>
            <a:r>
              <a:rPr dirty="0" baseline="4629" sz="1800" spc="240">
                <a:latin typeface="Times New Roman"/>
                <a:cs typeface="Times New Roman"/>
              </a:rPr>
              <a:t> </a:t>
            </a:r>
            <a:r>
              <a:rPr dirty="0" baseline="2415" sz="1725">
                <a:latin typeface="Times New Roman"/>
                <a:cs typeface="Times New Roman"/>
              </a:rPr>
              <a:t>5</a:t>
            </a:r>
            <a:r>
              <a:rPr dirty="0" baseline="2415" sz="1725" i="1">
                <a:latin typeface="Times New Roman"/>
                <a:cs typeface="Times New Roman"/>
              </a:rPr>
              <a:t>a</a:t>
            </a:r>
            <a:r>
              <a:rPr dirty="0" baseline="2415" sz="1725" spc="-120" i="1">
                <a:latin typeface="Times New Roman"/>
                <a:cs typeface="Times New Roman"/>
              </a:rPr>
              <a:t> </a:t>
            </a:r>
            <a:r>
              <a:rPr dirty="0" baseline="2415" sz="1725" spc="82">
                <a:latin typeface="Symbol"/>
                <a:cs typeface="Symbol"/>
              </a:rPr>
              <a:t></a:t>
            </a:r>
            <a:r>
              <a:rPr dirty="0" baseline="2415" sz="1725" spc="-187">
                <a:latin typeface="Times New Roman"/>
                <a:cs typeface="Times New Roman"/>
              </a:rPr>
              <a:t> </a:t>
            </a:r>
            <a:r>
              <a:rPr dirty="0" baseline="2415" sz="1725" i="1">
                <a:latin typeface="Times New Roman"/>
                <a:cs typeface="Times New Roman"/>
              </a:rPr>
              <a:t>b</a:t>
            </a:r>
            <a:r>
              <a:rPr dirty="0" baseline="2415" sz="1725" spc="-240" i="1">
                <a:latin typeface="Times New Roman"/>
                <a:cs typeface="Times New Roman"/>
              </a:rPr>
              <a:t> </a:t>
            </a:r>
            <a:r>
              <a:rPr dirty="0" baseline="2415" sz="1725" spc="127">
                <a:latin typeface="Symbol"/>
                <a:cs typeface="Symbol"/>
              </a:rPr>
              <a:t></a:t>
            </a:r>
            <a:r>
              <a:rPr dirty="0" baseline="2415" sz="1725" spc="127" i="1">
                <a:latin typeface="Times New Roman"/>
                <a:cs typeface="Times New Roman"/>
              </a:rPr>
              <a:t>Q</a:t>
            </a:r>
            <a:endParaRPr baseline="2415" sz="1725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60"/>
              </a:spcBef>
            </a:pPr>
            <a:r>
              <a:rPr dirty="0" baseline="4629" sz="1800">
                <a:latin typeface="Times New Roman"/>
                <a:cs typeface="Times New Roman"/>
              </a:rPr>
              <a:t>Từ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(2)</a:t>
            </a:r>
            <a:r>
              <a:rPr dirty="0" baseline="4629" sz="1800" spc="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và</a:t>
            </a:r>
            <a:r>
              <a:rPr dirty="0" baseline="4629" sz="1800" spc="4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(3)</a:t>
            </a:r>
            <a:r>
              <a:rPr dirty="0" baseline="4629" sz="1800" spc="1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=&gt;</a:t>
            </a:r>
            <a:r>
              <a:rPr dirty="0" baseline="4629" sz="1800" spc="284">
                <a:latin typeface="Times New Roman"/>
                <a:cs typeface="Times New Roman"/>
              </a:rPr>
              <a:t> </a:t>
            </a:r>
            <a:r>
              <a:rPr dirty="0" sz="1550" spc="-40">
                <a:latin typeface="Symbol"/>
                <a:cs typeface="Symbol"/>
              </a:rPr>
              <a:t></a:t>
            </a:r>
            <a:r>
              <a:rPr dirty="0" baseline="4629" sz="1800" spc="-60">
                <a:latin typeface="Times New Roman"/>
                <a:cs typeface="Times New Roman"/>
              </a:rPr>
              <a:t>81</a:t>
            </a:r>
            <a:r>
              <a:rPr dirty="0" baseline="4629" sz="1800" spc="-60" i="1">
                <a:latin typeface="Times New Roman"/>
                <a:cs typeface="Times New Roman"/>
              </a:rPr>
              <a:t>a</a:t>
            </a:r>
            <a:r>
              <a:rPr dirty="0" baseline="4629" sz="1800" spc="-13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9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6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87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c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20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629" sz="1800">
                <a:latin typeface="Times New Roman"/>
                <a:cs typeface="Times New Roman"/>
              </a:rPr>
              <a:t>16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2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4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4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15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87">
                <a:latin typeface="Times New Roman"/>
                <a:cs typeface="Times New Roman"/>
              </a:rPr>
              <a:t> </a:t>
            </a:r>
            <a:r>
              <a:rPr dirty="0" baseline="4629" sz="1800" spc="-15" i="1">
                <a:latin typeface="Times New Roman"/>
                <a:cs typeface="Times New Roman"/>
              </a:rPr>
              <a:t>c</a:t>
            </a:r>
            <a:r>
              <a:rPr dirty="0" sz="1550" spc="-10">
                <a:latin typeface="Symbol"/>
                <a:cs typeface="Symbol"/>
              </a:rPr>
              <a:t></a:t>
            </a:r>
            <a:r>
              <a:rPr dirty="0" sz="1550" spc="-12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8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65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2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9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5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3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</a:t>
            </a:r>
            <a:r>
              <a:rPr dirty="0" baseline="4629" sz="1800" spc="-104">
                <a:latin typeface="Times New Roman"/>
                <a:cs typeface="Times New Roman"/>
              </a:rPr>
              <a:t> </a:t>
            </a:r>
            <a:r>
              <a:rPr dirty="0" baseline="4629" sz="1800" spc="-30">
                <a:latin typeface="Times New Roman"/>
                <a:cs typeface="Times New Roman"/>
              </a:rPr>
              <a:t>5</a:t>
            </a:r>
            <a:r>
              <a:rPr dirty="0" sz="1550" spc="-20">
                <a:latin typeface="Symbol"/>
                <a:cs typeface="Symbol"/>
              </a:rPr>
              <a:t></a:t>
            </a:r>
            <a:r>
              <a:rPr dirty="0" baseline="4629" sz="1800" spc="-30">
                <a:latin typeface="Times New Roman"/>
                <a:cs typeface="Times New Roman"/>
              </a:rPr>
              <a:t>13</a:t>
            </a:r>
            <a:r>
              <a:rPr dirty="0" baseline="4629" sz="1800" spc="-30" i="1">
                <a:latin typeface="Times New Roman"/>
                <a:cs typeface="Times New Roman"/>
              </a:rPr>
              <a:t>a</a:t>
            </a:r>
            <a:r>
              <a:rPr dirty="0" baseline="4629" sz="1800" spc="-12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17">
                <a:latin typeface="Times New Roman"/>
                <a:cs typeface="Times New Roman"/>
              </a:rPr>
              <a:t> </a:t>
            </a:r>
            <a:r>
              <a:rPr dirty="0" baseline="4629" sz="1800" spc="89" i="1">
                <a:latin typeface="Times New Roman"/>
                <a:cs typeface="Times New Roman"/>
              </a:rPr>
              <a:t>b</a:t>
            </a:r>
            <a:r>
              <a:rPr dirty="0" sz="1550" spc="60">
                <a:latin typeface="Symbol"/>
                <a:cs typeface="Symbol"/>
              </a:rPr>
              <a:t></a:t>
            </a:r>
            <a:r>
              <a:rPr dirty="0" baseline="4629" sz="1800" spc="89">
                <a:latin typeface="Symbol"/>
                <a:cs typeface="Symbol"/>
              </a:rPr>
              <a:t></a:t>
            </a:r>
            <a:r>
              <a:rPr dirty="0" baseline="4629" sz="1800" spc="89" i="1">
                <a:latin typeface="Times New Roman"/>
                <a:cs typeface="Times New Roman"/>
              </a:rPr>
              <a:t>Q</a:t>
            </a:r>
            <a:r>
              <a:rPr dirty="0" baseline="4629" sz="1800" spc="-3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-26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13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2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209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b</a:t>
            </a:r>
            <a:r>
              <a:rPr dirty="0" baseline="4629" sz="1800" spc="-254" i="1">
                <a:latin typeface="Times New Roman"/>
                <a:cs typeface="Times New Roman"/>
              </a:rPr>
              <a:t> </a:t>
            </a:r>
            <a:r>
              <a:rPr dirty="0" baseline="4629" sz="1800" spc="75">
                <a:latin typeface="Symbol"/>
                <a:cs typeface="Symbol"/>
              </a:rPr>
              <a:t></a:t>
            </a:r>
            <a:r>
              <a:rPr dirty="0" baseline="4629" sz="1800" spc="75" i="1">
                <a:latin typeface="Times New Roman"/>
                <a:cs typeface="Times New Roman"/>
              </a:rPr>
              <a:t>Q</a:t>
            </a:r>
            <a:endParaRPr baseline="4629"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0"/>
              </a:spcBef>
            </a:pPr>
            <a:r>
              <a:rPr dirty="0" baseline="4629" sz="1800">
                <a:latin typeface="Times New Roman"/>
                <a:cs typeface="Times New Roman"/>
              </a:rPr>
              <a:t>Nên</a:t>
            </a:r>
            <a:r>
              <a:rPr dirty="0" baseline="4629" sz="1800" spc="300">
                <a:latin typeface="Times New Roman"/>
                <a:cs typeface="Times New Roman"/>
              </a:rPr>
              <a:t> </a:t>
            </a:r>
            <a:r>
              <a:rPr dirty="0" sz="1550" spc="-45">
                <a:latin typeface="Symbol"/>
                <a:cs typeface="Symbol"/>
              </a:rPr>
              <a:t></a:t>
            </a:r>
            <a:r>
              <a:rPr dirty="0" baseline="4629" sz="1800" spc="-67">
                <a:latin typeface="Times New Roman"/>
                <a:cs typeface="Times New Roman"/>
              </a:rPr>
              <a:t>13</a:t>
            </a:r>
            <a:r>
              <a:rPr dirty="0" baseline="4629" sz="1800" spc="-67" i="1">
                <a:latin typeface="Times New Roman"/>
                <a:cs typeface="Times New Roman"/>
              </a:rPr>
              <a:t>a</a:t>
            </a:r>
            <a:r>
              <a:rPr dirty="0" baseline="4629" sz="1800" spc="-12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95">
                <a:latin typeface="Times New Roman"/>
                <a:cs typeface="Times New Roman"/>
              </a:rPr>
              <a:t> </a:t>
            </a:r>
            <a:r>
              <a:rPr dirty="0" baseline="4629" sz="1800" spc="-44">
                <a:latin typeface="Times New Roman"/>
                <a:cs typeface="Times New Roman"/>
              </a:rPr>
              <a:t>5</a:t>
            </a:r>
            <a:r>
              <a:rPr dirty="0" baseline="4629" sz="1800" spc="-44" i="1">
                <a:latin typeface="Times New Roman"/>
                <a:cs typeface="Times New Roman"/>
              </a:rPr>
              <a:t>b</a:t>
            </a:r>
            <a:r>
              <a:rPr dirty="0" sz="1550" spc="-30">
                <a:latin typeface="Symbol"/>
                <a:cs typeface="Symbol"/>
              </a:rPr>
              <a:t></a:t>
            </a:r>
            <a:r>
              <a:rPr dirty="0" sz="1550" spc="-19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</a:t>
            </a:r>
            <a:r>
              <a:rPr dirty="0" sz="1550">
                <a:latin typeface="Symbol"/>
                <a:cs typeface="Symbol"/>
              </a:rPr>
              <a:t></a:t>
            </a:r>
            <a:r>
              <a:rPr dirty="0" baseline="4629" sz="1800">
                <a:latin typeface="Times New Roman"/>
                <a:cs typeface="Times New Roman"/>
              </a:rPr>
              <a:t>5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135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</a:t>
            </a:r>
            <a:r>
              <a:rPr dirty="0" baseline="4629" sz="1800" spc="-195">
                <a:latin typeface="Times New Roman"/>
                <a:cs typeface="Times New Roman"/>
              </a:rPr>
              <a:t> </a:t>
            </a:r>
            <a:r>
              <a:rPr dirty="0" baseline="4629" sz="1800" spc="89" i="1">
                <a:latin typeface="Times New Roman"/>
                <a:cs typeface="Times New Roman"/>
              </a:rPr>
              <a:t>b</a:t>
            </a:r>
            <a:r>
              <a:rPr dirty="0" sz="1550" spc="60">
                <a:latin typeface="Symbol"/>
                <a:cs typeface="Symbol"/>
              </a:rPr>
              <a:t></a:t>
            </a:r>
            <a:r>
              <a:rPr dirty="0" baseline="4629" sz="1800" spc="89">
                <a:latin typeface="Symbol"/>
                <a:cs typeface="Symbol"/>
              </a:rPr>
              <a:t></a:t>
            </a:r>
            <a:r>
              <a:rPr dirty="0" baseline="4629" sz="1800" spc="89" i="1">
                <a:latin typeface="Times New Roman"/>
                <a:cs typeface="Times New Roman"/>
              </a:rPr>
              <a:t>Q</a:t>
            </a:r>
            <a:r>
              <a:rPr dirty="0" baseline="4629" sz="1800" spc="-3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-13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8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240" i="1">
                <a:latin typeface="Times New Roman"/>
                <a:cs typeface="Times New Roman"/>
              </a:rPr>
              <a:t> </a:t>
            </a:r>
            <a:r>
              <a:rPr dirty="0" baseline="4629" sz="1800" spc="120">
                <a:latin typeface="Symbol"/>
                <a:cs typeface="Symbol"/>
              </a:rPr>
              <a:t></a:t>
            </a:r>
            <a:r>
              <a:rPr dirty="0" baseline="4629" sz="1800" spc="120" i="1">
                <a:latin typeface="Times New Roman"/>
                <a:cs typeface="Times New Roman"/>
              </a:rPr>
              <a:t>Q</a:t>
            </a:r>
            <a:r>
              <a:rPr dirty="0" baseline="4629" sz="1800" spc="-37" i="1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Symbol"/>
                <a:cs typeface="Symbol"/>
              </a:rPr>
              <a:t></a:t>
            </a:r>
            <a:r>
              <a:rPr dirty="0" baseline="4629" sz="1800" spc="-3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a</a:t>
            </a:r>
            <a:r>
              <a:rPr dirty="0" baseline="4629" sz="1800" spc="-232" i="1">
                <a:latin typeface="Times New Roman"/>
                <a:cs typeface="Times New Roman"/>
              </a:rPr>
              <a:t> </a:t>
            </a:r>
            <a:r>
              <a:rPr dirty="0" baseline="4629" sz="1800" spc="89">
                <a:latin typeface="Symbol"/>
                <a:cs typeface="Symbol"/>
              </a:rPr>
              <a:t></a:t>
            </a:r>
            <a:r>
              <a:rPr dirty="0" baseline="4629" sz="1800" spc="89" i="1">
                <a:latin typeface="Times New Roman"/>
                <a:cs typeface="Times New Roman"/>
              </a:rPr>
              <a:t>Q</a:t>
            </a:r>
            <a:endParaRPr baseline="4629"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200">
                <a:latin typeface="Times New Roman"/>
                <a:cs typeface="Times New Roman"/>
              </a:rPr>
              <a:t>Khi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a</a:t>
            </a:r>
            <a:r>
              <a:rPr dirty="0" sz="1150" spc="-125" i="1">
                <a:latin typeface="Times New Roman"/>
                <a:cs typeface="Times New Roman"/>
              </a:rPr>
              <a:t> </a:t>
            </a:r>
            <a:r>
              <a:rPr dirty="0" sz="1150" spc="105">
                <a:latin typeface="Symbol"/>
                <a:cs typeface="Symbol"/>
              </a:rPr>
              <a:t></a:t>
            </a:r>
            <a:r>
              <a:rPr dirty="0" sz="1150" spc="105" i="1">
                <a:latin typeface="Times New Roman"/>
                <a:cs typeface="Times New Roman"/>
              </a:rPr>
              <a:t>Q</a:t>
            </a:r>
            <a:r>
              <a:rPr dirty="0" sz="1150" spc="200" i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thì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b</a:t>
            </a:r>
            <a:r>
              <a:rPr dirty="0" sz="1150" spc="-150" i="1">
                <a:latin typeface="Times New Roman"/>
                <a:cs typeface="Times New Roman"/>
              </a:rPr>
              <a:t> </a:t>
            </a:r>
            <a:r>
              <a:rPr dirty="0" sz="1150" spc="105">
                <a:latin typeface="Symbol"/>
                <a:cs typeface="Symbol"/>
              </a:rPr>
              <a:t></a:t>
            </a:r>
            <a:r>
              <a:rPr dirty="0" sz="1150" spc="105" i="1">
                <a:latin typeface="Times New Roman"/>
                <a:cs typeface="Times New Roman"/>
              </a:rPr>
              <a:t>Q</a:t>
            </a:r>
            <a:r>
              <a:rPr dirty="0" sz="1150" spc="270" i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và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c</a:t>
            </a:r>
            <a:r>
              <a:rPr dirty="0" sz="1150" spc="-135" i="1">
                <a:latin typeface="Times New Roman"/>
                <a:cs typeface="Times New Roman"/>
              </a:rPr>
              <a:t> </a:t>
            </a:r>
            <a:r>
              <a:rPr dirty="0" sz="1150" spc="90">
                <a:latin typeface="Symbol"/>
                <a:cs typeface="Symbol"/>
              </a:rPr>
              <a:t></a:t>
            </a:r>
            <a:r>
              <a:rPr dirty="0" sz="1150" spc="90" i="1">
                <a:latin typeface="Times New Roman"/>
                <a:cs typeface="Times New Roman"/>
              </a:rPr>
              <a:t>Q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27.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2969733" y="8043175"/>
            <a:ext cx="22669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Symbol"/>
                <a:cs typeface="Symbol"/>
              </a:rPr>
              <a:t></a:t>
            </a:r>
            <a:r>
              <a:rPr dirty="0" sz="1550" spc="265">
                <a:latin typeface="Times New Roman"/>
                <a:cs typeface="Times New Roman"/>
              </a:rPr>
              <a:t> </a:t>
            </a:r>
            <a:r>
              <a:rPr dirty="0" sz="1550" spc="-50">
                <a:latin typeface="Symbol"/>
                <a:cs typeface="Symbol"/>
              </a:rPr>
              <a:t>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531657" y="8075407"/>
            <a:ext cx="717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i="1">
                <a:latin typeface="Times New Roman"/>
                <a:cs typeface="Times New Roman"/>
              </a:rPr>
              <a:t>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396852" y="8183353"/>
            <a:ext cx="16154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1005" algn="l"/>
                <a:tab pos="1223010" algn="l"/>
                <a:tab pos="1555750" algn="l"/>
              </a:tabLst>
            </a:pPr>
            <a:r>
              <a:rPr dirty="0" sz="700" spc="-50" i="1">
                <a:latin typeface="Times New Roman"/>
                <a:cs typeface="Times New Roman"/>
              </a:rPr>
              <a:t>n</a:t>
            </a:r>
            <a:r>
              <a:rPr dirty="0" sz="700" i="1">
                <a:latin typeface="Times New Roman"/>
                <a:cs typeface="Times New Roman"/>
              </a:rPr>
              <a:t>	</a:t>
            </a:r>
            <a:r>
              <a:rPr dirty="0" sz="700" spc="-25" i="1">
                <a:latin typeface="Times New Roman"/>
                <a:cs typeface="Times New Roman"/>
              </a:rPr>
              <a:t>n</a:t>
            </a:r>
            <a:r>
              <a:rPr dirty="0" sz="700" spc="-25">
                <a:latin typeface="Symbol"/>
                <a:cs typeface="Symbol"/>
              </a:rPr>
              <a:t></a:t>
            </a:r>
            <a:r>
              <a:rPr dirty="0" sz="700" spc="-25">
                <a:latin typeface="Times New Roman"/>
                <a:cs typeface="Times New Roman"/>
              </a:rPr>
              <a:t>1</a:t>
            </a:r>
            <a:r>
              <a:rPr dirty="0" sz="700">
                <a:latin typeface="Times New Roman"/>
                <a:cs typeface="Times New Roman"/>
              </a:rPr>
              <a:t>	</a:t>
            </a:r>
            <a:r>
              <a:rPr dirty="0" sz="700" spc="-50">
                <a:latin typeface="Times New Roman"/>
                <a:cs typeface="Times New Roman"/>
              </a:rPr>
              <a:t>1</a:t>
            </a:r>
            <a:r>
              <a:rPr dirty="0" sz="700">
                <a:latin typeface="Times New Roman"/>
                <a:cs typeface="Times New Roman"/>
              </a:rPr>
              <a:t>	</a:t>
            </a:r>
            <a:r>
              <a:rPr dirty="0" sz="700" spc="-50">
                <a:latin typeface="Times New Roman"/>
                <a:cs typeface="Times New Roman"/>
              </a:rPr>
              <a:t>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164132" y="8080511"/>
            <a:ext cx="26701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Sau khi bỏ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ngoặc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 được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</a:t>
            </a:r>
            <a:r>
              <a:rPr dirty="0" sz="1200" spc="37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 spc="43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14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 spc="41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spc="-50" i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924414" y="8076403"/>
            <a:ext cx="265557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baseline="43650" sz="1050" i="1">
                <a:latin typeface="Times New Roman"/>
                <a:cs typeface="Times New Roman"/>
              </a:rPr>
              <a:t>n</a:t>
            </a:r>
            <a:r>
              <a:rPr dirty="0" baseline="43650" sz="1050">
                <a:latin typeface="Symbol"/>
                <a:cs typeface="Symbol"/>
              </a:rPr>
              <a:t></a:t>
            </a:r>
            <a:r>
              <a:rPr dirty="0" baseline="43650" sz="1050">
                <a:latin typeface="Times New Roman"/>
                <a:cs typeface="Times New Roman"/>
              </a:rPr>
              <a:t>1</a:t>
            </a:r>
            <a:r>
              <a:rPr dirty="0" baseline="43650" sz="105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...</a:t>
            </a:r>
            <a:r>
              <a:rPr dirty="0" sz="1200" spc="-17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x</a:t>
            </a:r>
            <a:r>
              <a:rPr dirty="0" sz="1200" spc="-85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145" i="1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với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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2.2008</a:t>
            </a:r>
            <a:r>
              <a:rPr dirty="0" sz="1200" spc="-175">
                <a:latin typeface="Times New Roman"/>
                <a:cs typeface="Times New Roman"/>
              </a:rPr>
              <a:t> </a:t>
            </a:r>
            <a:r>
              <a:rPr dirty="0" sz="1200">
                <a:latin typeface="Symbol"/>
                <a:cs typeface="Symbol"/>
              </a:rPr>
              <a:t>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2.2009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68527" y="8297810"/>
            <a:ext cx="5779770" cy="1207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0" marR="1588770">
              <a:lnSpc>
                <a:spcPct val="102000"/>
              </a:lnSpc>
              <a:spcBef>
                <a:spcPts val="90"/>
              </a:spcBef>
            </a:pPr>
            <a:r>
              <a:rPr dirty="0" baseline="4629" sz="1800">
                <a:latin typeface="Times New Roman"/>
                <a:cs typeface="Times New Roman"/>
              </a:rPr>
              <a:t>Thay</a:t>
            </a:r>
            <a:r>
              <a:rPr dirty="0" baseline="4629" sz="1800" spc="-67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x=1,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thì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giấ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trị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của</a:t>
            </a:r>
            <a:r>
              <a:rPr dirty="0" baseline="4629" sz="1800" spc="307">
                <a:latin typeface="Times New Roman"/>
                <a:cs typeface="Times New Roman"/>
              </a:rPr>
              <a:t> </a:t>
            </a:r>
            <a:r>
              <a:rPr dirty="0" baseline="4629" sz="1800" i="1">
                <a:latin typeface="Times New Roman"/>
                <a:cs typeface="Times New Roman"/>
              </a:rPr>
              <a:t>P</a:t>
            </a:r>
            <a:r>
              <a:rPr dirty="0" baseline="4629" sz="1800" spc="-240" i="1">
                <a:latin typeface="Times New Roman"/>
                <a:cs typeface="Times New Roman"/>
              </a:rPr>
              <a:t> </a:t>
            </a:r>
            <a:r>
              <a:rPr dirty="0" sz="1550" spc="-60">
                <a:latin typeface="Symbol"/>
                <a:cs typeface="Symbol"/>
              </a:rPr>
              <a:t></a:t>
            </a:r>
            <a:r>
              <a:rPr dirty="0" baseline="4629" sz="1800" spc="-89">
                <a:latin typeface="Times New Roman"/>
                <a:cs typeface="Times New Roman"/>
              </a:rPr>
              <a:t>1</a:t>
            </a:r>
            <a:r>
              <a:rPr dirty="0" sz="1550" spc="-60">
                <a:latin typeface="Symbol"/>
                <a:cs typeface="Symbol"/>
              </a:rPr>
              <a:t></a:t>
            </a:r>
            <a:r>
              <a:rPr dirty="0" sz="1550" spc="55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bằng</a:t>
            </a:r>
            <a:r>
              <a:rPr dirty="0" baseline="4629" sz="1800" spc="-44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tổng</a:t>
            </a:r>
            <a:r>
              <a:rPr dirty="0" baseline="4629" sz="1800" spc="-3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các</a:t>
            </a:r>
            <a:r>
              <a:rPr dirty="0" baseline="4629" sz="1800" spc="-2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hệ</a:t>
            </a:r>
            <a:r>
              <a:rPr dirty="0" baseline="4629" sz="1800" spc="-30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số</a:t>
            </a:r>
            <a:r>
              <a:rPr dirty="0" baseline="4629" sz="1800" spc="412">
                <a:latin typeface="Times New Roman"/>
                <a:cs typeface="Times New Roman"/>
              </a:rPr>
              <a:t> </a:t>
            </a:r>
            <a:r>
              <a:rPr dirty="0" baseline="4629" sz="1800">
                <a:latin typeface="Times New Roman"/>
                <a:cs typeface="Times New Roman"/>
              </a:rPr>
              <a:t>của</a:t>
            </a:r>
            <a:r>
              <a:rPr dirty="0" baseline="4629" sz="1800" spc="-15">
                <a:latin typeface="Times New Roman"/>
                <a:cs typeface="Times New Roman"/>
              </a:rPr>
              <a:t> </a:t>
            </a:r>
            <a:r>
              <a:rPr dirty="0" baseline="4629" sz="1800" spc="-30">
                <a:latin typeface="Times New Roman"/>
                <a:cs typeface="Times New Roman"/>
              </a:rPr>
              <a:t>P(x) </a:t>
            </a:r>
            <a:r>
              <a:rPr dirty="0" sz="1200">
                <a:latin typeface="Times New Roman"/>
                <a:cs typeface="Times New Roman"/>
              </a:rPr>
              <a:t>Ta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có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150" spc="55" i="1">
                <a:latin typeface="Times New Roman"/>
                <a:cs typeface="Times New Roman"/>
              </a:rPr>
              <a:t>P</a:t>
            </a:r>
            <a:r>
              <a:rPr dirty="0" sz="1150" spc="-155" i="1">
                <a:latin typeface="Times New Roman"/>
                <a:cs typeface="Times New Roman"/>
              </a:rPr>
              <a:t> </a:t>
            </a:r>
            <a:r>
              <a:rPr dirty="0" baseline="-3584" sz="2325" spc="-142">
                <a:latin typeface="Symbol"/>
                <a:cs typeface="Symbol"/>
              </a:rPr>
              <a:t></a:t>
            </a:r>
            <a:r>
              <a:rPr dirty="0" sz="1150" spc="-95">
                <a:latin typeface="Times New Roman"/>
                <a:cs typeface="Times New Roman"/>
              </a:rPr>
              <a:t>1</a:t>
            </a:r>
            <a:r>
              <a:rPr dirty="0" baseline="-3584" sz="2325" spc="-142">
                <a:latin typeface="Symbol"/>
                <a:cs typeface="Symbol"/>
              </a:rPr>
              <a:t></a:t>
            </a:r>
            <a:r>
              <a:rPr dirty="0" baseline="-3584" sz="2325" spc="-150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45">
                <a:latin typeface="Times New Roman"/>
                <a:cs typeface="Times New Roman"/>
              </a:rPr>
              <a:t> </a:t>
            </a:r>
            <a:r>
              <a:rPr dirty="0" baseline="-4504" sz="2775" spc="-30">
                <a:latin typeface="Symbol"/>
                <a:cs typeface="Symbol"/>
              </a:rPr>
              <a:t></a:t>
            </a:r>
            <a:r>
              <a:rPr dirty="0" sz="1150" spc="-20">
                <a:latin typeface="Times New Roman"/>
                <a:cs typeface="Times New Roman"/>
              </a:rPr>
              <a:t>8.1</a:t>
            </a:r>
            <a:r>
              <a:rPr dirty="0" baseline="47008" sz="975" spc="-30">
                <a:latin typeface="Times New Roman"/>
                <a:cs typeface="Times New Roman"/>
              </a:rPr>
              <a:t>2</a:t>
            </a:r>
            <a:r>
              <a:rPr dirty="0" baseline="47008" sz="975" spc="277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</a:t>
            </a:r>
            <a:r>
              <a:rPr dirty="0" sz="1150" spc="-1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3.1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sz="1150">
                <a:latin typeface="Times New Roman"/>
                <a:cs typeface="Times New Roman"/>
              </a:rPr>
              <a:t>10</a:t>
            </a:r>
            <a:r>
              <a:rPr dirty="0" baseline="-4504" sz="2775">
                <a:latin typeface="Symbol"/>
                <a:cs typeface="Symbol"/>
              </a:rPr>
              <a:t></a:t>
            </a:r>
            <a:r>
              <a:rPr dirty="0" baseline="72649" sz="975">
                <a:latin typeface="Times New Roman"/>
                <a:cs typeface="Times New Roman"/>
              </a:rPr>
              <a:t>2008</a:t>
            </a:r>
            <a:r>
              <a:rPr dirty="0" baseline="72649" sz="975" spc="142">
                <a:latin typeface="Times New Roman"/>
                <a:cs typeface="Times New Roman"/>
              </a:rPr>
              <a:t> </a:t>
            </a:r>
            <a:r>
              <a:rPr dirty="0" baseline="-4504" sz="2775" spc="-30">
                <a:latin typeface="Symbol"/>
                <a:cs typeface="Symbol"/>
              </a:rPr>
              <a:t></a:t>
            </a:r>
            <a:r>
              <a:rPr dirty="0" sz="1150" spc="-20">
                <a:latin typeface="Times New Roman"/>
                <a:cs typeface="Times New Roman"/>
              </a:rPr>
              <a:t>8.1</a:t>
            </a:r>
            <a:r>
              <a:rPr dirty="0" baseline="47008" sz="975" spc="-30">
                <a:latin typeface="Times New Roman"/>
                <a:cs typeface="Times New Roman"/>
              </a:rPr>
              <a:t>2</a:t>
            </a:r>
            <a:r>
              <a:rPr dirty="0" baseline="47008" sz="975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Symbol"/>
                <a:cs typeface="Symbol"/>
              </a:rPr>
              <a:t></a:t>
            </a:r>
            <a:r>
              <a:rPr dirty="0" sz="1150">
                <a:latin typeface="Times New Roman"/>
                <a:cs typeface="Times New Roman"/>
              </a:rPr>
              <a:t>1</a:t>
            </a:r>
            <a:r>
              <a:rPr dirty="0" sz="1150">
                <a:latin typeface="Symbol"/>
                <a:cs typeface="Symbol"/>
              </a:rPr>
              <a:t></a:t>
            </a:r>
            <a:r>
              <a:rPr dirty="0" sz="1150">
                <a:latin typeface="Times New Roman"/>
                <a:cs typeface="Times New Roman"/>
              </a:rPr>
              <a:t>10</a:t>
            </a:r>
            <a:r>
              <a:rPr dirty="0" baseline="-4504" sz="2775">
                <a:latin typeface="Symbol"/>
                <a:cs typeface="Symbol"/>
              </a:rPr>
              <a:t></a:t>
            </a:r>
            <a:r>
              <a:rPr dirty="0" baseline="72649" sz="975">
                <a:latin typeface="Times New Roman"/>
                <a:cs typeface="Times New Roman"/>
              </a:rPr>
              <a:t>2009</a:t>
            </a:r>
            <a:r>
              <a:rPr dirty="0" baseline="72649" sz="975" spc="397">
                <a:latin typeface="Times New Roman"/>
                <a:cs typeface="Times New Roman"/>
              </a:rPr>
              <a:t> </a:t>
            </a:r>
            <a:r>
              <a:rPr dirty="0" sz="1150" spc="55">
                <a:latin typeface="Symbol"/>
                <a:cs typeface="Symbol"/>
              </a:rPr>
              <a:t>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Symbol"/>
                <a:cs typeface="Symbol"/>
              </a:rPr>
              <a:t></a:t>
            </a:r>
            <a:r>
              <a:rPr dirty="0" sz="1150" spc="-25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84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Câu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28.</a:t>
            </a:r>
            <a:endParaRPr sz="1200">
              <a:latin typeface="Palatino Linotype"/>
              <a:cs typeface="Palatino Linotype"/>
            </a:endParaRPr>
          </a:p>
          <a:p>
            <a:pPr marL="50800" marR="17780" indent="457200">
              <a:lnSpc>
                <a:spcPct val="112500"/>
              </a:lnSpc>
            </a:pPr>
            <a:r>
              <a:rPr dirty="0" sz="1200">
                <a:latin typeface="Palatino Linotype"/>
                <a:cs typeface="Palatino Linotype"/>
              </a:rPr>
              <a:t>Ta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: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P(-</a:t>
            </a:r>
            <a:r>
              <a:rPr dirty="0" sz="1200">
                <a:latin typeface="Palatino Linotype"/>
                <a:cs typeface="Palatino Linotype"/>
              </a:rPr>
              <a:t>1)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 </a:t>
            </a:r>
            <a:r>
              <a:rPr dirty="0" sz="1200" spc="-10">
                <a:latin typeface="Palatino Linotype"/>
                <a:cs typeface="Palatino Linotype"/>
              </a:rPr>
              <a:t>P(-</a:t>
            </a:r>
            <a:r>
              <a:rPr dirty="0" sz="1200">
                <a:latin typeface="Palatino Linotype"/>
                <a:cs typeface="Palatino Linotype"/>
              </a:rPr>
              <a:t>2)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P(2)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9a –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+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3c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=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0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do</a:t>
            </a:r>
            <a:r>
              <a:rPr dirty="0" sz="1200" spc="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đó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trong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ít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ba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 trên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có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số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âm,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ít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nhất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số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không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dương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79872" y="421640"/>
            <a:ext cx="1771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2E5395"/>
                </a:solidFill>
                <a:latin typeface="Times New Roman"/>
                <a:cs typeface="Times New Roman"/>
              </a:rPr>
              <a:t>Website:tailieumontoan.com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7700" y="9849611"/>
            <a:ext cx="6266815" cy="233679"/>
          </a:xfrm>
          <a:custGeom>
            <a:avLst/>
            <a:gdLst/>
            <a:ahLst/>
            <a:cxnLst/>
            <a:rect l="l" t="t" r="r" b="b"/>
            <a:pathLst>
              <a:path w="6266815" h="233679">
                <a:moveTo>
                  <a:pt x="6193155" y="0"/>
                </a:moveTo>
                <a:lnTo>
                  <a:pt x="6193155" y="0"/>
                </a:lnTo>
                <a:lnTo>
                  <a:pt x="0" y="0"/>
                </a:lnTo>
                <a:lnTo>
                  <a:pt x="0" y="233172"/>
                </a:lnTo>
                <a:lnTo>
                  <a:pt x="6193155" y="233172"/>
                </a:lnTo>
                <a:lnTo>
                  <a:pt x="6193155" y="0"/>
                </a:lnTo>
                <a:close/>
              </a:path>
              <a:path w="6266815" h="233679">
                <a:moveTo>
                  <a:pt x="6266739" y="0"/>
                </a:moveTo>
                <a:lnTo>
                  <a:pt x="6193282" y="0"/>
                </a:lnTo>
                <a:lnTo>
                  <a:pt x="6193282" y="233172"/>
                </a:lnTo>
                <a:lnTo>
                  <a:pt x="6266739" y="233172"/>
                </a:lnTo>
                <a:lnTo>
                  <a:pt x="62667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61" y="245871"/>
            <a:ext cx="1471930" cy="1023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4875" y="339343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21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70305" y="640079"/>
            <a:ext cx="6226810" cy="0"/>
          </a:xfrm>
          <a:custGeom>
            <a:avLst/>
            <a:gdLst/>
            <a:ahLst/>
            <a:cxnLst/>
            <a:rect l="l" t="t" r="r" b="b"/>
            <a:pathLst>
              <a:path w="6226809" h="0">
                <a:moveTo>
                  <a:pt x="0" y="0"/>
                </a:moveTo>
                <a:lnTo>
                  <a:pt x="622681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06627" y="608837"/>
            <a:ext cx="5987415" cy="154876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TÀI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LIỆU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KHAM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KHẢO:</a:t>
            </a:r>
            <a:endParaRPr sz="1200">
              <a:latin typeface="Palatino Linotype"/>
              <a:cs typeface="Palatino Linotype"/>
            </a:endParaRPr>
          </a:p>
          <a:p>
            <a:pPr marL="469900" marR="5080" indent="-228600">
              <a:lnSpc>
                <a:spcPct val="129200"/>
              </a:lnSpc>
              <a:spcBef>
                <a:spcPts val="409"/>
              </a:spcBef>
              <a:buFont typeface="Palatino Linotype"/>
              <a:buChar char="-"/>
              <a:tabLst>
                <a:tab pos="469900" algn="l"/>
              </a:tabLst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Chuyên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đề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dùng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phụ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để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xác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định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hoặc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tính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giá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trị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của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50" b="1">
                <a:solidFill>
                  <a:srgbClr val="00AFEF"/>
                </a:solidFill>
                <a:latin typeface="Palatino Linotype"/>
                <a:cs typeface="Palatino Linotype"/>
              </a:rPr>
              <a:t>–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Nguyễn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Thị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Hoài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Thu.</a:t>
            </a:r>
            <a:endParaRPr sz="1200">
              <a:latin typeface="Palatino Linotype"/>
              <a:cs typeface="Palatino Linotype"/>
            </a:endParaRPr>
          </a:p>
          <a:p>
            <a:pPr marL="469900" indent="-228600">
              <a:lnSpc>
                <a:spcPct val="100000"/>
              </a:lnSpc>
              <a:spcBef>
                <a:spcPts val="420"/>
              </a:spcBef>
              <a:buFont typeface="Palatino Linotype"/>
              <a:buChar char="-"/>
              <a:tabLst>
                <a:tab pos="469900" algn="l"/>
              </a:tabLst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Sáng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kiến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kinh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nghiệm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về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xác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định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–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Không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rõ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tác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 giả</a:t>
            </a:r>
            <a:endParaRPr sz="1200">
              <a:latin typeface="Palatino Linotype"/>
              <a:cs typeface="Palatino Linotype"/>
            </a:endParaRPr>
          </a:p>
          <a:p>
            <a:pPr marL="469900" indent="-228600">
              <a:lnSpc>
                <a:spcPct val="100000"/>
              </a:lnSpc>
              <a:spcBef>
                <a:spcPts val="420"/>
              </a:spcBef>
              <a:buFont typeface="Palatino Linotype"/>
              <a:buChar char="-"/>
              <a:tabLst>
                <a:tab pos="469900" algn="l"/>
              </a:tabLst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Xác</a:t>
            </a:r>
            <a:r>
              <a:rPr dirty="0" sz="1200" spc="-3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định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đa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thức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và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tính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giá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trị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-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Nguyễn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Văn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Tuấn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80" b="1">
                <a:solidFill>
                  <a:srgbClr val="00AFEF"/>
                </a:solidFill>
                <a:latin typeface="Palatino Linotype"/>
                <a:cs typeface="Palatino Linotype"/>
              </a:rPr>
              <a:t>Trƣờng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 THCS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Ty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5" b="1">
                <a:solidFill>
                  <a:srgbClr val="00AFEF"/>
                </a:solidFill>
                <a:latin typeface="Palatino Linotype"/>
                <a:cs typeface="Palatino Linotype"/>
              </a:rPr>
              <a:t>Đốc</a:t>
            </a:r>
            <a:endParaRPr sz="1200">
              <a:latin typeface="Palatino Linotype"/>
              <a:cs typeface="Palatino Linotype"/>
            </a:endParaRPr>
          </a:p>
          <a:p>
            <a:pPr marL="469900" indent="-228600">
              <a:lnSpc>
                <a:spcPct val="100000"/>
              </a:lnSpc>
              <a:spcBef>
                <a:spcPts val="430"/>
              </a:spcBef>
              <a:buFont typeface="Palatino Linotype"/>
              <a:buChar char="-"/>
              <a:tabLst>
                <a:tab pos="469900" algn="l"/>
              </a:tabLst>
            </a:pP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Phát</a:t>
            </a:r>
            <a:r>
              <a:rPr dirty="0" sz="1200" spc="-3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triển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215" b="1">
                <a:solidFill>
                  <a:srgbClr val="00AFEF"/>
                </a:solidFill>
                <a:latin typeface="Palatino Linotype"/>
                <a:cs typeface="Palatino Linotype"/>
              </a:rPr>
              <a:t>tƣ</a:t>
            </a:r>
            <a:r>
              <a:rPr dirty="0" sz="1200" spc="-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duy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giải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toán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8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–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Bùi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Văn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Tuyên</a:t>
            </a:r>
            <a:r>
              <a:rPr dirty="0" sz="1200" spc="-15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b="1">
                <a:solidFill>
                  <a:srgbClr val="00AFEF"/>
                </a:solidFill>
                <a:latin typeface="Palatino Linotype"/>
                <a:cs typeface="Palatino Linotype"/>
              </a:rPr>
              <a:t>(Chủ</a:t>
            </a:r>
            <a:r>
              <a:rPr dirty="0" sz="1200" spc="-20" b="1">
                <a:solidFill>
                  <a:srgbClr val="00AFEF"/>
                </a:solidFill>
                <a:latin typeface="Palatino Linotype"/>
                <a:cs typeface="Palatino Linotype"/>
              </a:rPr>
              <a:t> </a:t>
            </a:r>
            <a:r>
              <a:rPr dirty="0" sz="1200" spc="-10" b="1">
                <a:solidFill>
                  <a:srgbClr val="00AFEF"/>
                </a:solidFill>
                <a:latin typeface="Palatino Linotype"/>
                <a:cs typeface="Palatino Linotype"/>
              </a:rPr>
              <a:t>Biên)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Trịnh</a:t>
            </a:r>
            <a:r>
              <a:rPr dirty="0" spc="-15"/>
              <a:t> </a:t>
            </a:r>
            <a:r>
              <a:rPr dirty="0"/>
              <a:t>Bình</a:t>
            </a:r>
            <a:r>
              <a:rPr dirty="0" spc="-15"/>
              <a:t> </a:t>
            </a:r>
            <a:r>
              <a:rPr dirty="0"/>
              <a:t>sưu</a:t>
            </a:r>
            <a:r>
              <a:rPr dirty="0" spc="-15"/>
              <a:t> </a:t>
            </a:r>
            <a:r>
              <a:rPr dirty="0"/>
              <a:t>tầm</a:t>
            </a:r>
            <a:r>
              <a:rPr dirty="0" spc="-25"/>
              <a:t> </a:t>
            </a:r>
            <a:r>
              <a:rPr dirty="0"/>
              <a:t>và</a:t>
            </a:r>
            <a:r>
              <a:rPr dirty="0" spc="-10"/>
              <a:t> </a:t>
            </a:r>
            <a:r>
              <a:rPr dirty="0"/>
              <a:t>tổng </a:t>
            </a:r>
            <a:r>
              <a:rPr dirty="0" spc="-25"/>
              <a:t>hợp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TÀI</a:t>
            </a:r>
            <a:r>
              <a:rPr dirty="0" spc="-20"/>
              <a:t> </a:t>
            </a:r>
            <a:r>
              <a:rPr dirty="0"/>
              <a:t>LIỆU</a:t>
            </a:r>
            <a:r>
              <a:rPr dirty="0" spc="-35"/>
              <a:t> </a:t>
            </a:r>
            <a:r>
              <a:rPr dirty="0"/>
              <a:t>TOÁN</a:t>
            </a:r>
            <a:r>
              <a:rPr dirty="0" spc="-35"/>
              <a:t> </a:t>
            </a:r>
            <a:r>
              <a:rPr dirty="0" spc="-25"/>
              <a:t>HỌC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Tài liệu toán học</dc:creator>
  <cp:keywords>GV Nguyễn Văn Tiến</cp:keywords>
  <dc:title>Phiếu học tập tuần toán 7</dc:title>
  <dcterms:created xsi:type="dcterms:W3CDTF">2025-11-18T02:37:03Z</dcterms:created>
  <dcterms:modified xsi:type="dcterms:W3CDTF">2025-11-18T02:37:03Z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2019-10-05T00:00:00Z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2025-11-18T00:00:00Z</vt:filetime>
  </property>
  <property fmtid="{D5CDD505-2E9C-101B-9397-08002B2CF9AE}" pid="5" name="Producer">
    <vt:lpwstr>3-Heights(TM) PDF Security Shell 4.8.25.2 (http://www.pdf-tools.com) / pdcat (www.pdf-tools.com)</vt:lpwstr>
  </property>
</Properties>
</file>